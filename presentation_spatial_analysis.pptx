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8" r:id="rId11"/>
    <p:sldId id="270" r:id="rId12"/>
    <p:sldId id="269" r:id="rId13"/>
    <p:sldId id="272" r:id="rId14"/>
    <p:sldId id="273" r:id="rId15"/>
    <p:sldId id="274" r:id="rId16"/>
    <p:sldId id="276" r:id="rId17"/>
    <p:sldId id="277" r:id="rId18"/>
    <p:sldId id="278" r:id="rId19"/>
    <p:sldId id="279" r:id="rId20"/>
    <p:sldId id="280" r:id="rId21"/>
    <p:sldId id="281" r:id="rId22"/>
    <p:sldId id="282" r:id="rId23"/>
    <p:sldId id="286" r:id="rId24"/>
    <p:sldId id="287" r:id="rId25"/>
    <p:sldId id="290" r:id="rId26"/>
    <p:sldId id="291" r:id="rId27"/>
    <p:sldId id="297" r:id="rId28"/>
    <p:sldId id="293" r:id="rId29"/>
  </p:sldIdLst>
  <p:sldSz cx="18288000" cy="10287000"/>
  <p:notesSz cx="6858000" cy="9144000"/>
  <p:embeddedFontLst>
    <p:embeddedFont>
      <p:font typeface="Anton" pitchFamily="2" charset="0"/>
      <p:regular r:id="rId30"/>
    </p:embeddedFont>
    <p:embeddedFont>
      <p:font typeface="Aptos Narrow" panose="020B0004020202020204" pitchFamily="34" charset="0"/>
      <p:regular r:id="rId31"/>
      <p:bold r:id="rId32"/>
      <p:italic r:id="rId33"/>
      <p:boldItalic r:id="rId34"/>
    </p:embeddedFont>
    <p:embeddedFont>
      <p:font typeface="Cambria Math" panose="02040503050406030204" pitchFamily="18" charset="0"/>
      <p:regular r:id="rId35"/>
    </p:embeddedFont>
    <p:embeddedFont>
      <p:font typeface="Codec Pro" panose="020B0604020202020204" charset="0"/>
      <p:regular r:id="rId36"/>
    </p:embeddedFont>
    <p:embeddedFont>
      <p:font typeface="Glacial Indifference" panose="020B0604020202020204" charset="0"/>
      <p:regular r:id="rId37"/>
    </p:embeddedFont>
    <p:embeddedFont>
      <p:font typeface="Glacial Indifference Bold" panose="020B0604020202020204" charset="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75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svg"/></Relationships>
</file>

<file path=ppt/slides/_rels/slide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Layout" Target="../slideLayouts/slideLayout7.xml"/><Relationship Id="rId4" Type="http://schemas.openxmlformats.org/officeDocument/2006/relationships/image" Target="../media/image1.sv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5.emf"/><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package" Target="../embeddings/Microsoft_Excel_Worksheet.xlsx"/><Relationship Id="rId5" Type="http://schemas.openxmlformats.org/officeDocument/2006/relationships/image" Target="../media/image24.png"/><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www.paulamoraga.com/book-spatial/references.html#ref-moraga18" TargetMode="External"/><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svg"/><Relationship Id="rId1" Type="http://schemas.openxmlformats.org/officeDocument/2006/relationships/slideLayout" Target="../slideLayouts/slideLayout7.xml"/><Relationship Id="rId6" Type="http://schemas.openxmlformats.org/officeDocument/2006/relationships/hyperlink" Target="https://www.paulamoraga.com/book-spatial/references.html#ref-tobler70" TargetMode="External"/><Relationship Id="rId5" Type="http://schemas.openxmlformats.org/officeDocument/2006/relationships/image" Target="../media/image31.svg"/><Relationship Id="rId4" Type="http://schemas.openxmlformats.org/officeDocument/2006/relationships/image" Target="../media/image15.svg"/></Relationships>
</file>

<file path=ppt/slides/_rels/slide14.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22.xml.rels><?xml version="1.0" encoding="UTF-8" standalone="yes"?>
<Relationships xmlns="http://schemas.openxmlformats.org/package/2006/relationships"><Relationship Id="rId8" Type="http://schemas.openxmlformats.org/officeDocument/2006/relationships/image" Target="../media/image46.emf"/><Relationship Id="rId3" Type="http://schemas.openxmlformats.org/officeDocument/2006/relationships/image" Target="../media/image44.svg"/><Relationship Id="rId7" Type="http://schemas.openxmlformats.org/officeDocument/2006/relationships/oleObject" Target="../embeddings/oleObject3.bin"/><Relationship Id="rId12" Type="http://schemas.openxmlformats.org/officeDocument/2006/relationships/image" Target="../media/image48.emf"/><Relationship Id="rId2" Type="http://schemas.openxmlformats.org/officeDocument/2006/relationships/image" Target="../media/image31.svg"/><Relationship Id="rId1" Type="http://schemas.openxmlformats.org/officeDocument/2006/relationships/slideLayout" Target="../slideLayouts/slideLayout7.xml"/><Relationship Id="rId6" Type="http://schemas.openxmlformats.org/officeDocument/2006/relationships/image" Target="../media/image45.e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47.emf"/><Relationship Id="rId4" Type="http://schemas.openxmlformats.org/officeDocument/2006/relationships/image" Target="../media/image29.svg"/><Relationship Id="rId9" Type="http://schemas.openxmlformats.org/officeDocument/2006/relationships/oleObject" Target="../embeddings/oleObject4.bin"/></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3.xml"/><Relationship Id="rId4" Type="http://schemas.openxmlformats.org/officeDocument/2006/relationships/image" Target="../media/image5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52.svg"/><Relationship Id="rId1" Type="http://schemas.openxmlformats.org/officeDocument/2006/relationships/slideLayout" Target="../slideLayouts/slideLayout7.xml"/><Relationship Id="rId4" Type="http://schemas.openxmlformats.org/officeDocument/2006/relationships/image" Target="../media/image54.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image" Target="../media/image55.svg"/><Relationship Id="rId1" Type="http://schemas.openxmlformats.org/officeDocument/2006/relationships/slideLayout" Target="../slideLayouts/slideLayout7.xml"/><Relationship Id="rId5" Type="http://schemas.openxmlformats.org/officeDocument/2006/relationships/image" Target="../media/image58.svg"/><Relationship Id="rId4" Type="http://schemas.openxmlformats.org/officeDocument/2006/relationships/image" Target="../media/image57.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sp>
        <p:nvSpPr>
          <p:cNvPr id="2" name="Freeform 2"/>
          <p:cNvSpPr/>
          <p:nvPr/>
        </p:nvSpPr>
        <p:spPr>
          <a:xfrm>
            <a:off x="10745916" y="2264836"/>
            <a:ext cx="1833707" cy="1820370"/>
          </a:xfrm>
          <a:custGeom>
            <a:avLst/>
            <a:gdLst/>
            <a:ahLst/>
            <a:cxnLst/>
            <a:rect l="l" t="t" r="r" b="b"/>
            <a:pathLst>
              <a:path w="1833707" h="1820370">
                <a:moveTo>
                  <a:pt x="0" y="0"/>
                </a:moveTo>
                <a:lnTo>
                  <a:pt x="1833706" y="0"/>
                </a:lnTo>
                <a:lnTo>
                  <a:pt x="1833706" y="1820371"/>
                </a:lnTo>
                <a:lnTo>
                  <a:pt x="0" y="182037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486622" y="7592423"/>
            <a:ext cx="2207184" cy="2207184"/>
          </a:xfrm>
          <a:custGeom>
            <a:avLst/>
            <a:gdLst/>
            <a:ahLst/>
            <a:cxnLst/>
            <a:rect l="l" t="t" r="r" b="b"/>
            <a:pathLst>
              <a:path w="2207184" h="2207184">
                <a:moveTo>
                  <a:pt x="0" y="0"/>
                </a:moveTo>
                <a:lnTo>
                  <a:pt x="2207184" y="0"/>
                </a:lnTo>
                <a:lnTo>
                  <a:pt x="2207184" y="2207183"/>
                </a:lnTo>
                <a:lnTo>
                  <a:pt x="0" y="220718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7485922" y="4544924"/>
            <a:ext cx="2207184" cy="2207184"/>
          </a:xfrm>
          <a:custGeom>
            <a:avLst/>
            <a:gdLst/>
            <a:ahLst/>
            <a:cxnLst/>
            <a:rect l="l" t="t" r="r" b="b"/>
            <a:pathLst>
              <a:path w="2207184" h="2207184">
                <a:moveTo>
                  <a:pt x="0" y="0"/>
                </a:moveTo>
                <a:lnTo>
                  <a:pt x="2207184" y="0"/>
                </a:lnTo>
                <a:lnTo>
                  <a:pt x="2207184" y="2207184"/>
                </a:lnTo>
                <a:lnTo>
                  <a:pt x="0" y="220718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720562" y="5143500"/>
            <a:ext cx="6519480" cy="4114800"/>
          </a:xfrm>
          <a:custGeom>
            <a:avLst/>
            <a:gdLst/>
            <a:ahLst/>
            <a:cxnLst/>
            <a:rect l="l" t="t" r="r" b="b"/>
            <a:pathLst>
              <a:path w="6519480" h="4114800">
                <a:moveTo>
                  <a:pt x="0" y="0"/>
                </a:moveTo>
                <a:lnTo>
                  <a:pt x="6519480" y="0"/>
                </a:lnTo>
                <a:lnTo>
                  <a:pt x="6519480" y="4114800"/>
                </a:lnTo>
                <a:lnTo>
                  <a:pt x="0" y="4114800"/>
                </a:lnTo>
                <a:lnTo>
                  <a:pt x="0" y="0"/>
                </a:lnTo>
                <a:close/>
              </a:path>
            </a:pathLst>
          </a:custGeom>
          <a:blipFill>
            <a:blip r:embed="rId4"/>
            <a:stretch>
              <a:fillRect l="-16927" t="-13506" r="-5386" b="-18215"/>
            </a:stretch>
          </a:blipFill>
        </p:spPr>
      </p:sp>
      <p:sp>
        <p:nvSpPr>
          <p:cNvPr id="6" name="Freeform 6"/>
          <p:cNvSpPr/>
          <p:nvPr/>
        </p:nvSpPr>
        <p:spPr>
          <a:xfrm>
            <a:off x="7240042" y="5143500"/>
            <a:ext cx="3531048" cy="3495738"/>
          </a:xfrm>
          <a:custGeom>
            <a:avLst/>
            <a:gdLst/>
            <a:ahLst/>
            <a:cxnLst/>
            <a:rect l="l" t="t" r="r" b="b"/>
            <a:pathLst>
              <a:path w="3531048" h="3495738">
                <a:moveTo>
                  <a:pt x="0" y="0"/>
                </a:moveTo>
                <a:lnTo>
                  <a:pt x="3531048" y="0"/>
                </a:lnTo>
                <a:lnTo>
                  <a:pt x="3531048" y="3495738"/>
                </a:lnTo>
                <a:lnTo>
                  <a:pt x="0" y="3495738"/>
                </a:lnTo>
                <a:lnTo>
                  <a:pt x="0" y="0"/>
                </a:lnTo>
                <a:close/>
              </a:path>
            </a:pathLst>
          </a:custGeom>
          <a:blipFill>
            <a:blip r:embed="rId5"/>
            <a:stretch>
              <a:fillRect/>
            </a:stretch>
          </a:blipFill>
        </p:spPr>
      </p:sp>
      <p:sp>
        <p:nvSpPr>
          <p:cNvPr id="7" name="Freeform 7"/>
          <p:cNvSpPr/>
          <p:nvPr/>
        </p:nvSpPr>
        <p:spPr>
          <a:xfrm>
            <a:off x="10745916" y="7049722"/>
            <a:ext cx="7760998" cy="2749884"/>
          </a:xfrm>
          <a:custGeom>
            <a:avLst/>
            <a:gdLst/>
            <a:ahLst/>
            <a:cxnLst/>
            <a:rect l="l" t="t" r="r" b="b"/>
            <a:pathLst>
              <a:path w="7760998" h="2749884">
                <a:moveTo>
                  <a:pt x="0" y="0"/>
                </a:moveTo>
                <a:lnTo>
                  <a:pt x="7760997" y="0"/>
                </a:lnTo>
                <a:lnTo>
                  <a:pt x="7760997" y="2749884"/>
                </a:lnTo>
                <a:lnTo>
                  <a:pt x="0" y="2749884"/>
                </a:lnTo>
                <a:lnTo>
                  <a:pt x="0" y="0"/>
                </a:lnTo>
                <a:close/>
              </a:path>
            </a:pathLst>
          </a:custGeom>
          <a:blipFill>
            <a:blip r:embed="rId6"/>
            <a:stretch>
              <a:fillRect b="-7600"/>
            </a:stretch>
          </a:blipFill>
        </p:spPr>
      </p:sp>
      <p:sp>
        <p:nvSpPr>
          <p:cNvPr id="8" name="Freeform 8"/>
          <p:cNvSpPr/>
          <p:nvPr/>
        </p:nvSpPr>
        <p:spPr>
          <a:xfrm>
            <a:off x="10745916" y="3905086"/>
            <a:ext cx="3329460" cy="3427385"/>
          </a:xfrm>
          <a:custGeom>
            <a:avLst/>
            <a:gdLst/>
            <a:ahLst/>
            <a:cxnLst/>
            <a:rect l="l" t="t" r="r" b="b"/>
            <a:pathLst>
              <a:path w="3329460" h="3427385">
                <a:moveTo>
                  <a:pt x="0" y="0"/>
                </a:moveTo>
                <a:lnTo>
                  <a:pt x="3329460" y="0"/>
                </a:lnTo>
                <a:lnTo>
                  <a:pt x="3329460" y="3427386"/>
                </a:lnTo>
                <a:lnTo>
                  <a:pt x="0" y="3427386"/>
                </a:lnTo>
                <a:lnTo>
                  <a:pt x="0" y="0"/>
                </a:lnTo>
                <a:close/>
              </a:path>
            </a:pathLst>
          </a:custGeom>
          <a:blipFill>
            <a:blip r:embed="rId7"/>
            <a:stretch>
              <a:fillRect/>
            </a:stretch>
          </a:blipFill>
        </p:spPr>
      </p:sp>
      <p:sp>
        <p:nvSpPr>
          <p:cNvPr id="9" name="TextBox 9"/>
          <p:cNvSpPr txBox="1"/>
          <p:nvPr/>
        </p:nvSpPr>
        <p:spPr>
          <a:xfrm>
            <a:off x="503190" y="576874"/>
            <a:ext cx="17784810" cy="3028159"/>
          </a:xfrm>
          <a:prstGeom prst="rect">
            <a:avLst/>
          </a:prstGeom>
        </p:spPr>
        <p:txBody>
          <a:bodyPr lIns="0" tIns="0" rIns="0" bIns="0" rtlCol="0" anchor="t">
            <a:spAutoFit/>
          </a:bodyPr>
          <a:lstStyle/>
          <a:p>
            <a:pPr algn="l">
              <a:lnSpc>
                <a:spcPts val="12138"/>
              </a:lnSpc>
              <a:spcBef>
                <a:spcPct val="0"/>
              </a:spcBef>
            </a:pPr>
            <a:r>
              <a:rPr lang="en-US" sz="8670" dirty="0" err="1">
                <a:solidFill>
                  <a:srgbClr val="112C16"/>
                </a:solidFill>
                <a:latin typeface="Anton"/>
                <a:ea typeface="Anton"/>
                <a:cs typeface="Anton"/>
                <a:sym typeface="Anton"/>
              </a:rPr>
              <a:t>Spatio</a:t>
            </a:r>
            <a:r>
              <a:rPr lang="en-US" sz="8670" dirty="0">
                <a:solidFill>
                  <a:srgbClr val="112C16"/>
                </a:solidFill>
                <a:latin typeface="Anton"/>
                <a:ea typeface="Anton"/>
                <a:cs typeface="Anton"/>
                <a:sym typeface="Anton"/>
              </a:rPr>
              <a:t> -Temporal Analysis of </a:t>
            </a:r>
            <a:r>
              <a:rPr lang="en-US" sz="8670" dirty="0" err="1">
                <a:solidFill>
                  <a:srgbClr val="112C16"/>
                </a:solidFill>
                <a:latin typeface="Anton"/>
                <a:ea typeface="Anton"/>
                <a:cs typeface="Anton"/>
                <a:sym typeface="Anton"/>
              </a:rPr>
              <a:t>Aqi</a:t>
            </a:r>
            <a:r>
              <a:rPr lang="en-US" sz="8670" dirty="0">
                <a:solidFill>
                  <a:srgbClr val="112C16"/>
                </a:solidFill>
                <a:latin typeface="Anton"/>
                <a:ea typeface="Anton"/>
                <a:cs typeface="Anton"/>
                <a:sym typeface="Anton"/>
              </a:rPr>
              <a:t> across Indian Cities</a:t>
            </a:r>
          </a:p>
        </p:txBody>
      </p:sp>
      <p:sp>
        <p:nvSpPr>
          <p:cNvPr id="10" name="TextBox 10"/>
          <p:cNvSpPr txBox="1"/>
          <p:nvPr/>
        </p:nvSpPr>
        <p:spPr>
          <a:xfrm>
            <a:off x="14423941" y="3941107"/>
            <a:ext cx="3734408" cy="1712007"/>
          </a:xfrm>
          <a:prstGeom prst="rect">
            <a:avLst/>
          </a:prstGeom>
        </p:spPr>
        <p:txBody>
          <a:bodyPr wrap="square" lIns="0" tIns="0" rIns="0" bIns="0" rtlCol="0" anchor="t">
            <a:spAutoFit/>
          </a:bodyPr>
          <a:lstStyle/>
          <a:p>
            <a:pPr algn="l">
              <a:lnSpc>
                <a:spcPts val="3359"/>
              </a:lnSpc>
              <a:spcBef>
                <a:spcPct val="0"/>
              </a:spcBef>
            </a:pPr>
            <a:r>
              <a:rPr lang="en-US" sz="2400" dirty="0">
                <a:solidFill>
                  <a:srgbClr val="112C16"/>
                </a:solidFill>
                <a:latin typeface="Glacial Indifference"/>
                <a:ea typeface="Glacial Indifference"/>
                <a:cs typeface="Glacial Indifference"/>
                <a:sym typeface="Glacial Indifference"/>
              </a:rPr>
              <a:t>Presented by- Niyati Sharma,</a:t>
            </a:r>
          </a:p>
          <a:p>
            <a:pPr algn="l">
              <a:lnSpc>
                <a:spcPts val="3359"/>
              </a:lnSpc>
              <a:spcBef>
                <a:spcPct val="0"/>
              </a:spcBef>
            </a:pPr>
            <a:r>
              <a:rPr lang="en-US" sz="2400" dirty="0">
                <a:solidFill>
                  <a:srgbClr val="112C16"/>
                </a:solidFill>
                <a:latin typeface="Glacial Indifference"/>
                <a:ea typeface="Glacial Indifference"/>
                <a:cs typeface="Glacial Indifference"/>
                <a:sym typeface="Glacial Indifference"/>
              </a:rPr>
              <a:t>M.Sc. Statistics</a:t>
            </a:r>
          </a:p>
          <a:p>
            <a:pPr algn="l">
              <a:lnSpc>
                <a:spcPts val="3359"/>
              </a:lnSpc>
              <a:spcBef>
                <a:spcPct val="0"/>
              </a:spcBef>
            </a:pPr>
            <a:r>
              <a:rPr lang="en-US" sz="2400" dirty="0">
                <a:solidFill>
                  <a:srgbClr val="112C16"/>
                </a:solidFill>
                <a:latin typeface="Glacial Indifference"/>
                <a:ea typeface="Glacial Indifference"/>
                <a:cs typeface="Glacial Indifference"/>
                <a:sym typeface="Glacial Indifference"/>
              </a:rPr>
              <a:t>24MSSTAPY0029</a:t>
            </a:r>
          </a:p>
        </p:txBody>
      </p:sp>
      <p:sp>
        <p:nvSpPr>
          <p:cNvPr id="12" name="TextBox 11">
            <a:extLst>
              <a:ext uri="{FF2B5EF4-FFF2-40B4-BE49-F238E27FC236}">
                <a16:creationId xmlns:a16="http://schemas.microsoft.com/office/drawing/2014/main" id="{98220C93-8E1A-F8AE-36CB-B1CE475D470F}"/>
              </a:ext>
            </a:extLst>
          </p:cNvPr>
          <p:cNvSpPr txBox="1"/>
          <p:nvPr/>
        </p:nvSpPr>
        <p:spPr>
          <a:xfrm>
            <a:off x="7542085" y="8983674"/>
            <a:ext cx="10587036" cy="913070"/>
          </a:xfrm>
          <a:prstGeom prst="rect">
            <a:avLst/>
          </a:prstGeom>
          <a:noFill/>
        </p:spPr>
        <p:txBody>
          <a:bodyPr wrap="square">
            <a:spAutoFit/>
          </a:bodyPr>
          <a:lstStyle/>
          <a:p>
            <a:pPr algn="l">
              <a:lnSpc>
                <a:spcPts val="3359"/>
              </a:lnSpc>
              <a:spcBef>
                <a:spcPct val="0"/>
              </a:spcBef>
            </a:pPr>
            <a:r>
              <a:rPr lang="en-US" sz="1800" dirty="0">
                <a:solidFill>
                  <a:srgbClr val="112C16"/>
                </a:solidFill>
                <a:latin typeface="Glacial Indifference"/>
                <a:ea typeface="Glacial Indifference"/>
                <a:cs typeface="Glacial Indifference"/>
                <a:sym typeface="Glacial Indifference"/>
              </a:rPr>
              <a:t>DEPARTMENT OF STATISTICS, </a:t>
            </a:r>
          </a:p>
          <a:p>
            <a:pPr algn="l">
              <a:lnSpc>
                <a:spcPts val="3359"/>
              </a:lnSpc>
              <a:spcBef>
                <a:spcPct val="0"/>
              </a:spcBef>
            </a:pPr>
            <a:r>
              <a:rPr lang="en-US" dirty="0">
                <a:solidFill>
                  <a:srgbClr val="112C16"/>
                </a:solidFill>
                <a:latin typeface="Glacial Indifference"/>
                <a:ea typeface="Glacial Indifference"/>
                <a:cs typeface="Glacial Indifference"/>
                <a:sym typeface="Glacial Indifference"/>
              </a:rPr>
              <a:t>PONDICHERRY UNIVERSITY</a:t>
            </a:r>
            <a:endParaRPr lang="en-US" sz="1800" dirty="0">
              <a:solidFill>
                <a:srgbClr val="112C16"/>
              </a:solidFill>
              <a:latin typeface="Glacial Indifference"/>
              <a:ea typeface="Glacial Indifference"/>
              <a:cs typeface="Glacial Indifference"/>
              <a:sym typeface="Glacial Indifferenc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1583665"/>
            <a:chOff x="0" y="0"/>
            <a:chExt cx="4274726" cy="417097"/>
          </a:xfrm>
        </p:grpSpPr>
        <p:sp>
          <p:nvSpPr>
            <p:cNvPr id="3" name="Freeform 3"/>
            <p:cNvSpPr/>
            <p:nvPr/>
          </p:nvSpPr>
          <p:spPr>
            <a:xfrm>
              <a:off x="0" y="0"/>
              <a:ext cx="4274726" cy="417097"/>
            </a:xfrm>
            <a:custGeom>
              <a:avLst/>
              <a:gdLst/>
              <a:ahLst/>
              <a:cxnLst/>
              <a:rect l="l" t="t" r="r" b="b"/>
              <a:pathLst>
                <a:path w="4274726" h="417097">
                  <a:moveTo>
                    <a:pt x="47700" y="0"/>
                  </a:moveTo>
                  <a:lnTo>
                    <a:pt x="4227026" y="0"/>
                  </a:lnTo>
                  <a:cubicBezTo>
                    <a:pt x="4239677" y="0"/>
                    <a:pt x="4251809" y="5025"/>
                    <a:pt x="4260755" y="13971"/>
                  </a:cubicBezTo>
                  <a:cubicBezTo>
                    <a:pt x="4269700" y="22916"/>
                    <a:pt x="4274726" y="35049"/>
                    <a:pt x="4274726" y="47700"/>
                  </a:cubicBezTo>
                  <a:lnTo>
                    <a:pt x="4274726" y="369397"/>
                  </a:lnTo>
                  <a:cubicBezTo>
                    <a:pt x="4274726" y="382048"/>
                    <a:pt x="4269700" y="394181"/>
                    <a:pt x="4260755" y="403126"/>
                  </a:cubicBezTo>
                  <a:cubicBezTo>
                    <a:pt x="4251809" y="412071"/>
                    <a:pt x="4239677" y="417097"/>
                    <a:pt x="4227026" y="417097"/>
                  </a:cubicBezTo>
                  <a:lnTo>
                    <a:pt x="47700" y="417097"/>
                  </a:lnTo>
                  <a:cubicBezTo>
                    <a:pt x="35049" y="417097"/>
                    <a:pt x="22916" y="412071"/>
                    <a:pt x="13971" y="403126"/>
                  </a:cubicBezTo>
                  <a:cubicBezTo>
                    <a:pt x="5025" y="394181"/>
                    <a:pt x="0" y="382048"/>
                    <a:pt x="0" y="369397"/>
                  </a:cubicBezTo>
                  <a:lnTo>
                    <a:pt x="0" y="47700"/>
                  </a:lnTo>
                  <a:cubicBezTo>
                    <a:pt x="0" y="35049"/>
                    <a:pt x="5025" y="22916"/>
                    <a:pt x="13971" y="13971"/>
                  </a:cubicBezTo>
                  <a:cubicBezTo>
                    <a:pt x="22916" y="5025"/>
                    <a:pt x="35049" y="0"/>
                    <a:pt x="47700" y="0"/>
                  </a:cubicBezTo>
                  <a:close/>
                </a:path>
              </a:pathLst>
            </a:custGeom>
            <a:solidFill>
              <a:srgbClr val="112C16"/>
            </a:solidFill>
          </p:spPr>
        </p:sp>
        <p:sp>
          <p:nvSpPr>
            <p:cNvPr id="4" name="TextBox 4"/>
            <p:cNvSpPr txBox="1"/>
            <p:nvPr/>
          </p:nvSpPr>
          <p:spPr>
            <a:xfrm>
              <a:off x="0" y="-38100"/>
              <a:ext cx="4274726" cy="455197"/>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28700" y="3078985"/>
            <a:ext cx="597290" cy="59729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028700" y="4143000"/>
            <a:ext cx="597290" cy="59729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028700" y="5207015"/>
            <a:ext cx="597290" cy="59729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028700" y="6271030"/>
            <a:ext cx="597290" cy="597290"/>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p:spPr>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028700" y="7335045"/>
            <a:ext cx="597290" cy="597290"/>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p:spPr>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028700" y="8399060"/>
            <a:ext cx="597290" cy="597290"/>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p:spPr>
        </p:sp>
        <p:sp>
          <p:nvSpPr>
            <p:cNvPr id="22" name="TextBox 2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9144000" y="3078985"/>
            <a:ext cx="597290" cy="597290"/>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p:spPr>
        </p:sp>
        <p:sp>
          <p:nvSpPr>
            <p:cNvPr id="25" name="TextBox 2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9144000" y="4143000"/>
            <a:ext cx="597290" cy="597290"/>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p:spPr>
        </p:sp>
        <p:sp>
          <p:nvSpPr>
            <p:cNvPr id="28" name="TextBox 2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a:off x="9144000" y="5207015"/>
            <a:ext cx="597290" cy="597290"/>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p:spPr>
        </p:sp>
        <p:sp>
          <p:nvSpPr>
            <p:cNvPr id="31" name="TextBox 3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32" name="Group 32"/>
          <p:cNvGrpSpPr/>
          <p:nvPr/>
        </p:nvGrpSpPr>
        <p:grpSpPr>
          <a:xfrm>
            <a:off x="9144000" y="6271030"/>
            <a:ext cx="597290" cy="597290"/>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p:spPr>
        </p:sp>
        <p:sp>
          <p:nvSpPr>
            <p:cNvPr id="34" name="TextBox 3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41" name="Freeform 41"/>
          <p:cNvSpPr/>
          <p:nvPr/>
        </p:nvSpPr>
        <p:spPr>
          <a:xfrm rot="5400000">
            <a:off x="15464923" y="1155086"/>
            <a:ext cx="897156" cy="1330892"/>
          </a:xfrm>
          <a:custGeom>
            <a:avLst/>
            <a:gdLst/>
            <a:ahLst/>
            <a:cxnLst/>
            <a:rect l="l" t="t" r="r" b="b"/>
            <a:pathLst>
              <a:path w="897156" h="1330892">
                <a:moveTo>
                  <a:pt x="0" y="0"/>
                </a:moveTo>
                <a:lnTo>
                  <a:pt x="897157" y="0"/>
                </a:lnTo>
                <a:lnTo>
                  <a:pt x="897157" y="1330892"/>
                </a:lnTo>
                <a:lnTo>
                  <a:pt x="0" y="133089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2"/>
          <p:cNvSpPr txBox="1"/>
          <p:nvPr/>
        </p:nvSpPr>
        <p:spPr>
          <a:xfrm>
            <a:off x="4683936" y="828675"/>
            <a:ext cx="8920128" cy="1717672"/>
          </a:xfrm>
          <a:prstGeom prst="rect">
            <a:avLst/>
          </a:prstGeom>
        </p:spPr>
        <p:txBody>
          <a:bodyPr lIns="0" tIns="0" rIns="0" bIns="0" rtlCol="0" anchor="t">
            <a:spAutoFit/>
          </a:bodyPr>
          <a:lstStyle/>
          <a:p>
            <a:pPr algn="ctr">
              <a:lnSpc>
                <a:spcPts val="14000"/>
              </a:lnSpc>
              <a:spcBef>
                <a:spcPct val="0"/>
              </a:spcBef>
            </a:pPr>
            <a:r>
              <a:rPr lang="en-US" sz="10000">
                <a:solidFill>
                  <a:srgbClr val="F1F0E7"/>
                </a:solidFill>
                <a:latin typeface="Anton"/>
                <a:ea typeface="Anton"/>
                <a:cs typeface="Anton"/>
                <a:sym typeface="Anton"/>
              </a:rPr>
              <a:t>Contents</a:t>
            </a:r>
          </a:p>
        </p:txBody>
      </p:sp>
      <p:sp>
        <p:nvSpPr>
          <p:cNvPr id="44" name="TextBox 44"/>
          <p:cNvSpPr txBox="1"/>
          <p:nvPr/>
        </p:nvSpPr>
        <p:spPr>
          <a:xfrm>
            <a:off x="1948680" y="3226342"/>
            <a:ext cx="4757895" cy="490855"/>
          </a:xfrm>
          <a:prstGeom prst="rect">
            <a:avLst/>
          </a:prstGeom>
        </p:spPr>
        <p:txBody>
          <a:bodyPr lIns="0" tIns="0" rIns="0" bIns="0" rtlCol="0" anchor="t">
            <a:spAutoFit/>
          </a:bodyPr>
          <a:lstStyle/>
          <a:p>
            <a:pPr algn="l">
              <a:lnSpc>
                <a:spcPts val="3919"/>
              </a:lnSpc>
              <a:spcBef>
                <a:spcPct val="0"/>
              </a:spcBef>
            </a:pPr>
            <a:r>
              <a:rPr lang="en-US" sz="2799" dirty="0">
                <a:solidFill>
                  <a:srgbClr val="112C16"/>
                </a:solidFill>
                <a:latin typeface="Glacial Indifference"/>
                <a:ea typeface="Glacial Indifference"/>
                <a:cs typeface="Glacial Indifference"/>
                <a:sym typeface="Glacial Indifference"/>
              </a:rPr>
              <a:t>Objective of the study</a:t>
            </a:r>
          </a:p>
        </p:txBody>
      </p:sp>
      <p:sp>
        <p:nvSpPr>
          <p:cNvPr id="45" name="TextBox 45"/>
          <p:cNvSpPr txBox="1"/>
          <p:nvPr/>
        </p:nvSpPr>
        <p:spPr>
          <a:xfrm>
            <a:off x="1948680" y="5239939"/>
            <a:ext cx="6033112" cy="464871"/>
          </a:xfrm>
          <a:prstGeom prst="rect">
            <a:avLst/>
          </a:prstGeom>
        </p:spPr>
        <p:txBody>
          <a:bodyPr lIns="0" tIns="0" rIns="0" bIns="0" rtlCol="0" anchor="t">
            <a:spAutoFit/>
          </a:bodyPr>
          <a:lstStyle/>
          <a:p>
            <a:pPr algn="l">
              <a:lnSpc>
                <a:spcPts val="3919"/>
              </a:lnSpc>
              <a:spcBef>
                <a:spcPct val="0"/>
              </a:spcBef>
            </a:pPr>
            <a:r>
              <a:rPr lang="en-US" sz="2799" dirty="0">
                <a:solidFill>
                  <a:srgbClr val="112C16"/>
                </a:solidFill>
                <a:latin typeface="Glacial Indifference"/>
                <a:ea typeface="Glacial Indifference"/>
                <a:cs typeface="Glacial Indifference"/>
                <a:sym typeface="Glacial Indifference"/>
              </a:rPr>
              <a:t>Data Cleaning &amp; Preprocessing</a:t>
            </a:r>
          </a:p>
        </p:txBody>
      </p:sp>
      <p:sp>
        <p:nvSpPr>
          <p:cNvPr id="46" name="TextBox 46"/>
          <p:cNvSpPr txBox="1"/>
          <p:nvPr/>
        </p:nvSpPr>
        <p:spPr>
          <a:xfrm>
            <a:off x="1948680" y="4217081"/>
            <a:ext cx="5066033" cy="490855"/>
          </a:xfrm>
          <a:prstGeom prst="rect">
            <a:avLst/>
          </a:prstGeom>
        </p:spPr>
        <p:txBody>
          <a:bodyPr lIns="0" tIns="0" rIns="0" bIns="0" rtlCol="0" anchor="t">
            <a:spAutoFit/>
          </a:bodyPr>
          <a:lstStyle/>
          <a:p>
            <a:pPr algn="l">
              <a:lnSpc>
                <a:spcPts val="3919"/>
              </a:lnSpc>
              <a:spcBef>
                <a:spcPct val="0"/>
              </a:spcBef>
            </a:pPr>
            <a:r>
              <a:rPr lang="en-US" sz="2799" dirty="0">
                <a:solidFill>
                  <a:srgbClr val="112C16"/>
                </a:solidFill>
                <a:latin typeface="Glacial Indifference"/>
                <a:ea typeface="Glacial Indifference"/>
                <a:cs typeface="Glacial Indifference"/>
                <a:sym typeface="Glacial Indifference"/>
              </a:rPr>
              <a:t>Data Description</a:t>
            </a:r>
          </a:p>
        </p:txBody>
      </p:sp>
      <p:sp>
        <p:nvSpPr>
          <p:cNvPr id="47" name="TextBox 47"/>
          <p:cNvSpPr txBox="1"/>
          <p:nvPr/>
        </p:nvSpPr>
        <p:spPr>
          <a:xfrm>
            <a:off x="1993447" y="6288402"/>
            <a:ext cx="4757895" cy="464871"/>
          </a:xfrm>
          <a:prstGeom prst="rect">
            <a:avLst/>
          </a:prstGeom>
        </p:spPr>
        <p:txBody>
          <a:bodyPr lIns="0" tIns="0" rIns="0" bIns="0" rtlCol="0" anchor="t">
            <a:spAutoFit/>
          </a:bodyPr>
          <a:lstStyle/>
          <a:p>
            <a:pPr algn="l">
              <a:lnSpc>
                <a:spcPts val="3919"/>
              </a:lnSpc>
              <a:spcBef>
                <a:spcPct val="0"/>
              </a:spcBef>
            </a:pPr>
            <a:r>
              <a:rPr lang="en-US" sz="2799" dirty="0">
                <a:solidFill>
                  <a:srgbClr val="112C16"/>
                </a:solidFill>
                <a:latin typeface="Glacial Indifference"/>
                <a:ea typeface="Glacial Indifference"/>
                <a:cs typeface="Glacial Indifference"/>
                <a:sym typeface="Glacial Indifference"/>
              </a:rPr>
              <a:t>Exploratory Data Analysis</a:t>
            </a:r>
          </a:p>
        </p:txBody>
      </p:sp>
      <p:sp>
        <p:nvSpPr>
          <p:cNvPr id="48" name="TextBox 48"/>
          <p:cNvSpPr txBox="1"/>
          <p:nvPr/>
        </p:nvSpPr>
        <p:spPr>
          <a:xfrm>
            <a:off x="1993447" y="7363043"/>
            <a:ext cx="4757895" cy="490855"/>
          </a:xfrm>
          <a:prstGeom prst="rect">
            <a:avLst/>
          </a:prstGeom>
        </p:spPr>
        <p:txBody>
          <a:bodyPr lIns="0" tIns="0" rIns="0" bIns="0" rtlCol="0" anchor="t">
            <a:spAutoFit/>
          </a:bodyPr>
          <a:lstStyle/>
          <a:p>
            <a:pPr algn="l">
              <a:lnSpc>
                <a:spcPts val="3919"/>
              </a:lnSpc>
              <a:spcBef>
                <a:spcPct val="0"/>
              </a:spcBef>
            </a:pPr>
            <a:r>
              <a:rPr lang="en-US" sz="2799" dirty="0">
                <a:solidFill>
                  <a:srgbClr val="112C16"/>
                </a:solidFill>
                <a:latin typeface="Glacial Indifference"/>
                <a:ea typeface="Glacial Indifference"/>
                <a:cs typeface="Glacial Indifference"/>
                <a:sym typeface="Glacial Indifference"/>
              </a:rPr>
              <a:t>Spatial Modelling</a:t>
            </a:r>
          </a:p>
        </p:txBody>
      </p:sp>
      <p:sp>
        <p:nvSpPr>
          <p:cNvPr id="49" name="TextBox 49"/>
          <p:cNvSpPr txBox="1"/>
          <p:nvPr/>
        </p:nvSpPr>
        <p:spPr>
          <a:xfrm>
            <a:off x="2057400" y="8403822"/>
            <a:ext cx="6227478" cy="986155"/>
          </a:xfrm>
          <a:prstGeom prst="rect">
            <a:avLst/>
          </a:prstGeom>
        </p:spPr>
        <p:txBody>
          <a:bodyPr lIns="0" tIns="0" rIns="0" bIns="0" rtlCol="0" anchor="t">
            <a:spAutoFit/>
          </a:bodyPr>
          <a:lstStyle/>
          <a:p>
            <a:pPr algn="l">
              <a:lnSpc>
                <a:spcPts val="3919"/>
              </a:lnSpc>
              <a:spcBef>
                <a:spcPct val="0"/>
              </a:spcBef>
            </a:pPr>
            <a:r>
              <a:rPr lang="en-US" sz="2799" dirty="0">
                <a:solidFill>
                  <a:srgbClr val="112C16"/>
                </a:solidFill>
                <a:latin typeface="Glacial Indifference"/>
                <a:ea typeface="Glacial Indifference"/>
                <a:cs typeface="Glacial Indifference"/>
                <a:sym typeface="Glacial Indifference"/>
              </a:rPr>
              <a:t>Moran’s I Statistics : Hypothesis and Significance, Results</a:t>
            </a:r>
          </a:p>
        </p:txBody>
      </p:sp>
      <p:sp>
        <p:nvSpPr>
          <p:cNvPr id="50" name="TextBox 50"/>
          <p:cNvSpPr txBox="1"/>
          <p:nvPr/>
        </p:nvSpPr>
        <p:spPr>
          <a:xfrm>
            <a:off x="9931790" y="3092179"/>
            <a:ext cx="5316266" cy="490855"/>
          </a:xfrm>
          <a:prstGeom prst="rect">
            <a:avLst/>
          </a:prstGeom>
        </p:spPr>
        <p:txBody>
          <a:bodyPr lIns="0" tIns="0" rIns="0" bIns="0" rtlCol="0" anchor="t">
            <a:spAutoFit/>
          </a:bodyPr>
          <a:lstStyle/>
          <a:p>
            <a:pPr algn="l">
              <a:lnSpc>
                <a:spcPts val="3919"/>
              </a:lnSpc>
              <a:spcBef>
                <a:spcPct val="0"/>
              </a:spcBef>
            </a:pPr>
            <a:r>
              <a:rPr lang="en-US" sz="2799" dirty="0">
                <a:solidFill>
                  <a:srgbClr val="112C16"/>
                </a:solidFill>
                <a:latin typeface="Glacial Indifference"/>
                <a:ea typeface="Glacial Indifference"/>
                <a:cs typeface="Glacial Indifference"/>
                <a:sym typeface="Glacial Indifference"/>
              </a:rPr>
              <a:t>Other spatial Statistics Used</a:t>
            </a:r>
          </a:p>
        </p:txBody>
      </p:sp>
      <p:sp>
        <p:nvSpPr>
          <p:cNvPr id="51" name="TextBox 51"/>
          <p:cNvSpPr txBox="1"/>
          <p:nvPr/>
        </p:nvSpPr>
        <p:spPr>
          <a:xfrm>
            <a:off x="9962270" y="4186240"/>
            <a:ext cx="4757895" cy="965008"/>
          </a:xfrm>
          <a:prstGeom prst="rect">
            <a:avLst/>
          </a:prstGeom>
        </p:spPr>
        <p:txBody>
          <a:bodyPr lIns="0" tIns="0" rIns="0" bIns="0" rtlCol="0" anchor="t">
            <a:spAutoFit/>
          </a:bodyPr>
          <a:lstStyle/>
          <a:p>
            <a:pPr algn="l">
              <a:lnSpc>
                <a:spcPts val="3919"/>
              </a:lnSpc>
              <a:spcBef>
                <a:spcPct val="0"/>
              </a:spcBef>
            </a:pPr>
            <a:r>
              <a:rPr lang="en-GB" sz="2799" dirty="0">
                <a:solidFill>
                  <a:srgbClr val="112C16"/>
                </a:solidFill>
                <a:latin typeface="Glacial Indifference"/>
                <a:ea typeface="Glacial Indifference"/>
                <a:cs typeface="Glacial Indifference"/>
                <a:sym typeface="Glacial Indifference"/>
              </a:rPr>
              <a:t>Predictive Modelling using some more ML models</a:t>
            </a:r>
          </a:p>
        </p:txBody>
      </p:sp>
      <p:sp>
        <p:nvSpPr>
          <p:cNvPr id="53" name="TextBox 53"/>
          <p:cNvSpPr txBox="1"/>
          <p:nvPr/>
        </p:nvSpPr>
        <p:spPr>
          <a:xfrm>
            <a:off x="9986082" y="5295900"/>
            <a:ext cx="4757895" cy="490855"/>
          </a:xfrm>
          <a:prstGeom prst="rect">
            <a:avLst/>
          </a:prstGeom>
        </p:spPr>
        <p:txBody>
          <a:bodyPr lIns="0" tIns="0" rIns="0" bIns="0" rtlCol="0" anchor="t">
            <a:spAutoFit/>
          </a:bodyPr>
          <a:lstStyle/>
          <a:p>
            <a:pPr algn="l">
              <a:lnSpc>
                <a:spcPts val="3919"/>
              </a:lnSpc>
              <a:spcBef>
                <a:spcPct val="0"/>
              </a:spcBef>
            </a:pPr>
            <a:r>
              <a:rPr lang="en-US" sz="2799" dirty="0">
                <a:solidFill>
                  <a:srgbClr val="112C16"/>
                </a:solidFill>
                <a:latin typeface="Glacial Indifference"/>
                <a:ea typeface="Glacial Indifference"/>
                <a:cs typeface="Glacial Indifference"/>
                <a:sym typeface="Glacial Indifference"/>
              </a:rPr>
              <a:t>Result and interpretation</a:t>
            </a:r>
          </a:p>
        </p:txBody>
      </p:sp>
      <p:sp>
        <p:nvSpPr>
          <p:cNvPr id="54" name="Freeform 54"/>
          <p:cNvSpPr/>
          <p:nvPr/>
        </p:nvSpPr>
        <p:spPr>
          <a:xfrm rot="5400000" flipH="1" flipV="1">
            <a:off x="1842858" y="1155086"/>
            <a:ext cx="897156" cy="1330892"/>
          </a:xfrm>
          <a:custGeom>
            <a:avLst/>
            <a:gdLst/>
            <a:ahLst/>
            <a:cxnLst/>
            <a:rect l="l" t="t" r="r" b="b"/>
            <a:pathLst>
              <a:path w="897156" h="1330892">
                <a:moveTo>
                  <a:pt x="897156" y="1330892"/>
                </a:moveTo>
                <a:lnTo>
                  <a:pt x="0" y="1330892"/>
                </a:lnTo>
                <a:lnTo>
                  <a:pt x="0" y="0"/>
                </a:lnTo>
                <a:lnTo>
                  <a:pt x="897156" y="0"/>
                </a:lnTo>
                <a:lnTo>
                  <a:pt x="897156" y="1330892"/>
                </a:lnTo>
                <a:close/>
              </a:path>
            </a:pathLst>
          </a:custGeom>
          <a:blipFill>
            <a:blip>
              <a:extLst>
                <a:ext uri="{96DAC541-7B7A-43D3-8B79-37D633B846F1}">
                  <asvg:svgBlip xmlns:asvg="http://schemas.microsoft.com/office/drawing/2016/SVG/main" r:embed="rId2"/>
                </a:ext>
              </a:extLst>
            </a:blip>
            <a:stretch>
              <a:fillRect/>
            </a:stretch>
          </a:blipFill>
        </p:spPr>
      </p:sp>
      <p:sp>
        <p:nvSpPr>
          <p:cNvPr id="59" name="TextBox 59"/>
          <p:cNvSpPr txBox="1"/>
          <p:nvPr/>
        </p:nvSpPr>
        <p:spPr>
          <a:xfrm>
            <a:off x="9986082" y="6271030"/>
            <a:ext cx="4757895" cy="490855"/>
          </a:xfrm>
          <a:prstGeom prst="rect">
            <a:avLst/>
          </a:prstGeom>
        </p:spPr>
        <p:txBody>
          <a:bodyPr lIns="0" tIns="0" rIns="0" bIns="0" rtlCol="0" anchor="t">
            <a:spAutoFit/>
          </a:bodyPr>
          <a:lstStyle/>
          <a:p>
            <a:pPr algn="l">
              <a:lnSpc>
                <a:spcPts val="3919"/>
              </a:lnSpc>
              <a:spcBef>
                <a:spcPct val="0"/>
              </a:spcBef>
            </a:pPr>
            <a:r>
              <a:rPr lang="en-US" sz="2799" dirty="0">
                <a:solidFill>
                  <a:srgbClr val="112C16"/>
                </a:solidFill>
                <a:latin typeface="Glacial Indifference"/>
                <a:ea typeface="Glacial Indifference"/>
                <a:cs typeface="Glacial Indifference"/>
                <a:sym typeface="Glacial Indifference"/>
              </a:rPr>
              <a:t>Future Prospect, 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888239" y="2862235"/>
            <a:ext cx="16989980" cy="1613921"/>
            <a:chOff x="0" y="0"/>
            <a:chExt cx="4474727" cy="425066"/>
          </a:xfrm>
        </p:grpSpPr>
        <p:sp>
          <p:nvSpPr>
            <p:cNvPr id="6" name="Freeform 6"/>
            <p:cNvSpPr/>
            <p:nvPr/>
          </p:nvSpPr>
          <p:spPr>
            <a:xfrm>
              <a:off x="0" y="0"/>
              <a:ext cx="4474727" cy="425066"/>
            </a:xfrm>
            <a:custGeom>
              <a:avLst/>
              <a:gdLst/>
              <a:ahLst/>
              <a:cxnLst/>
              <a:rect l="l" t="t" r="r" b="b"/>
              <a:pathLst>
                <a:path w="4474727" h="425066">
                  <a:moveTo>
                    <a:pt x="23239" y="0"/>
                  </a:moveTo>
                  <a:lnTo>
                    <a:pt x="4451488" y="0"/>
                  </a:lnTo>
                  <a:cubicBezTo>
                    <a:pt x="4457651" y="0"/>
                    <a:pt x="4463562" y="2448"/>
                    <a:pt x="4467921" y="6807"/>
                  </a:cubicBezTo>
                  <a:cubicBezTo>
                    <a:pt x="4472279" y="11165"/>
                    <a:pt x="4474727" y="17076"/>
                    <a:pt x="4474727" y="23239"/>
                  </a:cubicBezTo>
                  <a:lnTo>
                    <a:pt x="4474727" y="401826"/>
                  </a:lnTo>
                  <a:cubicBezTo>
                    <a:pt x="4474727" y="407990"/>
                    <a:pt x="4472279" y="413901"/>
                    <a:pt x="4467921" y="418259"/>
                  </a:cubicBezTo>
                  <a:cubicBezTo>
                    <a:pt x="4463562" y="422617"/>
                    <a:pt x="4457651" y="425066"/>
                    <a:pt x="4451488" y="425066"/>
                  </a:cubicBezTo>
                  <a:lnTo>
                    <a:pt x="23239" y="425066"/>
                  </a:lnTo>
                  <a:cubicBezTo>
                    <a:pt x="17076" y="425066"/>
                    <a:pt x="11165" y="422617"/>
                    <a:pt x="6807" y="418259"/>
                  </a:cubicBezTo>
                  <a:cubicBezTo>
                    <a:pt x="2448" y="413901"/>
                    <a:pt x="0" y="407990"/>
                    <a:pt x="0" y="401826"/>
                  </a:cubicBezTo>
                  <a:lnTo>
                    <a:pt x="0" y="23239"/>
                  </a:lnTo>
                  <a:cubicBezTo>
                    <a:pt x="0" y="17076"/>
                    <a:pt x="2448" y="11165"/>
                    <a:pt x="6807" y="6807"/>
                  </a:cubicBezTo>
                  <a:cubicBezTo>
                    <a:pt x="11165" y="2448"/>
                    <a:pt x="17076" y="0"/>
                    <a:pt x="23239" y="0"/>
                  </a:cubicBezTo>
                  <a:close/>
                </a:path>
              </a:pathLst>
            </a:custGeom>
            <a:ln w="47625" cap="rnd">
              <a:solidFill>
                <a:srgbClr val="112C16"/>
              </a:solidFill>
              <a:prstDash val="solid"/>
              <a:round/>
            </a:ln>
          </p:spPr>
        </p:sp>
        <p:sp>
          <p:nvSpPr>
            <p:cNvPr id="7" name="TextBox 7"/>
            <p:cNvSpPr txBox="1"/>
            <p:nvPr/>
          </p:nvSpPr>
          <p:spPr>
            <a:xfrm>
              <a:off x="0" y="-66675"/>
              <a:ext cx="4474727" cy="491741"/>
            </a:xfrm>
            <a:prstGeom prst="rect">
              <a:avLst/>
            </a:prstGeom>
          </p:spPr>
          <p:txBody>
            <a:bodyPr lIns="50800" tIns="50800" rIns="50800" bIns="50800" rtlCol="0" anchor="ctr"/>
            <a:lstStyle/>
            <a:p>
              <a:pPr algn="ctr">
                <a:lnSpc>
                  <a:spcPts val="5040"/>
                </a:lnSpc>
              </a:pPr>
              <a:endParaRPr/>
            </a:p>
          </p:txBody>
        </p:sp>
      </p:grpSp>
      <p:grpSp>
        <p:nvGrpSpPr>
          <p:cNvPr id="8" name="Group 8"/>
          <p:cNvGrpSpPr/>
          <p:nvPr/>
        </p:nvGrpSpPr>
        <p:grpSpPr>
          <a:xfrm>
            <a:off x="888239" y="5304831"/>
            <a:ext cx="16492364" cy="4163019"/>
            <a:chOff x="0" y="0"/>
            <a:chExt cx="4343668" cy="1096433"/>
          </a:xfrm>
        </p:grpSpPr>
        <p:sp>
          <p:nvSpPr>
            <p:cNvPr id="9" name="Freeform 9"/>
            <p:cNvSpPr/>
            <p:nvPr/>
          </p:nvSpPr>
          <p:spPr>
            <a:xfrm>
              <a:off x="0" y="0"/>
              <a:ext cx="4343668" cy="1096433"/>
            </a:xfrm>
            <a:custGeom>
              <a:avLst/>
              <a:gdLst/>
              <a:ahLst/>
              <a:cxnLst/>
              <a:rect l="l" t="t" r="r" b="b"/>
              <a:pathLst>
                <a:path w="4343668" h="1096433">
                  <a:moveTo>
                    <a:pt x="23941" y="0"/>
                  </a:moveTo>
                  <a:lnTo>
                    <a:pt x="4319727" y="0"/>
                  </a:lnTo>
                  <a:cubicBezTo>
                    <a:pt x="4326077" y="0"/>
                    <a:pt x="4332166" y="2522"/>
                    <a:pt x="4336656" y="7012"/>
                  </a:cubicBezTo>
                  <a:cubicBezTo>
                    <a:pt x="4341145" y="11502"/>
                    <a:pt x="4343668" y="17591"/>
                    <a:pt x="4343668" y="23941"/>
                  </a:cubicBezTo>
                  <a:lnTo>
                    <a:pt x="4343668" y="1072492"/>
                  </a:lnTo>
                  <a:cubicBezTo>
                    <a:pt x="4343668" y="1085714"/>
                    <a:pt x="4332949" y="1096433"/>
                    <a:pt x="4319727" y="1096433"/>
                  </a:cubicBezTo>
                  <a:lnTo>
                    <a:pt x="23941" y="1096433"/>
                  </a:lnTo>
                  <a:cubicBezTo>
                    <a:pt x="10719" y="1096433"/>
                    <a:pt x="0" y="1085714"/>
                    <a:pt x="0" y="1072492"/>
                  </a:cubicBezTo>
                  <a:lnTo>
                    <a:pt x="0" y="23941"/>
                  </a:lnTo>
                  <a:cubicBezTo>
                    <a:pt x="0" y="10719"/>
                    <a:pt x="10719" y="0"/>
                    <a:pt x="23941" y="0"/>
                  </a:cubicBezTo>
                  <a:close/>
                </a:path>
              </a:pathLst>
            </a:custGeom>
            <a:ln w="47625" cap="rnd">
              <a:solidFill>
                <a:srgbClr val="112C16"/>
              </a:solidFill>
              <a:prstDash val="solid"/>
              <a:round/>
            </a:ln>
          </p:spPr>
        </p:sp>
        <p:sp>
          <p:nvSpPr>
            <p:cNvPr id="10" name="TextBox 10"/>
            <p:cNvSpPr txBox="1"/>
            <p:nvPr/>
          </p:nvSpPr>
          <p:spPr>
            <a:xfrm>
              <a:off x="0" y="-66675"/>
              <a:ext cx="4343668" cy="1163108"/>
            </a:xfrm>
            <a:prstGeom prst="rect">
              <a:avLst/>
            </a:prstGeom>
          </p:spPr>
          <p:txBody>
            <a:bodyPr lIns="50800" tIns="50800" rIns="50800" bIns="50800" rtlCol="0" anchor="ctr"/>
            <a:lstStyle/>
            <a:p>
              <a:pPr algn="ctr">
                <a:lnSpc>
                  <a:spcPts val="5040"/>
                </a:lnSpc>
              </a:pPr>
              <a:endParaRPr/>
            </a:p>
          </p:txBody>
        </p:sp>
      </p:grpSp>
      <p:sp>
        <p:nvSpPr>
          <p:cNvPr id="11" name="Freeform 11"/>
          <p:cNvSpPr/>
          <p:nvPr/>
        </p:nvSpPr>
        <p:spPr>
          <a:xfrm>
            <a:off x="14998397" y="7752713"/>
            <a:ext cx="2879822" cy="2366690"/>
          </a:xfrm>
          <a:custGeom>
            <a:avLst/>
            <a:gdLst/>
            <a:ahLst/>
            <a:cxnLst/>
            <a:rect l="l" t="t" r="r" b="b"/>
            <a:pathLst>
              <a:path w="2879822" h="2366690">
                <a:moveTo>
                  <a:pt x="0" y="0"/>
                </a:moveTo>
                <a:lnTo>
                  <a:pt x="2879822" y="0"/>
                </a:lnTo>
                <a:lnTo>
                  <a:pt x="2879822" y="2366690"/>
                </a:lnTo>
                <a:lnTo>
                  <a:pt x="0" y="236669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2" name="TextBox 12"/>
          <p:cNvSpPr txBox="1"/>
          <p:nvPr/>
        </p:nvSpPr>
        <p:spPr>
          <a:xfrm>
            <a:off x="1502759" y="1027430"/>
            <a:ext cx="12688898" cy="1094740"/>
          </a:xfrm>
          <a:prstGeom prst="rect">
            <a:avLst/>
          </a:prstGeom>
        </p:spPr>
        <p:txBody>
          <a:bodyPr lIns="0" tIns="0" rIns="0" bIns="0" rtlCol="0" anchor="t">
            <a:spAutoFit/>
          </a:bodyPr>
          <a:lstStyle/>
          <a:p>
            <a:pPr algn="l">
              <a:lnSpc>
                <a:spcPts val="8959"/>
              </a:lnSpc>
              <a:spcBef>
                <a:spcPct val="0"/>
              </a:spcBef>
            </a:pPr>
            <a:r>
              <a:rPr lang="en-US" sz="6399">
                <a:solidFill>
                  <a:srgbClr val="F1F0E7"/>
                </a:solidFill>
                <a:latin typeface="Anton"/>
                <a:ea typeface="Anton"/>
                <a:cs typeface="Anton"/>
                <a:sym typeface="Anton"/>
              </a:rPr>
              <a:t>Objective of the Study:</a:t>
            </a:r>
          </a:p>
        </p:txBody>
      </p:sp>
      <p:sp>
        <p:nvSpPr>
          <p:cNvPr id="13" name="TextBox 13"/>
          <p:cNvSpPr txBox="1"/>
          <p:nvPr/>
        </p:nvSpPr>
        <p:spPr>
          <a:xfrm>
            <a:off x="1337378" y="3010065"/>
            <a:ext cx="15921922" cy="1251585"/>
          </a:xfrm>
          <a:prstGeom prst="rect">
            <a:avLst/>
          </a:prstGeom>
        </p:spPr>
        <p:txBody>
          <a:bodyPr lIns="0" tIns="0" rIns="0" bIns="0" rtlCol="0" anchor="t">
            <a:spAutoFit/>
          </a:bodyPr>
          <a:lstStyle/>
          <a:p>
            <a:pPr algn="ctr">
              <a:lnSpc>
                <a:spcPts val="5040"/>
              </a:lnSpc>
              <a:spcBef>
                <a:spcPct val="0"/>
              </a:spcBef>
            </a:pPr>
            <a:r>
              <a:rPr lang="en-US" sz="3600" b="1" dirty="0">
                <a:solidFill>
                  <a:srgbClr val="000000"/>
                </a:solidFill>
                <a:latin typeface="Glacial Indifference Bold"/>
                <a:ea typeface="Glacial Indifference Bold"/>
                <a:cs typeface="Glacial Indifference Bold"/>
                <a:sym typeface="Glacial Indifference Bold"/>
              </a:rPr>
              <a:t>To analyze spatial pattern and temporal trends of air pollution </a:t>
            </a:r>
          </a:p>
          <a:p>
            <a:pPr algn="ctr">
              <a:lnSpc>
                <a:spcPts val="5040"/>
              </a:lnSpc>
              <a:spcBef>
                <a:spcPct val="0"/>
              </a:spcBef>
            </a:pPr>
            <a:r>
              <a:rPr lang="en-US" sz="3600" b="1" dirty="0">
                <a:solidFill>
                  <a:srgbClr val="000000"/>
                </a:solidFill>
                <a:latin typeface="Glacial Indifference Bold"/>
                <a:ea typeface="Glacial Indifference Bold"/>
                <a:cs typeface="Glacial Indifference Bold"/>
                <a:sym typeface="Glacial Indifference Bold"/>
              </a:rPr>
              <a:t>(PM 2.5, AQI) across Indian cities.</a:t>
            </a:r>
          </a:p>
        </p:txBody>
      </p:sp>
      <p:sp>
        <p:nvSpPr>
          <p:cNvPr id="14" name="TextBox 14"/>
          <p:cNvSpPr txBox="1"/>
          <p:nvPr/>
        </p:nvSpPr>
        <p:spPr>
          <a:xfrm>
            <a:off x="1306030" y="5769948"/>
            <a:ext cx="15656782" cy="3804285"/>
          </a:xfrm>
          <a:prstGeom prst="rect">
            <a:avLst/>
          </a:prstGeom>
        </p:spPr>
        <p:txBody>
          <a:bodyPr lIns="0" tIns="0" rIns="0" bIns="0" rtlCol="0" anchor="t">
            <a:spAutoFit/>
          </a:bodyPr>
          <a:lstStyle/>
          <a:p>
            <a:pPr marL="777240" lvl="1" indent="-388620" algn="l">
              <a:lnSpc>
                <a:spcPts val="5040"/>
              </a:lnSpc>
              <a:buFont typeface="Arial"/>
              <a:buChar char="•"/>
            </a:pPr>
            <a:r>
              <a:rPr lang="en-US" sz="3600" dirty="0">
                <a:solidFill>
                  <a:srgbClr val="000000"/>
                </a:solidFill>
                <a:latin typeface="Glacial Indifference"/>
                <a:ea typeface="Glacial Indifference"/>
                <a:cs typeface="Glacial Indifference"/>
                <a:sym typeface="Glacial Indifference"/>
              </a:rPr>
              <a:t>To detect pollution clusters (hotspots) </a:t>
            </a:r>
          </a:p>
          <a:p>
            <a:pPr marL="777240" lvl="1" indent="-388620" algn="l">
              <a:lnSpc>
                <a:spcPts val="5040"/>
              </a:lnSpc>
              <a:buFont typeface="Arial"/>
              <a:buChar char="•"/>
            </a:pPr>
            <a:r>
              <a:rPr lang="en-US" sz="3600" dirty="0">
                <a:solidFill>
                  <a:srgbClr val="000000"/>
                </a:solidFill>
                <a:latin typeface="Glacial Indifference"/>
                <a:ea typeface="Glacial Indifference"/>
                <a:cs typeface="Glacial Indifference"/>
                <a:sym typeface="Glacial Indifference"/>
              </a:rPr>
              <a:t>To measure spatial dependence.</a:t>
            </a:r>
          </a:p>
          <a:p>
            <a:pPr marL="777240" lvl="1" indent="-388620" algn="l">
              <a:lnSpc>
                <a:spcPts val="5040"/>
              </a:lnSpc>
              <a:buFont typeface="Arial"/>
              <a:buChar char="•"/>
            </a:pPr>
            <a:r>
              <a:rPr lang="en-US" sz="3600" dirty="0">
                <a:solidFill>
                  <a:srgbClr val="000000"/>
                </a:solidFill>
                <a:latin typeface="Glacial Indifference"/>
                <a:ea typeface="Glacial Indifference"/>
                <a:cs typeface="Glacial Indifference"/>
                <a:sym typeface="Glacial Indifference"/>
              </a:rPr>
              <a:t>To model how pollution spreads geographically (spatial regression)</a:t>
            </a:r>
          </a:p>
          <a:p>
            <a:pPr marL="777240" lvl="1" indent="-388620" algn="l">
              <a:lnSpc>
                <a:spcPts val="5040"/>
              </a:lnSpc>
              <a:buFont typeface="Arial"/>
              <a:buChar char="•"/>
            </a:pPr>
            <a:r>
              <a:rPr lang="en-US" sz="3600" dirty="0">
                <a:solidFill>
                  <a:srgbClr val="000000"/>
                </a:solidFill>
                <a:latin typeface="Glacial Indifference"/>
                <a:ea typeface="Glacial Indifference"/>
                <a:cs typeface="Glacial Indifference"/>
                <a:sym typeface="Glacial Indifference"/>
              </a:rPr>
              <a:t>To predict pollution in unmonitored areas</a:t>
            </a:r>
          </a:p>
          <a:p>
            <a:pPr marL="777240" lvl="1" indent="-388620" algn="l">
              <a:lnSpc>
                <a:spcPts val="5040"/>
              </a:lnSpc>
              <a:buFont typeface="Arial"/>
              <a:buChar char="•"/>
            </a:pPr>
            <a:r>
              <a:rPr lang="en-US" sz="3600" dirty="0">
                <a:solidFill>
                  <a:srgbClr val="000000"/>
                </a:solidFill>
                <a:latin typeface="Glacial Indifference"/>
                <a:ea typeface="Glacial Indifference"/>
                <a:cs typeface="Glacial Indifference"/>
                <a:sym typeface="Glacial Indifference"/>
              </a:rPr>
              <a:t>To understand whether pollution is random or spatially clustered.</a:t>
            </a:r>
          </a:p>
          <a:p>
            <a:pPr algn="ctr">
              <a:lnSpc>
                <a:spcPts val="5040"/>
              </a:lnSpc>
              <a:spcBef>
                <a:spcPct val="0"/>
              </a:spcBef>
            </a:pPr>
            <a:endParaRPr lang="en-US" sz="3600" dirty="0">
              <a:solidFill>
                <a:srgbClr val="000000"/>
              </a:solidFill>
              <a:latin typeface="Glacial Indifference"/>
              <a:ea typeface="Glacial Indifference"/>
              <a:cs typeface="Glacial Indifference"/>
              <a:sym typeface="Glacial Indifferenc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0806386" y="5596214"/>
            <a:ext cx="2413088" cy="2413088"/>
          </a:xfrm>
          <a:custGeom>
            <a:avLst/>
            <a:gdLst/>
            <a:ahLst/>
            <a:cxnLst/>
            <a:rect l="l" t="t" r="r" b="b"/>
            <a:pathLst>
              <a:path w="2413088" h="2413088">
                <a:moveTo>
                  <a:pt x="0" y="0"/>
                </a:moveTo>
                <a:lnTo>
                  <a:pt x="2413088" y="0"/>
                </a:lnTo>
                <a:lnTo>
                  <a:pt x="2413088" y="2413088"/>
                </a:lnTo>
                <a:lnTo>
                  <a:pt x="0" y="241308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16052756" y="2277698"/>
            <a:ext cx="2413088" cy="2413088"/>
          </a:xfrm>
          <a:custGeom>
            <a:avLst/>
            <a:gdLst/>
            <a:ahLst/>
            <a:cxnLst/>
            <a:rect l="l" t="t" r="r" b="b"/>
            <a:pathLst>
              <a:path w="2413088" h="2413088">
                <a:moveTo>
                  <a:pt x="0" y="0"/>
                </a:moveTo>
                <a:lnTo>
                  <a:pt x="2413088" y="0"/>
                </a:lnTo>
                <a:lnTo>
                  <a:pt x="2413088" y="2413088"/>
                </a:lnTo>
                <a:lnTo>
                  <a:pt x="0" y="2413088"/>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7" name="Group 7"/>
          <p:cNvGrpSpPr/>
          <p:nvPr/>
        </p:nvGrpSpPr>
        <p:grpSpPr>
          <a:xfrm>
            <a:off x="12012930" y="2796568"/>
            <a:ext cx="5246370" cy="4902057"/>
            <a:chOff x="0" y="0"/>
            <a:chExt cx="812800" cy="759457"/>
          </a:xfrm>
        </p:grpSpPr>
        <p:sp>
          <p:nvSpPr>
            <p:cNvPr id="8" name="Freeform 8"/>
            <p:cNvSpPr/>
            <p:nvPr/>
          </p:nvSpPr>
          <p:spPr>
            <a:xfrm>
              <a:off x="0" y="0"/>
              <a:ext cx="812800" cy="759457"/>
            </a:xfrm>
            <a:custGeom>
              <a:avLst/>
              <a:gdLst/>
              <a:ahLst/>
              <a:cxnLst/>
              <a:rect l="l" t="t" r="r" b="b"/>
              <a:pathLst>
                <a:path w="812800" h="759457">
                  <a:moveTo>
                    <a:pt x="44270" y="0"/>
                  </a:moveTo>
                  <a:lnTo>
                    <a:pt x="768530" y="0"/>
                  </a:lnTo>
                  <a:cubicBezTo>
                    <a:pt x="792980" y="0"/>
                    <a:pt x="812800" y="19820"/>
                    <a:pt x="812800" y="44270"/>
                  </a:cubicBezTo>
                  <a:lnTo>
                    <a:pt x="812800" y="715187"/>
                  </a:lnTo>
                  <a:cubicBezTo>
                    <a:pt x="812800" y="739637"/>
                    <a:pt x="792980" y="759457"/>
                    <a:pt x="768530" y="759457"/>
                  </a:cubicBezTo>
                  <a:lnTo>
                    <a:pt x="44270" y="759457"/>
                  </a:lnTo>
                  <a:cubicBezTo>
                    <a:pt x="32529" y="759457"/>
                    <a:pt x="21269" y="754793"/>
                    <a:pt x="12966" y="746491"/>
                  </a:cubicBezTo>
                  <a:cubicBezTo>
                    <a:pt x="4664" y="738188"/>
                    <a:pt x="0" y="726928"/>
                    <a:pt x="0" y="715187"/>
                  </a:cubicBezTo>
                  <a:lnTo>
                    <a:pt x="0" y="44270"/>
                  </a:lnTo>
                  <a:cubicBezTo>
                    <a:pt x="0" y="19820"/>
                    <a:pt x="19820" y="0"/>
                    <a:pt x="44270" y="0"/>
                  </a:cubicBezTo>
                  <a:close/>
                </a:path>
              </a:pathLst>
            </a:custGeom>
            <a:blipFill>
              <a:blip r:embed="rId3"/>
              <a:stretch>
                <a:fillRect l="-20014" r="-20014"/>
              </a:stretch>
            </a:blipFill>
            <a:ln w="38100" cap="rnd">
              <a:solidFill>
                <a:srgbClr val="112C16"/>
              </a:solidFill>
              <a:prstDash val="solid"/>
              <a:round/>
            </a:ln>
          </p:spPr>
        </p:sp>
      </p:grpSp>
      <p:grpSp>
        <p:nvGrpSpPr>
          <p:cNvPr id="9" name="Group 9"/>
          <p:cNvGrpSpPr/>
          <p:nvPr/>
        </p:nvGrpSpPr>
        <p:grpSpPr>
          <a:xfrm>
            <a:off x="-1487123" y="8851150"/>
            <a:ext cx="21262245" cy="715570"/>
            <a:chOff x="0" y="0"/>
            <a:chExt cx="5599933" cy="188463"/>
          </a:xfrm>
        </p:grpSpPr>
        <p:sp>
          <p:nvSpPr>
            <p:cNvPr id="10" name="Freeform 10"/>
            <p:cNvSpPr/>
            <p:nvPr/>
          </p:nvSpPr>
          <p:spPr>
            <a:xfrm>
              <a:off x="0" y="0"/>
              <a:ext cx="5599933" cy="188463"/>
            </a:xfrm>
            <a:custGeom>
              <a:avLst/>
              <a:gdLst/>
              <a:ahLst/>
              <a:cxnLst/>
              <a:rect l="l" t="t" r="r" b="b"/>
              <a:pathLst>
                <a:path w="5599933" h="188463">
                  <a:moveTo>
                    <a:pt x="0" y="0"/>
                  </a:moveTo>
                  <a:lnTo>
                    <a:pt x="5599933" y="0"/>
                  </a:lnTo>
                  <a:lnTo>
                    <a:pt x="5599933" y="188463"/>
                  </a:lnTo>
                  <a:lnTo>
                    <a:pt x="0" y="188463"/>
                  </a:lnTo>
                  <a:close/>
                </a:path>
              </a:pathLst>
            </a:custGeom>
            <a:solidFill>
              <a:srgbClr val="112C16"/>
            </a:solidFill>
          </p:spPr>
        </p:sp>
        <p:sp>
          <p:nvSpPr>
            <p:cNvPr id="11" name="TextBox 11"/>
            <p:cNvSpPr txBox="1"/>
            <p:nvPr/>
          </p:nvSpPr>
          <p:spPr>
            <a:xfrm>
              <a:off x="0" y="-38100"/>
              <a:ext cx="5599933" cy="226563"/>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1502759" y="1027430"/>
            <a:ext cx="12688898" cy="1094715"/>
          </a:xfrm>
          <a:prstGeom prst="rect">
            <a:avLst/>
          </a:prstGeom>
        </p:spPr>
        <p:txBody>
          <a:bodyPr lIns="0" tIns="0" rIns="0" bIns="0" rtlCol="0" anchor="t">
            <a:spAutoFit/>
          </a:bodyPr>
          <a:lstStyle/>
          <a:p>
            <a:pPr algn="l">
              <a:lnSpc>
                <a:spcPts val="8959"/>
              </a:lnSpc>
              <a:spcBef>
                <a:spcPct val="0"/>
              </a:spcBef>
            </a:pPr>
            <a:r>
              <a:rPr lang="en-US" sz="6399" dirty="0">
                <a:solidFill>
                  <a:srgbClr val="F1F0E7"/>
                </a:solidFill>
                <a:latin typeface="Anton"/>
                <a:ea typeface="Anton"/>
                <a:cs typeface="Anton"/>
                <a:sym typeface="Anton"/>
              </a:rPr>
              <a:t>Data Description</a:t>
            </a:r>
          </a:p>
        </p:txBody>
      </p:sp>
      <p:sp>
        <p:nvSpPr>
          <p:cNvPr id="13" name="TextBox 13"/>
          <p:cNvSpPr txBox="1"/>
          <p:nvPr/>
        </p:nvSpPr>
        <p:spPr>
          <a:xfrm>
            <a:off x="1028700" y="2729893"/>
            <a:ext cx="9023575" cy="490855"/>
          </a:xfrm>
          <a:prstGeom prst="rect">
            <a:avLst/>
          </a:prstGeom>
        </p:spPr>
        <p:txBody>
          <a:bodyPr lIns="0" tIns="0" rIns="0" bIns="0" rtlCol="0" anchor="t">
            <a:spAutoFit/>
          </a:bodyPr>
          <a:lstStyle/>
          <a:p>
            <a:pPr algn="l">
              <a:lnSpc>
                <a:spcPts val="3919"/>
              </a:lnSpc>
              <a:spcBef>
                <a:spcPct val="0"/>
              </a:spcBef>
            </a:pPr>
            <a:r>
              <a:rPr lang="en-US" sz="2799" b="1">
                <a:solidFill>
                  <a:srgbClr val="112C16"/>
                </a:solidFill>
                <a:latin typeface="Glacial Indifference Bold"/>
                <a:ea typeface="Glacial Indifference Bold"/>
                <a:cs typeface="Glacial Indifference Bold"/>
                <a:sym typeface="Glacial Indifference Bold"/>
              </a:rPr>
              <a:t>Pollution : Indian cities aqi 2015-2023</a:t>
            </a:r>
          </a:p>
        </p:txBody>
      </p:sp>
      <p:sp>
        <p:nvSpPr>
          <p:cNvPr id="14" name="TextBox 14"/>
          <p:cNvSpPr txBox="1"/>
          <p:nvPr/>
        </p:nvSpPr>
        <p:spPr>
          <a:xfrm>
            <a:off x="1041917" y="4032874"/>
            <a:ext cx="9023575" cy="464871"/>
          </a:xfrm>
          <a:prstGeom prst="rect">
            <a:avLst/>
          </a:prstGeom>
        </p:spPr>
        <p:txBody>
          <a:bodyPr lIns="0" tIns="0" rIns="0" bIns="0" rtlCol="0" anchor="t">
            <a:spAutoFit/>
          </a:bodyPr>
          <a:lstStyle/>
          <a:p>
            <a:pPr algn="l">
              <a:lnSpc>
                <a:spcPts val="3919"/>
              </a:lnSpc>
              <a:spcBef>
                <a:spcPct val="0"/>
              </a:spcBef>
            </a:pPr>
            <a:r>
              <a:rPr lang="en-US" sz="2799" b="1" dirty="0">
                <a:solidFill>
                  <a:srgbClr val="112C16"/>
                </a:solidFill>
                <a:latin typeface="Glacial Indifference Bold"/>
                <a:ea typeface="Glacial Indifference Bold"/>
                <a:cs typeface="Glacial Indifference Bold"/>
                <a:sym typeface="Glacial Indifference Bold"/>
              </a:rPr>
              <a:t>Coordinates data : Indian cities’ coordinates </a:t>
            </a:r>
          </a:p>
        </p:txBody>
      </p:sp>
      <p:sp>
        <p:nvSpPr>
          <p:cNvPr id="15" name="TextBox 15"/>
          <p:cNvSpPr txBox="1"/>
          <p:nvPr/>
        </p:nvSpPr>
        <p:spPr>
          <a:xfrm>
            <a:off x="1055134" y="5529539"/>
            <a:ext cx="9023575" cy="490855"/>
          </a:xfrm>
          <a:prstGeom prst="rect">
            <a:avLst/>
          </a:prstGeom>
        </p:spPr>
        <p:txBody>
          <a:bodyPr lIns="0" tIns="0" rIns="0" bIns="0" rtlCol="0" anchor="t">
            <a:spAutoFit/>
          </a:bodyPr>
          <a:lstStyle/>
          <a:p>
            <a:pPr algn="l">
              <a:lnSpc>
                <a:spcPts val="3919"/>
              </a:lnSpc>
              <a:spcBef>
                <a:spcPct val="0"/>
              </a:spcBef>
            </a:pPr>
            <a:r>
              <a:rPr lang="en-US" sz="2799" b="1">
                <a:solidFill>
                  <a:srgbClr val="112C16"/>
                </a:solidFill>
                <a:latin typeface="Glacial Indifference Bold"/>
                <a:ea typeface="Glacial Indifference Bold"/>
                <a:cs typeface="Glacial Indifference Bold"/>
                <a:sym typeface="Glacial Indifference Bold"/>
              </a:rPr>
              <a:t>Weather data : Climatography of indian cities </a:t>
            </a:r>
          </a:p>
        </p:txBody>
      </p:sp>
      <p:sp>
        <p:nvSpPr>
          <p:cNvPr id="16" name="TextBox 16"/>
          <p:cNvSpPr txBox="1"/>
          <p:nvPr/>
        </p:nvSpPr>
        <p:spPr>
          <a:xfrm>
            <a:off x="1028700" y="4624111"/>
            <a:ext cx="4931378" cy="490855"/>
          </a:xfrm>
          <a:prstGeom prst="rect">
            <a:avLst/>
          </a:prstGeom>
        </p:spPr>
        <p:txBody>
          <a:bodyPr lIns="0" tIns="0" rIns="0" bIns="0" rtlCol="0" anchor="t">
            <a:spAutoFit/>
          </a:bodyPr>
          <a:lstStyle/>
          <a:p>
            <a:pPr algn="l">
              <a:lnSpc>
                <a:spcPts val="3919"/>
              </a:lnSpc>
              <a:spcBef>
                <a:spcPct val="0"/>
              </a:spcBef>
            </a:pPr>
            <a:r>
              <a:rPr lang="en-US" sz="2799" dirty="0">
                <a:solidFill>
                  <a:srgbClr val="112C16"/>
                </a:solidFill>
                <a:latin typeface="Glacial Indifference"/>
                <a:ea typeface="Glacial Indifference"/>
                <a:cs typeface="Glacial Indifference"/>
                <a:sym typeface="Glacial Indifference"/>
              </a:rPr>
              <a:t> latitude, longitude, population </a:t>
            </a:r>
          </a:p>
        </p:txBody>
      </p:sp>
      <p:sp>
        <p:nvSpPr>
          <p:cNvPr id="17" name="TextBox 17"/>
          <p:cNvSpPr txBox="1"/>
          <p:nvPr/>
        </p:nvSpPr>
        <p:spPr>
          <a:xfrm>
            <a:off x="1028700" y="3250628"/>
            <a:ext cx="9050009" cy="419603"/>
          </a:xfrm>
          <a:prstGeom prst="rect">
            <a:avLst/>
          </a:prstGeom>
        </p:spPr>
        <p:txBody>
          <a:bodyPr lIns="0" tIns="0" rIns="0" bIns="0" rtlCol="0" anchor="t">
            <a:spAutoFit/>
          </a:bodyPr>
          <a:lstStyle/>
          <a:p>
            <a:pPr algn="l">
              <a:lnSpc>
                <a:spcPts val="3437"/>
              </a:lnSpc>
              <a:spcBef>
                <a:spcPct val="0"/>
              </a:spcBef>
            </a:pPr>
            <a:r>
              <a:rPr lang="en-US" sz="2455">
                <a:solidFill>
                  <a:srgbClr val="112C16"/>
                </a:solidFill>
                <a:latin typeface="Glacial Indifference"/>
                <a:ea typeface="Glacial Indifference"/>
                <a:cs typeface="Glacial Indifference"/>
                <a:sym typeface="Glacial Indifference"/>
              </a:rPr>
              <a:t>city | date | pm25| pm10 | no2 | so2 | co| o3| aqi| aqi_category</a:t>
            </a:r>
          </a:p>
        </p:txBody>
      </p:sp>
      <p:sp>
        <p:nvSpPr>
          <p:cNvPr id="18" name="TextBox 18"/>
          <p:cNvSpPr txBox="1"/>
          <p:nvPr/>
        </p:nvSpPr>
        <p:spPr>
          <a:xfrm>
            <a:off x="1133541" y="6379095"/>
            <a:ext cx="9672845" cy="1965282"/>
          </a:xfrm>
          <a:prstGeom prst="rect">
            <a:avLst/>
          </a:prstGeom>
        </p:spPr>
        <p:txBody>
          <a:bodyPr wrap="square" lIns="0" tIns="0" rIns="0" bIns="0" rtlCol="0" anchor="t">
            <a:spAutoFit/>
          </a:bodyPr>
          <a:lstStyle/>
          <a:p>
            <a:pPr algn="l">
              <a:lnSpc>
                <a:spcPts val="3919"/>
              </a:lnSpc>
            </a:pPr>
            <a:r>
              <a:rPr lang="en-US" sz="2799" dirty="0" err="1">
                <a:solidFill>
                  <a:srgbClr val="112C16"/>
                </a:solidFill>
                <a:latin typeface="Glacial Indifference"/>
                <a:ea typeface="Glacial Indifference"/>
                <a:cs typeface="Glacial Indifference"/>
                <a:sym typeface="Glacial Indifference"/>
              </a:rPr>
              <a:t>temperature_Celsius</a:t>
            </a:r>
            <a:r>
              <a:rPr lang="en-US" sz="2799" dirty="0">
                <a:solidFill>
                  <a:srgbClr val="112C16"/>
                </a:solidFill>
                <a:latin typeface="Glacial Indifference"/>
                <a:ea typeface="Glacial Indifference"/>
                <a:cs typeface="Glacial Indifference"/>
                <a:sym typeface="Glacial Indifference"/>
              </a:rPr>
              <a:t> | </a:t>
            </a:r>
            <a:r>
              <a:rPr lang="en-US" sz="2799" dirty="0" err="1">
                <a:solidFill>
                  <a:srgbClr val="112C16"/>
                </a:solidFill>
                <a:latin typeface="Glacial Indifference"/>
                <a:ea typeface="Glacial Indifference"/>
                <a:cs typeface="Glacial Indifference"/>
                <a:sym typeface="Glacial Indifference"/>
              </a:rPr>
              <a:t>temperature_Fahrenheit</a:t>
            </a:r>
            <a:r>
              <a:rPr lang="en-US" sz="2799" dirty="0">
                <a:solidFill>
                  <a:srgbClr val="112C16"/>
                </a:solidFill>
                <a:latin typeface="Glacial Indifference"/>
                <a:ea typeface="Glacial Indifference"/>
                <a:cs typeface="Glacial Indifference"/>
                <a:sym typeface="Glacial Indifference"/>
              </a:rPr>
              <a:t> | ...air_quality_PM10| </a:t>
            </a:r>
            <a:r>
              <a:rPr lang="en-US" sz="2799" dirty="0" err="1">
                <a:solidFill>
                  <a:srgbClr val="112C16"/>
                </a:solidFill>
                <a:latin typeface="Glacial Indifference"/>
                <a:ea typeface="Glacial Indifference"/>
                <a:cs typeface="Glacial Indifference"/>
                <a:sym typeface="Glacial Indifference"/>
              </a:rPr>
              <a:t>air_quality_us</a:t>
            </a:r>
            <a:r>
              <a:rPr lang="en-US" sz="2799" dirty="0">
                <a:solidFill>
                  <a:srgbClr val="112C16"/>
                </a:solidFill>
                <a:latin typeface="Glacial Indifference"/>
                <a:ea typeface="Glacial Indifference"/>
                <a:cs typeface="Glacial Indifference"/>
                <a:sym typeface="Glacial Indifference"/>
              </a:rPr>
              <a:t>-</a:t>
            </a:r>
            <a:r>
              <a:rPr lang="en-US" sz="2799" dirty="0" err="1">
                <a:solidFill>
                  <a:srgbClr val="112C16"/>
                </a:solidFill>
                <a:latin typeface="Glacial Indifference"/>
                <a:ea typeface="Glacial Indifference"/>
                <a:cs typeface="Glacial Indifference"/>
                <a:sym typeface="Glacial Indifference"/>
              </a:rPr>
              <a:t>epa</a:t>
            </a:r>
            <a:r>
              <a:rPr lang="en-US" sz="2799" dirty="0">
                <a:solidFill>
                  <a:srgbClr val="112C16"/>
                </a:solidFill>
                <a:latin typeface="Glacial Indifference"/>
                <a:ea typeface="Glacial Indifference"/>
                <a:cs typeface="Glacial Indifference"/>
                <a:sym typeface="Glacial Indifference"/>
              </a:rPr>
              <a:t>-index| </a:t>
            </a:r>
            <a:r>
              <a:rPr lang="en-US" sz="2799" dirty="0" err="1">
                <a:solidFill>
                  <a:srgbClr val="112C16"/>
                </a:solidFill>
                <a:latin typeface="Glacial Indifference"/>
                <a:ea typeface="Glacial Indifference"/>
                <a:cs typeface="Glacial Indifference"/>
                <a:sym typeface="Glacial Indifference"/>
              </a:rPr>
              <a:t>air_quality_gb-defra-indexs</a:t>
            </a:r>
            <a:r>
              <a:rPr lang="en-US" sz="2799" dirty="0">
                <a:solidFill>
                  <a:srgbClr val="112C16"/>
                </a:solidFill>
                <a:latin typeface="Glacial Indifference"/>
                <a:ea typeface="Glacial Indifference"/>
                <a:cs typeface="Glacial Indifference"/>
                <a:sym typeface="Glacial Indifference"/>
              </a:rPr>
              <a:t>| </a:t>
            </a:r>
            <a:r>
              <a:rPr lang="en-US" sz="2799" dirty="0" err="1">
                <a:solidFill>
                  <a:srgbClr val="112C16"/>
                </a:solidFill>
                <a:latin typeface="Glacial Indifference"/>
                <a:ea typeface="Glacial Indifference"/>
                <a:cs typeface="Glacial Indifference"/>
                <a:sym typeface="Glacial Indifference"/>
              </a:rPr>
              <a:t>unrise</a:t>
            </a:r>
            <a:r>
              <a:rPr lang="en-US" sz="2799" dirty="0">
                <a:solidFill>
                  <a:srgbClr val="112C16"/>
                </a:solidFill>
                <a:latin typeface="Glacial Indifference"/>
                <a:ea typeface="Glacial Indifference"/>
                <a:cs typeface="Glacial Indifference"/>
                <a:sym typeface="Glacial Indifference"/>
              </a:rPr>
              <a:t>| sunset</a:t>
            </a:r>
            <a:br>
              <a:rPr lang="en-US" sz="2799" dirty="0">
                <a:solidFill>
                  <a:srgbClr val="112C16"/>
                </a:solidFill>
                <a:latin typeface="Glacial Indifference"/>
                <a:ea typeface="Glacial Indifference"/>
                <a:cs typeface="Glacial Indifference"/>
                <a:sym typeface="Glacial Indifference"/>
              </a:rPr>
            </a:br>
            <a:r>
              <a:rPr lang="en-US" sz="2799" dirty="0">
                <a:solidFill>
                  <a:srgbClr val="112C16"/>
                </a:solidFill>
                <a:latin typeface="Glacial Indifference"/>
                <a:ea typeface="Glacial Indifference"/>
                <a:cs typeface="Glacial Indifference"/>
                <a:sym typeface="Glacial Indifference"/>
              </a:rPr>
              <a:t> moonrise | moonset | </a:t>
            </a:r>
            <a:r>
              <a:rPr lang="en-US" sz="2799" dirty="0" err="1">
                <a:solidFill>
                  <a:srgbClr val="112C16"/>
                </a:solidFill>
                <a:latin typeface="Glacial Indifference"/>
                <a:ea typeface="Glacial Indifference"/>
                <a:cs typeface="Glacial Indifference"/>
                <a:sym typeface="Glacial Indifference"/>
              </a:rPr>
              <a:t>moon_phase</a:t>
            </a:r>
            <a:endParaRPr lang="en-US" sz="2799" dirty="0">
              <a:solidFill>
                <a:srgbClr val="112C16"/>
              </a:solidFill>
              <a:latin typeface="Glacial Indifference"/>
              <a:ea typeface="Glacial Indifference"/>
              <a:cs typeface="Glacial Indifference"/>
              <a:sym typeface="Glacial Indifferenc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824527" y="2732168"/>
            <a:ext cx="1489461" cy="1695318"/>
          </a:xfrm>
          <a:custGeom>
            <a:avLst/>
            <a:gdLst/>
            <a:ahLst/>
            <a:cxnLst/>
            <a:rect l="l" t="t" r="r" b="b"/>
            <a:pathLst>
              <a:path w="1489461" h="1695318">
                <a:moveTo>
                  <a:pt x="0" y="0"/>
                </a:moveTo>
                <a:lnTo>
                  <a:pt x="1489461" y="0"/>
                </a:lnTo>
                <a:lnTo>
                  <a:pt x="1489461" y="1695318"/>
                </a:lnTo>
                <a:lnTo>
                  <a:pt x="0" y="1695318"/>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4233369" y="2732168"/>
            <a:ext cx="12273759" cy="1628643"/>
            <a:chOff x="0" y="0"/>
            <a:chExt cx="3232595" cy="428943"/>
          </a:xfrm>
        </p:grpSpPr>
        <p:sp>
          <p:nvSpPr>
            <p:cNvPr id="7" name="Freeform 7"/>
            <p:cNvSpPr/>
            <p:nvPr/>
          </p:nvSpPr>
          <p:spPr>
            <a:xfrm>
              <a:off x="0" y="0"/>
              <a:ext cx="3232595" cy="428943"/>
            </a:xfrm>
            <a:custGeom>
              <a:avLst/>
              <a:gdLst/>
              <a:ahLst/>
              <a:cxnLst/>
              <a:rect l="l" t="t" r="r" b="b"/>
              <a:pathLst>
                <a:path w="3232595" h="428943">
                  <a:moveTo>
                    <a:pt x="20815" y="0"/>
                  </a:moveTo>
                  <a:lnTo>
                    <a:pt x="3211780" y="0"/>
                  </a:lnTo>
                  <a:cubicBezTo>
                    <a:pt x="3223276" y="0"/>
                    <a:pt x="3232595" y="9319"/>
                    <a:pt x="3232595" y="20815"/>
                  </a:cubicBezTo>
                  <a:lnTo>
                    <a:pt x="3232595" y="408128"/>
                  </a:lnTo>
                  <a:cubicBezTo>
                    <a:pt x="3232595" y="413648"/>
                    <a:pt x="3230402" y="418943"/>
                    <a:pt x="3226498" y="422846"/>
                  </a:cubicBezTo>
                  <a:cubicBezTo>
                    <a:pt x="3222595" y="426750"/>
                    <a:pt x="3217300" y="428943"/>
                    <a:pt x="3211780" y="428943"/>
                  </a:cubicBezTo>
                  <a:lnTo>
                    <a:pt x="20815" y="428943"/>
                  </a:lnTo>
                  <a:cubicBezTo>
                    <a:pt x="9319" y="428943"/>
                    <a:pt x="0" y="419624"/>
                    <a:pt x="0" y="408128"/>
                  </a:cubicBezTo>
                  <a:lnTo>
                    <a:pt x="0" y="20815"/>
                  </a:lnTo>
                  <a:cubicBezTo>
                    <a:pt x="0" y="9319"/>
                    <a:pt x="9319" y="0"/>
                    <a:pt x="20815" y="0"/>
                  </a:cubicBezTo>
                  <a:close/>
                </a:path>
              </a:pathLst>
            </a:custGeom>
            <a:ln w="38100" cap="rnd">
              <a:solidFill>
                <a:srgbClr val="000000"/>
              </a:solidFill>
              <a:prstDash val="solid"/>
              <a:round/>
            </a:ln>
          </p:spPr>
        </p:sp>
        <p:sp>
          <p:nvSpPr>
            <p:cNvPr id="8" name="TextBox 8"/>
            <p:cNvSpPr txBox="1"/>
            <p:nvPr/>
          </p:nvSpPr>
          <p:spPr>
            <a:xfrm>
              <a:off x="0" y="-38100"/>
              <a:ext cx="3232595" cy="467043"/>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1663643" y="4913261"/>
            <a:ext cx="1811229" cy="1518139"/>
          </a:xfrm>
          <a:custGeom>
            <a:avLst/>
            <a:gdLst/>
            <a:ahLst/>
            <a:cxnLst/>
            <a:rect l="l" t="t" r="r" b="b"/>
            <a:pathLst>
              <a:path w="1811229" h="1518139">
                <a:moveTo>
                  <a:pt x="0" y="0"/>
                </a:moveTo>
                <a:lnTo>
                  <a:pt x="1811229" y="0"/>
                </a:lnTo>
                <a:lnTo>
                  <a:pt x="1811229" y="1518139"/>
                </a:lnTo>
                <a:lnTo>
                  <a:pt x="0" y="1518139"/>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a:off x="4233369" y="4698702"/>
            <a:ext cx="12273759" cy="2016688"/>
            <a:chOff x="0" y="0"/>
            <a:chExt cx="3232595" cy="531144"/>
          </a:xfrm>
        </p:grpSpPr>
        <p:sp>
          <p:nvSpPr>
            <p:cNvPr id="11" name="Freeform 11"/>
            <p:cNvSpPr/>
            <p:nvPr/>
          </p:nvSpPr>
          <p:spPr>
            <a:xfrm>
              <a:off x="0" y="0"/>
              <a:ext cx="3232595" cy="531144"/>
            </a:xfrm>
            <a:custGeom>
              <a:avLst/>
              <a:gdLst/>
              <a:ahLst/>
              <a:cxnLst/>
              <a:rect l="l" t="t" r="r" b="b"/>
              <a:pathLst>
                <a:path w="3232595" h="531144">
                  <a:moveTo>
                    <a:pt x="20815" y="0"/>
                  </a:moveTo>
                  <a:lnTo>
                    <a:pt x="3211780" y="0"/>
                  </a:lnTo>
                  <a:cubicBezTo>
                    <a:pt x="3223276" y="0"/>
                    <a:pt x="3232595" y="9319"/>
                    <a:pt x="3232595" y="20815"/>
                  </a:cubicBezTo>
                  <a:lnTo>
                    <a:pt x="3232595" y="510329"/>
                  </a:lnTo>
                  <a:cubicBezTo>
                    <a:pt x="3232595" y="515849"/>
                    <a:pt x="3230402" y="521144"/>
                    <a:pt x="3226498" y="525048"/>
                  </a:cubicBezTo>
                  <a:cubicBezTo>
                    <a:pt x="3222595" y="528951"/>
                    <a:pt x="3217300" y="531144"/>
                    <a:pt x="3211780" y="531144"/>
                  </a:cubicBezTo>
                  <a:lnTo>
                    <a:pt x="20815" y="531144"/>
                  </a:lnTo>
                  <a:cubicBezTo>
                    <a:pt x="9319" y="531144"/>
                    <a:pt x="0" y="521825"/>
                    <a:pt x="0" y="510329"/>
                  </a:cubicBezTo>
                  <a:lnTo>
                    <a:pt x="0" y="20815"/>
                  </a:lnTo>
                  <a:cubicBezTo>
                    <a:pt x="0" y="9319"/>
                    <a:pt x="9319" y="0"/>
                    <a:pt x="20815" y="0"/>
                  </a:cubicBezTo>
                  <a:close/>
                </a:path>
              </a:pathLst>
            </a:custGeom>
            <a:ln w="38100" cap="rnd">
              <a:solidFill>
                <a:srgbClr val="000000"/>
              </a:solidFill>
              <a:prstDash val="solid"/>
              <a:round/>
            </a:ln>
          </p:spPr>
        </p:sp>
        <p:sp>
          <p:nvSpPr>
            <p:cNvPr id="12" name="TextBox 12"/>
            <p:cNvSpPr txBox="1"/>
            <p:nvPr/>
          </p:nvSpPr>
          <p:spPr>
            <a:xfrm>
              <a:off x="0" y="-38100"/>
              <a:ext cx="3232595" cy="569244"/>
            </a:xfrm>
            <a:prstGeom prst="rect">
              <a:avLst/>
            </a:prstGeom>
          </p:spPr>
          <p:txBody>
            <a:bodyPr lIns="50800" tIns="50800" rIns="50800" bIns="50800" rtlCol="0" anchor="ctr"/>
            <a:lstStyle/>
            <a:p>
              <a:pPr algn="ctr">
                <a:lnSpc>
                  <a:spcPts val="2659"/>
                </a:lnSpc>
              </a:pPr>
              <a:endParaRPr/>
            </a:p>
          </p:txBody>
        </p:sp>
      </p:grpSp>
      <p:sp>
        <p:nvSpPr>
          <p:cNvPr id="13" name="Freeform 13"/>
          <p:cNvSpPr/>
          <p:nvPr/>
        </p:nvSpPr>
        <p:spPr>
          <a:xfrm>
            <a:off x="1663643" y="7296881"/>
            <a:ext cx="1607237" cy="1760917"/>
          </a:xfrm>
          <a:custGeom>
            <a:avLst/>
            <a:gdLst/>
            <a:ahLst/>
            <a:cxnLst/>
            <a:rect l="l" t="t" r="r" b="b"/>
            <a:pathLst>
              <a:path w="1607237" h="1760917">
                <a:moveTo>
                  <a:pt x="0" y="0"/>
                </a:moveTo>
                <a:lnTo>
                  <a:pt x="1607237" y="0"/>
                </a:lnTo>
                <a:lnTo>
                  <a:pt x="1607237" y="1760916"/>
                </a:lnTo>
                <a:lnTo>
                  <a:pt x="0" y="1760916"/>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14" name="Group 14"/>
          <p:cNvGrpSpPr/>
          <p:nvPr/>
        </p:nvGrpSpPr>
        <p:grpSpPr>
          <a:xfrm>
            <a:off x="4233369" y="7053281"/>
            <a:ext cx="12273759" cy="2978869"/>
            <a:chOff x="0" y="0"/>
            <a:chExt cx="3232595" cy="784558"/>
          </a:xfrm>
        </p:grpSpPr>
        <p:sp>
          <p:nvSpPr>
            <p:cNvPr id="15" name="Freeform 15"/>
            <p:cNvSpPr/>
            <p:nvPr/>
          </p:nvSpPr>
          <p:spPr>
            <a:xfrm>
              <a:off x="0" y="0"/>
              <a:ext cx="3232595" cy="784558"/>
            </a:xfrm>
            <a:custGeom>
              <a:avLst/>
              <a:gdLst/>
              <a:ahLst/>
              <a:cxnLst/>
              <a:rect l="l" t="t" r="r" b="b"/>
              <a:pathLst>
                <a:path w="3232595" h="784558">
                  <a:moveTo>
                    <a:pt x="20815" y="0"/>
                  </a:moveTo>
                  <a:lnTo>
                    <a:pt x="3211780" y="0"/>
                  </a:lnTo>
                  <a:cubicBezTo>
                    <a:pt x="3223276" y="0"/>
                    <a:pt x="3232595" y="9319"/>
                    <a:pt x="3232595" y="20815"/>
                  </a:cubicBezTo>
                  <a:lnTo>
                    <a:pt x="3232595" y="763743"/>
                  </a:lnTo>
                  <a:cubicBezTo>
                    <a:pt x="3232595" y="775239"/>
                    <a:pt x="3223276" y="784558"/>
                    <a:pt x="3211780" y="784558"/>
                  </a:cubicBezTo>
                  <a:lnTo>
                    <a:pt x="20815" y="784558"/>
                  </a:lnTo>
                  <a:cubicBezTo>
                    <a:pt x="9319" y="784558"/>
                    <a:pt x="0" y="775239"/>
                    <a:pt x="0" y="763743"/>
                  </a:cubicBezTo>
                  <a:lnTo>
                    <a:pt x="0" y="20815"/>
                  </a:lnTo>
                  <a:cubicBezTo>
                    <a:pt x="0" y="9319"/>
                    <a:pt x="9319" y="0"/>
                    <a:pt x="20815" y="0"/>
                  </a:cubicBezTo>
                  <a:close/>
                </a:path>
              </a:pathLst>
            </a:custGeom>
            <a:ln w="38100" cap="rnd">
              <a:solidFill>
                <a:srgbClr val="000000"/>
              </a:solidFill>
              <a:prstDash val="solid"/>
              <a:round/>
            </a:ln>
          </p:spPr>
        </p:sp>
        <p:sp>
          <p:nvSpPr>
            <p:cNvPr id="16" name="TextBox 16"/>
            <p:cNvSpPr txBox="1"/>
            <p:nvPr/>
          </p:nvSpPr>
          <p:spPr>
            <a:xfrm>
              <a:off x="0" y="-38100"/>
              <a:ext cx="3232595" cy="822658"/>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206057" y="9057797"/>
            <a:ext cx="1296702" cy="1229203"/>
          </a:xfrm>
          <a:custGeom>
            <a:avLst/>
            <a:gdLst/>
            <a:ahLst/>
            <a:cxnLst/>
            <a:rect l="l" t="t" r="r" b="b"/>
            <a:pathLst>
              <a:path w="1296702" h="1229203">
                <a:moveTo>
                  <a:pt x="0" y="0"/>
                </a:moveTo>
                <a:lnTo>
                  <a:pt x="1296702" y="0"/>
                </a:lnTo>
                <a:lnTo>
                  <a:pt x="1296702" y="1229203"/>
                </a:lnTo>
                <a:lnTo>
                  <a:pt x="0" y="1229203"/>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8" name="TextBox 18"/>
          <p:cNvSpPr txBox="1"/>
          <p:nvPr/>
        </p:nvSpPr>
        <p:spPr>
          <a:xfrm>
            <a:off x="1502759" y="1027430"/>
            <a:ext cx="12688898" cy="1094740"/>
          </a:xfrm>
          <a:prstGeom prst="rect">
            <a:avLst/>
          </a:prstGeom>
        </p:spPr>
        <p:txBody>
          <a:bodyPr lIns="0" tIns="0" rIns="0" bIns="0" rtlCol="0" anchor="t">
            <a:spAutoFit/>
          </a:bodyPr>
          <a:lstStyle/>
          <a:p>
            <a:pPr algn="l">
              <a:lnSpc>
                <a:spcPts val="8959"/>
              </a:lnSpc>
              <a:spcBef>
                <a:spcPct val="0"/>
              </a:spcBef>
            </a:pPr>
            <a:r>
              <a:rPr lang="en-US" sz="6399" dirty="0">
                <a:solidFill>
                  <a:srgbClr val="F1F0E7"/>
                </a:solidFill>
                <a:latin typeface="Anton"/>
                <a:ea typeface="Anton"/>
                <a:cs typeface="Anton"/>
                <a:sym typeface="Anton"/>
              </a:rPr>
              <a:t>Data Cleaning &amp; Preprocessing</a:t>
            </a:r>
          </a:p>
        </p:txBody>
      </p:sp>
      <p:sp>
        <p:nvSpPr>
          <p:cNvPr id="19" name="TextBox 19"/>
          <p:cNvSpPr txBox="1"/>
          <p:nvPr/>
        </p:nvSpPr>
        <p:spPr>
          <a:xfrm>
            <a:off x="4587332" y="2898483"/>
            <a:ext cx="10904164" cy="1115812"/>
          </a:xfrm>
          <a:prstGeom prst="rect">
            <a:avLst/>
          </a:prstGeom>
        </p:spPr>
        <p:txBody>
          <a:bodyPr lIns="0" tIns="0" rIns="0" bIns="0" rtlCol="0" anchor="t">
            <a:spAutoFit/>
          </a:bodyPr>
          <a:lstStyle/>
          <a:p>
            <a:pPr algn="ctr">
              <a:lnSpc>
                <a:spcPts val="4462"/>
              </a:lnSpc>
              <a:spcBef>
                <a:spcPct val="0"/>
              </a:spcBef>
            </a:pPr>
            <a:r>
              <a:rPr lang="en-US" sz="3187">
                <a:solidFill>
                  <a:srgbClr val="112C16"/>
                </a:solidFill>
                <a:latin typeface="Glacial Indifference"/>
                <a:ea typeface="Glacial Indifference"/>
                <a:cs typeface="Glacial Indifference"/>
                <a:sym typeface="Glacial Indifference"/>
              </a:rPr>
              <a:t>Loaded and cleaned pollution and weather datasets. Standardized city names and converted date formats.</a:t>
            </a:r>
          </a:p>
        </p:txBody>
      </p:sp>
      <p:sp>
        <p:nvSpPr>
          <p:cNvPr id="20" name="TextBox 20"/>
          <p:cNvSpPr txBox="1"/>
          <p:nvPr/>
        </p:nvSpPr>
        <p:spPr>
          <a:xfrm>
            <a:off x="4529286" y="4817121"/>
            <a:ext cx="11583806" cy="1698655"/>
          </a:xfrm>
          <a:prstGeom prst="rect">
            <a:avLst/>
          </a:prstGeom>
        </p:spPr>
        <p:txBody>
          <a:bodyPr lIns="0" tIns="0" rIns="0" bIns="0" rtlCol="0" anchor="t">
            <a:spAutoFit/>
          </a:bodyPr>
          <a:lstStyle/>
          <a:p>
            <a:pPr algn="ctr">
              <a:lnSpc>
                <a:spcPts val="4548"/>
              </a:lnSpc>
              <a:spcBef>
                <a:spcPct val="0"/>
              </a:spcBef>
            </a:pPr>
            <a:r>
              <a:rPr lang="en-US" sz="3248" dirty="0">
                <a:solidFill>
                  <a:srgbClr val="112C16"/>
                </a:solidFill>
                <a:latin typeface="Glacial Indifference"/>
                <a:ea typeface="Glacial Indifference"/>
                <a:cs typeface="Glacial Indifference"/>
                <a:sym typeface="Glacial Indifference"/>
              </a:rPr>
              <a:t>Aggregated pollution data to a monthly city level, enriching it with static weather features (latitude, longitude, temperature, humidity, wind speed) to create </a:t>
            </a:r>
            <a:r>
              <a:rPr lang="en-US" sz="3248" dirty="0" err="1">
                <a:solidFill>
                  <a:srgbClr val="112C16"/>
                </a:solidFill>
                <a:latin typeface="Glacial Indifference"/>
                <a:ea typeface="Glacial Indifference"/>
                <a:cs typeface="Glacial Indifference"/>
                <a:sym typeface="Glacial Indifference"/>
              </a:rPr>
              <a:t>gdf</a:t>
            </a:r>
            <a:r>
              <a:rPr lang="en-US" sz="3248" dirty="0">
                <a:solidFill>
                  <a:srgbClr val="112C16"/>
                </a:solidFill>
                <a:latin typeface="Glacial Indifference"/>
                <a:ea typeface="Glacial Indifference"/>
                <a:cs typeface="Glacial Indifference"/>
                <a:sym typeface="Glacial Indifference"/>
              </a:rPr>
              <a:t> </a:t>
            </a:r>
            <a:r>
              <a:rPr lang="en-US" sz="3248" b="1" dirty="0">
                <a:solidFill>
                  <a:srgbClr val="112C16"/>
                </a:solidFill>
                <a:latin typeface="Glacial Indifference Bold"/>
                <a:ea typeface="Glacial Indifference Bold"/>
                <a:cs typeface="Glacial Indifference Bold"/>
                <a:sym typeface="Glacial Indifference Bold"/>
              </a:rPr>
              <a:t>(</a:t>
            </a:r>
            <a:r>
              <a:rPr lang="en-US" sz="3248" b="1" dirty="0" err="1">
                <a:solidFill>
                  <a:srgbClr val="112C16"/>
                </a:solidFill>
                <a:latin typeface="Glacial Indifference Bold"/>
                <a:ea typeface="Glacial Indifference Bold"/>
                <a:cs typeface="Glacial Indifference Bold"/>
                <a:sym typeface="Glacial Indifference Bold"/>
              </a:rPr>
              <a:t>GeoDataFrame</a:t>
            </a:r>
            <a:r>
              <a:rPr lang="en-US" sz="3248" b="1" dirty="0">
                <a:solidFill>
                  <a:srgbClr val="112C16"/>
                </a:solidFill>
                <a:latin typeface="Glacial Indifference Bold"/>
                <a:ea typeface="Glacial Indifference Bold"/>
                <a:cs typeface="Glacial Indifference Bold"/>
                <a:sym typeface="Glacial Indifference Bold"/>
              </a:rPr>
              <a:t>).</a:t>
            </a:r>
          </a:p>
        </p:txBody>
      </p:sp>
      <p:sp>
        <p:nvSpPr>
          <p:cNvPr id="21" name="Freeform 21"/>
          <p:cNvSpPr/>
          <p:nvPr/>
        </p:nvSpPr>
        <p:spPr>
          <a:xfrm>
            <a:off x="5526591" y="7160432"/>
            <a:ext cx="8665066" cy="2764568"/>
          </a:xfrm>
          <a:custGeom>
            <a:avLst/>
            <a:gdLst/>
            <a:ahLst/>
            <a:cxnLst/>
            <a:rect l="l" t="t" r="r" b="b"/>
            <a:pathLst>
              <a:path w="8665066" h="2764568">
                <a:moveTo>
                  <a:pt x="0" y="0"/>
                </a:moveTo>
                <a:lnTo>
                  <a:pt x="8665066" y="0"/>
                </a:lnTo>
                <a:lnTo>
                  <a:pt x="8665066" y="2764568"/>
                </a:lnTo>
                <a:lnTo>
                  <a:pt x="0" y="2764568"/>
                </a:lnTo>
                <a:lnTo>
                  <a:pt x="0" y="0"/>
                </a:lnTo>
                <a:close/>
              </a:path>
            </a:pathLst>
          </a:custGeom>
          <a:blipFill>
            <a:blip r:embed="rId6"/>
            <a:stretch>
              <a:fillRect b="-19888"/>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6778301" y="8780799"/>
            <a:ext cx="961998" cy="1013600"/>
          </a:xfrm>
          <a:custGeom>
            <a:avLst/>
            <a:gdLst/>
            <a:ahLst/>
            <a:cxnLst/>
            <a:rect l="l" t="t" r="r" b="b"/>
            <a:pathLst>
              <a:path w="961998" h="1013600">
                <a:moveTo>
                  <a:pt x="0" y="0"/>
                </a:moveTo>
                <a:lnTo>
                  <a:pt x="961998" y="0"/>
                </a:lnTo>
                <a:lnTo>
                  <a:pt x="961998" y="1013600"/>
                </a:lnTo>
                <a:lnTo>
                  <a:pt x="0" y="10136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16778301" y="3072072"/>
            <a:ext cx="961998" cy="953253"/>
          </a:xfrm>
          <a:custGeom>
            <a:avLst/>
            <a:gdLst/>
            <a:ahLst/>
            <a:cxnLst/>
            <a:rect l="l" t="t" r="r" b="b"/>
            <a:pathLst>
              <a:path w="961998" h="953253">
                <a:moveTo>
                  <a:pt x="0" y="0"/>
                </a:moveTo>
                <a:lnTo>
                  <a:pt x="961998" y="0"/>
                </a:lnTo>
                <a:lnTo>
                  <a:pt x="961998" y="953253"/>
                </a:lnTo>
                <a:lnTo>
                  <a:pt x="0" y="95325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14909014" y="8839397"/>
            <a:ext cx="961998" cy="955002"/>
          </a:xfrm>
          <a:custGeom>
            <a:avLst/>
            <a:gdLst/>
            <a:ahLst/>
            <a:cxnLst/>
            <a:rect l="l" t="t" r="r" b="b"/>
            <a:pathLst>
              <a:path w="961998" h="955002">
                <a:moveTo>
                  <a:pt x="0" y="0"/>
                </a:moveTo>
                <a:lnTo>
                  <a:pt x="961998" y="0"/>
                </a:lnTo>
                <a:lnTo>
                  <a:pt x="961998" y="955002"/>
                </a:lnTo>
                <a:lnTo>
                  <a:pt x="0" y="95500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1502759" y="1027430"/>
            <a:ext cx="12688898" cy="1094715"/>
          </a:xfrm>
          <a:prstGeom prst="rect">
            <a:avLst/>
          </a:prstGeom>
        </p:spPr>
        <p:txBody>
          <a:bodyPr lIns="0" tIns="0" rIns="0" bIns="0" rtlCol="0" anchor="t">
            <a:spAutoFit/>
          </a:bodyPr>
          <a:lstStyle/>
          <a:p>
            <a:pPr algn="l">
              <a:lnSpc>
                <a:spcPts val="8959"/>
              </a:lnSpc>
              <a:spcBef>
                <a:spcPct val="0"/>
              </a:spcBef>
            </a:pPr>
            <a:r>
              <a:rPr lang="en-US" sz="6399">
                <a:solidFill>
                  <a:srgbClr val="F1F0E7"/>
                </a:solidFill>
                <a:latin typeface="Anton"/>
                <a:ea typeface="Anton"/>
                <a:cs typeface="Anton"/>
                <a:sym typeface="Anton"/>
              </a:rPr>
              <a:t>Exploratory Data Analysis (EDA)</a:t>
            </a:r>
          </a:p>
        </p:txBody>
      </p:sp>
      <p:sp>
        <p:nvSpPr>
          <p:cNvPr id="9" name="TextBox 9"/>
          <p:cNvSpPr txBox="1"/>
          <p:nvPr/>
        </p:nvSpPr>
        <p:spPr>
          <a:xfrm>
            <a:off x="1028700" y="2727668"/>
            <a:ext cx="5523741" cy="821030"/>
          </a:xfrm>
          <a:prstGeom prst="rect">
            <a:avLst/>
          </a:prstGeom>
        </p:spPr>
        <p:txBody>
          <a:bodyPr lIns="0" tIns="0" rIns="0" bIns="0" rtlCol="0" anchor="t">
            <a:spAutoFit/>
          </a:bodyPr>
          <a:lstStyle/>
          <a:p>
            <a:pPr algn="l">
              <a:lnSpc>
                <a:spcPts val="6719"/>
              </a:lnSpc>
              <a:spcBef>
                <a:spcPct val="0"/>
              </a:spcBef>
            </a:pPr>
            <a:r>
              <a:rPr lang="en-US" sz="4800" b="1">
                <a:solidFill>
                  <a:srgbClr val="112C16"/>
                </a:solidFill>
                <a:latin typeface="Glacial Indifference Bold"/>
                <a:ea typeface="Glacial Indifference Bold"/>
                <a:cs typeface="Glacial Indifference Bold"/>
                <a:sym typeface="Glacial Indifference Bold"/>
              </a:rPr>
              <a:t>Key Steps:</a:t>
            </a:r>
          </a:p>
        </p:txBody>
      </p:sp>
      <p:sp>
        <p:nvSpPr>
          <p:cNvPr id="10" name="TextBox 10"/>
          <p:cNvSpPr txBox="1"/>
          <p:nvPr/>
        </p:nvSpPr>
        <p:spPr>
          <a:xfrm>
            <a:off x="579450" y="3307131"/>
            <a:ext cx="16679850" cy="4868789"/>
          </a:xfrm>
          <a:prstGeom prst="rect">
            <a:avLst/>
          </a:prstGeom>
        </p:spPr>
        <p:txBody>
          <a:bodyPr lIns="0" tIns="0" rIns="0" bIns="0" rtlCol="0" anchor="t">
            <a:spAutoFit/>
          </a:bodyPr>
          <a:lstStyle/>
          <a:p>
            <a:pPr algn="just">
              <a:lnSpc>
                <a:spcPts val="4828"/>
              </a:lnSpc>
            </a:pPr>
            <a:endParaRPr dirty="0"/>
          </a:p>
          <a:p>
            <a:pPr marL="744579" lvl="1" indent="-372289" algn="just">
              <a:lnSpc>
                <a:spcPts val="4828"/>
              </a:lnSpc>
              <a:buFont typeface="Arial"/>
              <a:buChar char="•"/>
            </a:pPr>
            <a:r>
              <a:rPr lang="en-US" sz="3448" dirty="0">
                <a:solidFill>
                  <a:srgbClr val="112C16"/>
                </a:solidFill>
                <a:latin typeface="Glacial Indifference"/>
                <a:ea typeface="Glacial Indifference"/>
                <a:cs typeface="Glacial Indifference"/>
                <a:sym typeface="Glacial Indifference"/>
              </a:rPr>
              <a:t>Generated summary statistics, city-wise statistics (mean, std, min, max for pm25, </a:t>
            </a:r>
            <a:r>
              <a:rPr lang="en-US" sz="3448" dirty="0" err="1">
                <a:solidFill>
                  <a:srgbClr val="112C16"/>
                </a:solidFill>
                <a:latin typeface="Glacial Indifference"/>
                <a:ea typeface="Glacial Indifference"/>
                <a:cs typeface="Glacial Indifference"/>
                <a:sym typeface="Glacial Indifference"/>
              </a:rPr>
              <a:t>aqi</a:t>
            </a:r>
            <a:r>
              <a:rPr lang="en-US" sz="3448" dirty="0">
                <a:solidFill>
                  <a:srgbClr val="112C16"/>
                </a:solidFill>
                <a:latin typeface="Glacial Indifference"/>
                <a:ea typeface="Glacial Indifference"/>
                <a:cs typeface="Glacial Indifference"/>
                <a:sym typeface="Glacial Indifference"/>
              </a:rPr>
              <a:t>), skewness, and kurtosis to understand data distribution.</a:t>
            </a:r>
          </a:p>
          <a:p>
            <a:pPr algn="just">
              <a:lnSpc>
                <a:spcPts val="4828"/>
              </a:lnSpc>
            </a:pPr>
            <a:endParaRPr lang="en-US" sz="3448" dirty="0">
              <a:solidFill>
                <a:srgbClr val="112C16"/>
              </a:solidFill>
              <a:latin typeface="Glacial Indifference"/>
              <a:ea typeface="Glacial Indifference"/>
              <a:cs typeface="Glacial Indifference"/>
              <a:sym typeface="Glacial Indifference"/>
            </a:endParaRPr>
          </a:p>
          <a:p>
            <a:pPr marL="744579" lvl="1" indent="-372289" algn="just">
              <a:lnSpc>
                <a:spcPts val="4828"/>
              </a:lnSpc>
              <a:buFont typeface="Arial"/>
              <a:buChar char="•"/>
            </a:pPr>
            <a:r>
              <a:rPr lang="en-US" sz="3448" dirty="0">
                <a:solidFill>
                  <a:srgbClr val="112C16"/>
                </a:solidFill>
                <a:latin typeface="Glacial Indifference"/>
                <a:ea typeface="Glacial Indifference"/>
                <a:cs typeface="Glacial Indifference"/>
                <a:sym typeface="Glacial Indifference"/>
              </a:rPr>
              <a:t>Visualized key aspects: AQI distribution (histogram), city-wise AQI distribution (boxplot), correlation between pm25 and </a:t>
            </a:r>
            <a:r>
              <a:rPr lang="en-US" sz="3448" dirty="0" err="1">
                <a:solidFill>
                  <a:srgbClr val="112C16"/>
                </a:solidFill>
                <a:latin typeface="Glacial Indifference"/>
                <a:ea typeface="Glacial Indifference"/>
                <a:cs typeface="Glacial Indifference"/>
                <a:sym typeface="Glacial Indifference"/>
              </a:rPr>
              <a:t>aqi</a:t>
            </a:r>
            <a:r>
              <a:rPr lang="en-US" sz="3448" dirty="0">
                <a:solidFill>
                  <a:srgbClr val="112C16"/>
                </a:solidFill>
                <a:latin typeface="Glacial Indifference"/>
                <a:ea typeface="Glacial Indifference"/>
                <a:cs typeface="Glacial Indifference"/>
                <a:sym typeface="Glacial Indifference"/>
              </a:rPr>
              <a:t> (heatmap), and overall AQI trend over time.</a:t>
            </a:r>
          </a:p>
          <a:p>
            <a:pPr algn="just">
              <a:lnSpc>
                <a:spcPts val="4828"/>
              </a:lnSpc>
            </a:pPr>
            <a:endParaRPr lang="en-US" sz="3448" dirty="0">
              <a:solidFill>
                <a:srgbClr val="112C16"/>
              </a:solidFill>
              <a:latin typeface="Glacial Indifference"/>
              <a:ea typeface="Glacial Indifference"/>
              <a:cs typeface="Glacial Indifference"/>
              <a:sym typeface="Glacial Indifferenc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9360770" y="2582433"/>
            <a:ext cx="6793630" cy="3780267"/>
          </a:xfrm>
          <a:custGeom>
            <a:avLst/>
            <a:gdLst/>
            <a:ahLst/>
            <a:cxnLst/>
            <a:rect l="l" t="t" r="r" b="b"/>
            <a:pathLst>
              <a:path w="9087860" h="5759792">
                <a:moveTo>
                  <a:pt x="0" y="0"/>
                </a:moveTo>
                <a:lnTo>
                  <a:pt x="9087860" y="0"/>
                </a:lnTo>
                <a:lnTo>
                  <a:pt x="9087860" y="5759793"/>
                </a:lnTo>
                <a:lnTo>
                  <a:pt x="0" y="5759793"/>
                </a:lnTo>
                <a:lnTo>
                  <a:pt x="0" y="0"/>
                </a:lnTo>
                <a:close/>
              </a:path>
            </a:pathLst>
          </a:custGeom>
          <a:blipFill>
            <a:blip r:embed="rId2"/>
            <a:stretch>
              <a:fillRect l="-601"/>
            </a:stretch>
          </a:blipFill>
        </p:spPr>
      </p:sp>
      <p:sp>
        <p:nvSpPr>
          <p:cNvPr id="6" name="Freeform 6"/>
          <p:cNvSpPr/>
          <p:nvPr/>
        </p:nvSpPr>
        <p:spPr>
          <a:xfrm>
            <a:off x="3021731" y="2582433"/>
            <a:ext cx="5905500" cy="3935755"/>
          </a:xfrm>
          <a:custGeom>
            <a:avLst/>
            <a:gdLst/>
            <a:ahLst/>
            <a:cxnLst/>
            <a:rect l="l" t="t" r="r" b="b"/>
            <a:pathLst>
              <a:path w="7174524" h="4232969">
                <a:moveTo>
                  <a:pt x="0" y="0"/>
                </a:moveTo>
                <a:lnTo>
                  <a:pt x="7174524" y="0"/>
                </a:lnTo>
                <a:lnTo>
                  <a:pt x="7174524" y="4232970"/>
                </a:lnTo>
                <a:lnTo>
                  <a:pt x="0" y="4232970"/>
                </a:lnTo>
                <a:lnTo>
                  <a:pt x="0" y="0"/>
                </a:lnTo>
                <a:close/>
              </a:path>
            </a:pathLst>
          </a:custGeom>
          <a:blipFill>
            <a:blip r:embed="rId3"/>
            <a:stretch>
              <a:fillRect/>
            </a:stretch>
          </a:blipFill>
        </p:spPr>
      </p:sp>
      <p:sp>
        <p:nvSpPr>
          <p:cNvPr id="7" name="TextBox 7"/>
          <p:cNvSpPr txBox="1"/>
          <p:nvPr/>
        </p:nvSpPr>
        <p:spPr>
          <a:xfrm>
            <a:off x="1502759" y="1027430"/>
            <a:ext cx="12688898" cy="1094715"/>
          </a:xfrm>
          <a:prstGeom prst="rect">
            <a:avLst/>
          </a:prstGeom>
        </p:spPr>
        <p:txBody>
          <a:bodyPr lIns="0" tIns="0" rIns="0" bIns="0" rtlCol="0" anchor="t">
            <a:spAutoFit/>
          </a:bodyPr>
          <a:lstStyle/>
          <a:p>
            <a:pPr algn="l">
              <a:lnSpc>
                <a:spcPts val="8959"/>
              </a:lnSpc>
              <a:spcBef>
                <a:spcPct val="0"/>
              </a:spcBef>
            </a:pPr>
            <a:r>
              <a:rPr lang="en-US" sz="6399">
                <a:solidFill>
                  <a:srgbClr val="F1F0E7"/>
                </a:solidFill>
                <a:latin typeface="Anton"/>
                <a:ea typeface="Anton"/>
                <a:cs typeface="Anton"/>
                <a:sym typeface="Anton"/>
              </a:rPr>
              <a:t>Exploratory Data Analysis (EDA)</a:t>
            </a:r>
          </a:p>
        </p:txBody>
      </p:sp>
      <p:sp>
        <p:nvSpPr>
          <p:cNvPr id="8" name="Freeform 7"/>
          <p:cNvSpPr/>
          <p:nvPr/>
        </p:nvSpPr>
        <p:spPr>
          <a:xfrm>
            <a:off x="1209675" y="6667500"/>
            <a:ext cx="7898530" cy="3226356"/>
          </a:xfrm>
          <a:custGeom>
            <a:avLst/>
            <a:gdLst/>
            <a:ahLst/>
            <a:cxnLst/>
            <a:rect l="l" t="t" r="r" b="b"/>
            <a:pathLst>
              <a:path w="11301259" h="5664756">
                <a:moveTo>
                  <a:pt x="0" y="0"/>
                </a:moveTo>
                <a:lnTo>
                  <a:pt x="11301258" y="0"/>
                </a:lnTo>
                <a:lnTo>
                  <a:pt x="11301258" y="5664756"/>
                </a:lnTo>
                <a:lnTo>
                  <a:pt x="0" y="5664756"/>
                </a:lnTo>
                <a:lnTo>
                  <a:pt x="0" y="0"/>
                </a:lnTo>
                <a:close/>
              </a:path>
            </a:pathLst>
          </a:custGeom>
          <a:blipFill>
            <a:blip r:embed="rId4"/>
            <a:stretch>
              <a:fillRect/>
            </a:stretch>
          </a:blipFill>
        </p:spPr>
      </p:sp>
      <p:sp>
        <p:nvSpPr>
          <p:cNvPr id="9" name="Freeform 6"/>
          <p:cNvSpPr/>
          <p:nvPr/>
        </p:nvSpPr>
        <p:spPr>
          <a:xfrm>
            <a:off x="9394107" y="6700433"/>
            <a:ext cx="5591086" cy="3226356"/>
          </a:xfrm>
          <a:custGeom>
            <a:avLst/>
            <a:gdLst/>
            <a:ahLst/>
            <a:cxnLst/>
            <a:rect l="l" t="t" r="r" b="b"/>
            <a:pathLst>
              <a:path w="7124090" h="5630587">
                <a:moveTo>
                  <a:pt x="0" y="0"/>
                </a:moveTo>
                <a:lnTo>
                  <a:pt x="7124090" y="0"/>
                </a:lnTo>
                <a:lnTo>
                  <a:pt x="7124090" y="5630586"/>
                </a:lnTo>
                <a:lnTo>
                  <a:pt x="0" y="5630586"/>
                </a:lnTo>
                <a:lnTo>
                  <a:pt x="0" y="0"/>
                </a:lnTo>
                <a:close/>
              </a:path>
            </a:pathLst>
          </a:custGeom>
          <a:blipFill>
            <a:blip r:embed="rId5"/>
            <a:stretch>
              <a:fillRect l="-1168" t="-2265" r="-1335" b="-1941"/>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1502759" y="1027430"/>
            <a:ext cx="12688898" cy="1094715"/>
          </a:xfrm>
          <a:prstGeom prst="rect">
            <a:avLst/>
          </a:prstGeom>
        </p:spPr>
        <p:txBody>
          <a:bodyPr lIns="0" tIns="0" rIns="0" bIns="0" rtlCol="0" anchor="t">
            <a:spAutoFit/>
          </a:bodyPr>
          <a:lstStyle/>
          <a:p>
            <a:pPr algn="l">
              <a:lnSpc>
                <a:spcPts val="8959"/>
              </a:lnSpc>
              <a:spcBef>
                <a:spcPct val="0"/>
              </a:spcBef>
            </a:pPr>
            <a:r>
              <a:rPr lang="en-US" sz="6399">
                <a:solidFill>
                  <a:srgbClr val="F1F0E7"/>
                </a:solidFill>
                <a:latin typeface="Anton"/>
                <a:ea typeface="Anton"/>
                <a:cs typeface="Anton"/>
                <a:sym typeface="Anton"/>
              </a:rPr>
              <a:t>Exploratory Data Analysis (EDA)</a:t>
            </a:r>
          </a:p>
        </p:txBody>
      </p:sp>
      <p:sp>
        <p:nvSpPr>
          <p:cNvPr id="9" name="Freeform 2"/>
          <p:cNvSpPr/>
          <p:nvPr/>
        </p:nvSpPr>
        <p:spPr>
          <a:xfrm>
            <a:off x="2890398" y="3009901"/>
            <a:ext cx="11301259" cy="5486400"/>
          </a:xfrm>
          <a:custGeom>
            <a:avLst/>
            <a:gdLst/>
            <a:ahLst/>
            <a:cxnLst/>
            <a:rect l="l" t="t" r="r" b="b"/>
            <a:pathLst>
              <a:path w="11301259" h="5636503">
                <a:moveTo>
                  <a:pt x="0" y="0"/>
                </a:moveTo>
                <a:lnTo>
                  <a:pt x="11301258" y="0"/>
                </a:lnTo>
                <a:lnTo>
                  <a:pt x="11301258" y="5636502"/>
                </a:lnTo>
                <a:lnTo>
                  <a:pt x="0" y="5636502"/>
                </a:lnTo>
                <a:lnTo>
                  <a:pt x="0" y="0"/>
                </a:lnTo>
                <a:close/>
              </a:path>
            </a:pathLst>
          </a:custGeom>
          <a:blipFill>
            <a:blip r:embed="rId2"/>
            <a:stretch>
              <a:fillRect b="-2736"/>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143000" y="2388091"/>
            <a:ext cx="8001000" cy="2374409"/>
          </a:xfrm>
          <a:custGeom>
            <a:avLst/>
            <a:gdLst/>
            <a:ahLst/>
            <a:cxnLst/>
            <a:rect l="l" t="t" r="r" b="b"/>
            <a:pathLst>
              <a:path w="8628778" h="4519322">
                <a:moveTo>
                  <a:pt x="0" y="0"/>
                </a:moveTo>
                <a:lnTo>
                  <a:pt x="8628778" y="0"/>
                </a:lnTo>
                <a:lnTo>
                  <a:pt x="8628778" y="4519323"/>
                </a:lnTo>
                <a:lnTo>
                  <a:pt x="0" y="4519323"/>
                </a:lnTo>
                <a:lnTo>
                  <a:pt x="0" y="0"/>
                </a:lnTo>
                <a:close/>
              </a:path>
            </a:pathLst>
          </a:custGeom>
          <a:blipFill>
            <a:blip r:embed="rId2"/>
            <a:stretch>
              <a:fillRect/>
            </a:stretch>
          </a:blipFill>
        </p:spPr>
      </p:sp>
      <p:sp>
        <p:nvSpPr>
          <p:cNvPr id="6" name="Freeform 6"/>
          <p:cNvSpPr/>
          <p:nvPr/>
        </p:nvSpPr>
        <p:spPr>
          <a:xfrm>
            <a:off x="7315200" y="5143500"/>
            <a:ext cx="9672637" cy="3879489"/>
          </a:xfrm>
          <a:custGeom>
            <a:avLst/>
            <a:gdLst/>
            <a:ahLst/>
            <a:cxnLst/>
            <a:rect l="l" t="t" r="r" b="b"/>
            <a:pathLst>
              <a:path w="11301259" h="4887795">
                <a:moveTo>
                  <a:pt x="0" y="0"/>
                </a:moveTo>
                <a:lnTo>
                  <a:pt x="11301259" y="0"/>
                </a:lnTo>
                <a:lnTo>
                  <a:pt x="11301259" y="4887794"/>
                </a:lnTo>
                <a:lnTo>
                  <a:pt x="0" y="4887794"/>
                </a:lnTo>
                <a:lnTo>
                  <a:pt x="0" y="0"/>
                </a:lnTo>
                <a:close/>
              </a:path>
            </a:pathLst>
          </a:custGeom>
          <a:blipFill>
            <a:blip r:embed="rId3"/>
            <a:stretch>
              <a:fillRect/>
            </a:stretch>
          </a:blipFill>
        </p:spPr>
      </p:sp>
      <p:sp>
        <p:nvSpPr>
          <p:cNvPr id="7" name="TextBox 7"/>
          <p:cNvSpPr txBox="1"/>
          <p:nvPr/>
        </p:nvSpPr>
        <p:spPr>
          <a:xfrm>
            <a:off x="1502759" y="1027430"/>
            <a:ext cx="12688898" cy="1094715"/>
          </a:xfrm>
          <a:prstGeom prst="rect">
            <a:avLst/>
          </a:prstGeom>
        </p:spPr>
        <p:txBody>
          <a:bodyPr lIns="0" tIns="0" rIns="0" bIns="0" rtlCol="0" anchor="t">
            <a:spAutoFit/>
          </a:bodyPr>
          <a:lstStyle/>
          <a:p>
            <a:pPr algn="l">
              <a:lnSpc>
                <a:spcPts val="8959"/>
              </a:lnSpc>
              <a:spcBef>
                <a:spcPct val="0"/>
              </a:spcBef>
            </a:pPr>
            <a:r>
              <a:rPr lang="en-US" sz="6399">
                <a:solidFill>
                  <a:srgbClr val="F1F0E7"/>
                </a:solidFill>
                <a:latin typeface="Anton"/>
                <a:ea typeface="Anton"/>
                <a:cs typeface="Anton"/>
                <a:sym typeface="Anton"/>
              </a:rPr>
              <a:t>Exploratory Data Analysis (EDA)</a:t>
            </a:r>
          </a:p>
        </p:txBody>
      </p:sp>
      <p:graphicFrame>
        <p:nvGraphicFramePr>
          <p:cNvPr id="8" name="Object 5"/>
          <p:cNvGraphicFramePr/>
          <p:nvPr>
            <p:extLst>
              <p:ext uri="{D42A27DB-BD31-4B8C-83A1-F6EECF244321}">
                <p14:modId xmlns:p14="http://schemas.microsoft.com/office/powerpoint/2010/main" val="759979755"/>
              </p:ext>
            </p:extLst>
          </p:nvPr>
        </p:nvGraphicFramePr>
        <p:xfrm>
          <a:off x="1009650" y="4983712"/>
          <a:ext cx="7586157" cy="4274588"/>
        </p:xfrm>
        <a:graphic>
          <a:graphicData uri="http://schemas.openxmlformats.org/presentationml/2006/ole">
            <mc:AlternateContent xmlns:mc="http://schemas.openxmlformats.org/markup-compatibility/2006">
              <mc:Choice xmlns:v="urn:schemas-microsoft-com:vml" Requires="v">
                <p:oleObj name="Worksheet" r:id="rId4" imgW="9105900" imgH="5791200" progId="Excel.Sheet.12">
                  <p:embed/>
                </p:oleObj>
              </mc:Choice>
              <mc:Fallback>
                <p:oleObj name="Worksheet" r:id="rId4" imgW="9105900" imgH="5791200" progId="Excel.Sheet.12">
                  <p:embed/>
                  <p:pic>
                    <p:nvPicPr>
                      <p:cNvPr id="5" name="Object 5"/>
                      <p:cNvPicPr/>
                      <p:nvPr/>
                    </p:nvPicPr>
                    <p:blipFill>
                      <a:blip r:embed="rId5"/>
                      <a:stretch>
                        <a:fillRect/>
                      </a:stretch>
                    </p:blipFill>
                    <p:spPr>
                      <a:xfrm>
                        <a:off x="1009650" y="4983712"/>
                        <a:ext cx="7586157" cy="4274588"/>
                      </a:xfrm>
                      <a:prstGeom prst="rect">
                        <a:avLst/>
                      </a:prstGeom>
                    </p:spPr>
                  </p:pic>
                </p:oleObj>
              </mc:Fallback>
            </mc:AlternateContent>
          </a:graphicData>
        </a:graphic>
      </p:graphicFrame>
      <p:graphicFrame>
        <p:nvGraphicFramePr>
          <p:cNvPr id="9" name="Object 7"/>
          <p:cNvGraphicFramePr/>
          <p:nvPr>
            <p:extLst>
              <p:ext uri="{D42A27DB-BD31-4B8C-83A1-F6EECF244321}">
                <p14:modId xmlns:p14="http://schemas.microsoft.com/office/powerpoint/2010/main" val="2827136589"/>
              </p:ext>
            </p:extLst>
          </p:nvPr>
        </p:nvGraphicFramePr>
        <p:xfrm>
          <a:off x="10134600" y="2211388"/>
          <a:ext cx="10240963" cy="3932237"/>
        </p:xfrm>
        <a:graphic>
          <a:graphicData uri="http://schemas.openxmlformats.org/presentationml/2006/ole">
            <mc:AlternateContent xmlns:mc="http://schemas.openxmlformats.org/markup-compatibility/2006">
              <mc:Choice xmlns:v="urn:schemas-microsoft-com:vml" Requires="v">
                <p:oleObj name="Worksheet" r:id="rId6" imgW="12291237" imgH="5326333" progId="Excel.Sheet.12">
                  <p:embed/>
                </p:oleObj>
              </mc:Choice>
              <mc:Fallback>
                <p:oleObj name="Worksheet" r:id="rId6" imgW="12291237" imgH="5326333" progId="Excel.Sheet.12">
                  <p:embed/>
                  <p:pic>
                    <p:nvPicPr>
                      <p:cNvPr id="7" name="Object 7"/>
                      <p:cNvPicPr/>
                      <p:nvPr/>
                    </p:nvPicPr>
                    <p:blipFill>
                      <a:blip r:embed="rId7"/>
                      <a:stretch>
                        <a:fillRect/>
                      </a:stretch>
                    </p:blipFill>
                    <p:spPr>
                      <a:xfrm>
                        <a:off x="10134600" y="2211388"/>
                        <a:ext cx="10240963" cy="3932237"/>
                      </a:xfrm>
                      <a:prstGeom prst="rect">
                        <a:avLst/>
                      </a:prstGeom>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502759" y="1027430"/>
            <a:ext cx="12688898" cy="1094740"/>
          </a:xfrm>
          <a:prstGeom prst="rect">
            <a:avLst/>
          </a:prstGeom>
        </p:spPr>
        <p:txBody>
          <a:bodyPr lIns="0" tIns="0" rIns="0" bIns="0" rtlCol="0" anchor="t">
            <a:spAutoFit/>
          </a:bodyPr>
          <a:lstStyle/>
          <a:p>
            <a:pPr algn="l">
              <a:lnSpc>
                <a:spcPts val="8959"/>
              </a:lnSpc>
              <a:spcBef>
                <a:spcPct val="0"/>
              </a:spcBef>
            </a:pPr>
            <a:r>
              <a:rPr lang="en-US" sz="6399">
                <a:solidFill>
                  <a:srgbClr val="F1F0E7"/>
                </a:solidFill>
                <a:latin typeface="Anton"/>
                <a:ea typeface="Anton"/>
                <a:cs typeface="Anton"/>
                <a:sym typeface="Anton"/>
              </a:rPr>
              <a:t>WHat is Spatial Data</a:t>
            </a:r>
          </a:p>
        </p:txBody>
      </p:sp>
      <p:sp>
        <p:nvSpPr>
          <p:cNvPr id="6" name="TextBox 6"/>
          <p:cNvSpPr txBox="1"/>
          <p:nvPr/>
        </p:nvSpPr>
        <p:spPr>
          <a:xfrm>
            <a:off x="1325806" y="2446661"/>
            <a:ext cx="4749407" cy="429605"/>
          </a:xfrm>
          <a:prstGeom prst="rect">
            <a:avLst/>
          </a:prstGeom>
        </p:spPr>
        <p:txBody>
          <a:bodyPr lIns="0" tIns="0" rIns="0" bIns="0" rtlCol="0" anchor="t">
            <a:spAutoFit/>
          </a:bodyPr>
          <a:lstStyle/>
          <a:p>
            <a:pPr algn="l">
              <a:lnSpc>
                <a:spcPts val="3639"/>
              </a:lnSpc>
              <a:spcBef>
                <a:spcPct val="0"/>
              </a:spcBef>
            </a:pPr>
            <a:r>
              <a:rPr lang="en-US" sz="2599" b="1" dirty="0">
                <a:solidFill>
                  <a:srgbClr val="112C16"/>
                </a:solidFill>
                <a:latin typeface="Glacial Indifference Bold"/>
                <a:ea typeface="Glacial Indifference Bold"/>
                <a:cs typeface="Glacial Indifference Bold"/>
                <a:sym typeface="Glacial Indifference Bold"/>
              </a:rPr>
              <a:t>Purpose</a:t>
            </a:r>
          </a:p>
        </p:txBody>
      </p:sp>
      <p:sp>
        <p:nvSpPr>
          <p:cNvPr id="7" name="TextBox 7"/>
          <p:cNvSpPr txBox="1"/>
          <p:nvPr/>
        </p:nvSpPr>
        <p:spPr>
          <a:xfrm>
            <a:off x="1028701" y="2818771"/>
            <a:ext cx="10020299" cy="4176208"/>
          </a:xfrm>
          <a:prstGeom prst="rect">
            <a:avLst/>
          </a:prstGeom>
        </p:spPr>
        <p:txBody>
          <a:bodyPr wrap="square" lIns="0" tIns="0" rIns="0" bIns="0" rtlCol="0" anchor="t">
            <a:spAutoFit/>
          </a:bodyPr>
          <a:lstStyle/>
          <a:p>
            <a:pPr marL="725975" lvl="1" indent="-362987" algn="l">
              <a:lnSpc>
                <a:spcPts val="4707"/>
              </a:lnSpc>
              <a:spcBef>
                <a:spcPct val="0"/>
              </a:spcBef>
              <a:buFont typeface="Arial"/>
              <a:buChar char="•"/>
            </a:pPr>
            <a:r>
              <a:rPr lang="en-US" sz="3362" dirty="0">
                <a:solidFill>
                  <a:srgbClr val="000000"/>
                </a:solidFill>
                <a:latin typeface="Glacial Indifference"/>
                <a:ea typeface="Glacial Indifference"/>
                <a:cs typeface="Glacial Indifference"/>
                <a:sym typeface="Glacial Indifference"/>
              </a:rPr>
              <a:t>or geospatial data, is information that identifies the geographic location, shape, and characteristics of natural or constructed features on Earth. It links data to specific locations using coordinates (latitude/longitude), addresses, or postal codes, enabling visualization, analysis, and modeling in GIS (Geographic Information Systems)</a:t>
            </a:r>
          </a:p>
        </p:txBody>
      </p:sp>
      <p:sp>
        <p:nvSpPr>
          <p:cNvPr id="8" name="TextBox 8"/>
          <p:cNvSpPr txBox="1"/>
          <p:nvPr/>
        </p:nvSpPr>
        <p:spPr>
          <a:xfrm>
            <a:off x="1752600" y="7817479"/>
            <a:ext cx="6014697" cy="577977"/>
          </a:xfrm>
          <a:prstGeom prst="rect">
            <a:avLst/>
          </a:prstGeom>
        </p:spPr>
        <p:txBody>
          <a:bodyPr wrap="square" lIns="0" tIns="0" rIns="0" bIns="0" rtlCol="0" anchor="t">
            <a:spAutoFit/>
          </a:bodyPr>
          <a:lstStyle/>
          <a:p>
            <a:pPr algn="l">
              <a:lnSpc>
                <a:spcPts val="4707"/>
              </a:lnSpc>
              <a:spcBef>
                <a:spcPct val="0"/>
              </a:spcBef>
            </a:pPr>
            <a:r>
              <a:rPr lang="en-US" sz="3362" b="1" dirty="0">
                <a:solidFill>
                  <a:srgbClr val="000000"/>
                </a:solidFill>
                <a:latin typeface="Glacial Indifference"/>
                <a:ea typeface="Glacial Indifference"/>
                <a:cs typeface="Glacial Indifference"/>
                <a:sym typeface="Glacial Indifference"/>
              </a:rPr>
              <a:t> Library used : </a:t>
            </a:r>
            <a:r>
              <a:rPr lang="en-US" sz="3362" b="1" dirty="0" err="1">
                <a:solidFill>
                  <a:srgbClr val="000000"/>
                </a:solidFill>
                <a:latin typeface="Glacial Indifference"/>
                <a:ea typeface="Glacial Indifference"/>
                <a:cs typeface="Glacial Indifference"/>
                <a:sym typeface="Glacial Indifference"/>
              </a:rPr>
              <a:t>geopandas</a:t>
            </a:r>
            <a:endParaRPr lang="en-US" sz="3362" b="1" dirty="0">
              <a:solidFill>
                <a:srgbClr val="000000"/>
              </a:solidFill>
              <a:latin typeface="Glacial Indifference"/>
              <a:ea typeface="Glacial Indifference"/>
              <a:cs typeface="Glacial Indifference"/>
              <a:sym typeface="Glacial Indifference"/>
            </a:endParaRPr>
          </a:p>
        </p:txBody>
      </p:sp>
      <p:pic>
        <p:nvPicPr>
          <p:cNvPr id="12" name="Picture 11">
            <a:extLst>
              <a:ext uri="{FF2B5EF4-FFF2-40B4-BE49-F238E27FC236}">
                <a16:creationId xmlns:a16="http://schemas.microsoft.com/office/drawing/2014/main" id="{13598B5B-7E44-7113-73E7-2C9872D36978}"/>
              </a:ext>
            </a:extLst>
          </p:cNvPr>
          <p:cNvPicPr>
            <a:picLocks noChangeAspect="1"/>
          </p:cNvPicPr>
          <p:nvPr/>
        </p:nvPicPr>
        <p:blipFill>
          <a:blip r:embed="rId2"/>
          <a:srcRect l="32963" r="1764"/>
          <a:stretch>
            <a:fillRect/>
          </a:stretch>
        </p:blipFill>
        <p:spPr>
          <a:xfrm>
            <a:off x="11372257" y="3392913"/>
            <a:ext cx="6610164" cy="487478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9753600" y="2941624"/>
            <a:ext cx="7622932" cy="6041174"/>
          </a:xfrm>
          <a:custGeom>
            <a:avLst/>
            <a:gdLst/>
            <a:ahLst/>
            <a:cxnLst/>
            <a:rect l="l" t="t" r="r" b="b"/>
            <a:pathLst>
              <a:path w="7622932" h="6041174">
                <a:moveTo>
                  <a:pt x="0" y="0"/>
                </a:moveTo>
                <a:lnTo>
                  <a:pt x="7622932" y="0"/>
                </a:lnTo>
                <a:lnTo>
                  <a:pt x="7622932" y="6041174"/>
                </a:lnTo>
                <a:lnTo>
                  <a:pt x="0" y="6041174"/>
                </a:lnTo>
                <a:lnTo>
                  <a:pt x="0" y="0"/>
                </a:lnTo>
                <a:close/>
              </a:path>
            </a:pathLst>
          </a:custGeom>
          <a:blipFill>
            <a:blip r:embed="rId2"/>
            <a:stretch>
              <a:fillRect/>
            </a:stretch>
          </a:blipFill>
        </p:spPr>
      </p:sp>
      <p:sp>
        <p:nvSpPr>
          <p:cNvPr id="6" name="TextBox 6"/>
          <p:cNvSpPr txBox="1"/>
          <p:nvPr/>
        </p:nvSpPr>
        <p:spPr>
          <a:xfrm>
            <a:off x="1502759" y="1027430"/>
            <a:ext cx="12688898" cy="1094740"/>
          </a:xfrm>
          <a:prstGeom prst="rect">
            <a:avLst/>
          </a:prstGeom>
        </p:spPr>
        <p:txBody>
          <a:bodyPr lIns="0" tIns="0" rIns="0" bIns="0" rtlCol="0" anchor="t">
            <a:spAutoFit/>
          </a:bodyPr>
          <a:lstStyle/>
          <a:p>
            <a:pPr algn="l">
              <a:lnSpc>
                <a:spcPts val="8959"/>
              </a:lnSpc>
              <a:spcBef>
                <a:spcPct val="0"/>
              </a:spcBef>
            </a:pPr>
            <a:r>
              <a:rPr lang="en-US" sz="6399">
                <a:solidFill>
                  <a:srgbClr val="F1F0E7"/>
                </a:solidFill>
                <a:latin typeface="Anton"/>
                <a:ea typeface="Anton"/>
                <a:cs typeface="Anton"/>
                <a:sym typeface="Anton"/>
              </a:rPr>
              <a:t>WHat is Spatial Data</a:t>
            </a:r>
          </a:p>
        </p:txBody>
      </p:sp>
      <p:sp>
        <p:nvSpPr>
          <p:cNvPr id="7" name="TextBox 7"/>
          <p:cNvSpPr txBox="1"/>
          <p:nvPr/>
        </p:nvSpPr>
        <p:spPr>
          <a:xfrm>
            <a:off x="1325778" y="2717469"/>
            <a:ext cx="4572425" cy="448310"/>
          </a:xfrm>
          <a:prstGeom prst="rect">
            <a:avLst/>
          </a:prstGeom>
        </p:spPr>
        <p:txBody>
          <a:bodyPr lIns="0" tIns="0" rIns="0" bIns="0" rtlCol="0" anchor="t">
            <a:spAutoFit/>
          </a:bodyPr>
          <a:lstStyle/>
          <a:p>
            <a:pPr algn="l">
              <a:lnSpc>
                <a:spcPts val="3639"/>
              </a:lnSpc>
              <a:spcBef>
                <a:spcPct val="0"/>
              </a:spcBef>
            </a:pPr>
            <a:r>
              <a:rPr lang="en-US" sz="2599" b="1">
                <a:solidFill>
                  <a:srgbClr val="112C16"/>
                </a:solidFill>
                <a:latin typeface="Glacial Indifference Bold"/>
                <a:ea typeface="Glacial Indifference Bold"/>
                <a:cs typeface="Glacial Indifference Bold"/>
                <a:sym typeface="Glacial Indifference Bold"/>
              </a:rPr>
              <a:t>Areal data</a:t>
            </a:r>
          </a:p>
        </p:txBody>
      </p:sp>
      <p:sp>
        <p:nvSpPr>
          <p:cNvPr id="8" name="TextBox 8"/>
          <p:cNvSpPr txBox="1"/>
          <p:nvPr/>
        </p:nvSpPr>
        <p:spPr>
          <a:xfrm>
            <a:off x="1325778" y="3492991"/>
            <a:ext cx="6903823" cy="4766113"/>
          </a:xfrm>
          <a:prstGeom prst="rect">
            <a:avLst/>
          </a:prstGeom>
        </p:spPr>
        <p:txBody>
          <a:bodyPr wrap="square" lIns="0" tIns="0" rIns="0" bIns="0" rtlCol="0" anchor="t">
            <a:spAutoFit/>
          </a:bodyPr>
          <a:lstStyle/>
          <a:p>
            <a:pPr marL="531506" lvl="1" indent="-265753" algn="l">
              <a:lnSpc>
                <a:spcPts val="3446"/>
              </a:lnSpc>
              <a:spcBef>
                <a:spcPct val="0"/>
              </a:spcBef>
              <a:buFont typeface="Arial"/>
              <a:buChar char="•"/>
            </a:pPr>
            <a:r>
              <a:rPr lang="en-US" sz="2461" dirty="0">
                <a:solidFill>
                  <a:srgbClr val="000000"/>
                </a:solidFill>
                <a:latin typeface="Glacial Indifference"/>
                <a:ea typeface="Glacial Indifference"/>
                <a:cs typeface="Glacial Indifference"/>
                <a:sym typeface="Glacial Indifference"/>
              </a:rPr>
              <a:t>Areal data usually arise when the number of events corresponding to some variable of interest are aggregated in areas. For example, in spatial epidemiology, locations of individuals with a given disease are often aggregated in administrative areas. These data can be analyzed to understand geographic patterns and identify factors of disease risk, taking into account the neighborhood configuration and other factors known to affect disease risk (</a:t>
            </a:r>
            <a:r>
              <a:rPr lang="en-US" sz="2461" u="sng" dirty="0">
                <a:solidFill>
                  <a:srgbClr val="000000"/>
                </a:solidFill>
                <a:latin typeface="Glacial Indifference"/>
                <a:ea typeface="Glacial Indifference"/>
                <a:cs typeface="Glacial Indifference"/>
                <a:sym typeface="Glacial Indifference"/>
                <a:hlinkClick r:id="rId3" tooltip="https://www.paulamoraga.com/book-spatial/references.html#ref-moraga18"/>
              </a:rPr>
              <a:t>Moraga 2018a</a:t>
            </a:r>
            <a:r>
              <a:rPr lang="en-US" sz="2461" dirty="0">
                <a:solidFill>
                  <a:srgbClr val="000000"/>
                </a:solidFill>
                <a:latin typeface="Glacial Indifference"/>
                <a:ea typeface="Glacial Indifference"/>
                <a:cs typeface="Glacial Indifference"/>
                <a:sym typeface="Glacial Indifference"/>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sp>
        <p:nvSpPr>
          <p:cNvPr id="2" name="Freeform 2"/>
          <p:cNvSpPr/>
          <p:nvPr/>
        </p:nvSpPr>
        <p:spPr>
          <a:xfrm>
            <a:off x="9144000" y="2328883"/>
            <a:ext cx="8548232" cy="5572084"/>
          </a:xfrm>
          <a:custGeom>
            <a:avLst/>
            <a:gdLst/>
            <a:ahLst/>
            <a:cxnLst/>
            <a:rect l="l" t="t" r="r" b="b"/>
            <a:pathLst>
              <a:path w="8548232" h="5572084">
                <a:moveTo>
                  <a:pt x="0" y="0"/>
                </a:moveTo>
                <a:lnTo>
                  <a:pt x="8548232" y="0"/>
                </a:lnTo>
                <a:lnTo>
                  <a:pt x="8548232" y="5572083"/>
                </a:lnTo>
                <a:lnTo>
                  <a:pt x="0" y="5572083"/>
                </a:lnTo>
                <a:lnTo>
                  <a:pt x="0" y="0"/>
                </a:lnTo>
                <a:close/>
              </a:path>
            </a:pathLst>
          </a:custGeom>
          <a:blipFill>
            <a:blip r:embed="rId2"/>
            <a:stretch>
              <a:fillRect/>
            </a:stretch>
          </a:blipFill>
        </p:spPr>
      </p:sp>
      <p:sp>
        <p:nvSpPr>
          <p:cNvPr id="3" name="TextBox 3"/>
          <p:cNvSpPr txBox="1"/>
          <p:nvPr/>
        </p:nvSpPr>
        <p:spPr>
          <a:xfrm>
            <a:off x="304800" y="2376996"/>
            <a:ext cx="7772400" cy="5103961"/>
          </a:xfrm>
          <a:prstGeom prst="rect">
            <a:avLst/>
          </a:prstGeom>
        </p:spPr>
        <p:txBody>
          <a:bodyPr wrap="square" lIns="0" tIns="0" rIns="0" bIns="0" rtlCol="0" anchor="t">
            <a:spAutoFit/>
          </a:bodyPr>
          <a:lstStyle/>
          <a:p>
            <a:pPr marL="457200" indent="-457200" algn="ctr">
              <a:lnSpc>
                <a:spcPts val="3639"/>
              </a:lnSpc>
              <a:spcBef>
                <a:spcPct val="0"/>
              </a:spcBef>
              <a:buFont typeface="Arial" panose="020B0604020202020204" pitchFamily="34" charset="0"/>
              <a:buChar char="•"/>
            </a:pPr>
            <a:r>
              <a:rPr lang="en-US" sz="4400" dirty="0">
                <a:solidFill>
                  <a:srgbClr val="000000"/>
                </a:solidFill>
                <a:latin typeface="Glacial Indifference Bold"/>
                <a:ea typeface="Glacial Indifference Bold"/>
                <a:cs typeface="Glacial Indifference Bold"/>
                <a:sym typeface="Glacial Indifference Bold"/>
              </a:rPr>
              <a:t>Prepared Cross-Sectional Data for Spatial Analysis</a:t>
            </a:r>
          </a:p>
          <a:p>
            <a:pPr marL="457200" indent="-457200" algn="ctr">
              <a:lnSpc>
                <a:spcPts val="3639"/>
              </a:lnSpc>
              <a:spcBef>
                <a:spcPct val="0"/>
              </a:spcBef>
              <a:buFont typeface="Arial" panose="020B0604020202020204" pitchFamily="34" charset="0"/>
              <a:buChar char="•"/>
            </a:pPr>
            <a:r>
              <a:rPr lang="en-US" sz="4400" dirty="0">
                <a:solidFill>
                  <a:srgbClr val="000000"/>
                </a:solidFill>
                <a:latin typeface="Glacial Indifference Bold"/>
                <a:ea typeface="Glacial Indifference Bold"/>
                <a:cs typeface="Glacial Indifference Bold"/>
                <a:sym typeface="Glacial Indifference Bold"/>
              </a:rPr>
              <a:t>To perform spatial autocorrelation and regression, we often need a single snapshot or an aggregated view of the data. </a:t>
            </a:r>
          </a:p>
          <a:p>
            <a:pPr marL="457200" indent="-457200" algn="ctr">
              <a:lnSpc>
                <a:spcPts val="3639"/>
              </a:lnSpc>
              <a:spcBef>
                <a:spcPct val="0"/>
              </a:spcBef>
              <a:buFont typeface="Arial" panose="020B0604020202020204" pitchFamily="34" charset="0"/>
              <a:buChar char="•"/>
            </a:pPr>
            <a:r>
              <a:rPr lang="en-US" sz="4400" dirty="0">
                <a:solidFill>
                  <a:srgbClr val="000000"/>
                </a:solidFill>
                <a:latin typeface="Glacial Indifference Bold"/>
                <a:ea typeface="Glacial Indifference Bold"/>
                <a:cs typeface="Glacial Indifference Bold"/>
                <a:sym typeface="Glacial Indifference Bold"/>
              </a:rPr>
              <a:t>This will represent the typical spatial patterns across cities.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352715" y="2773158"/>
            <a:ext cx="945559" cy="945559"/>
          </a:xfrm>
          <a:custGeom>
            <a:avLst/>
            <a:gdLst/>
            <a:ahLst/>
            <a:cxnLst/>
            <a:rect l="l" t="t" r="r" b="b"/>
            <a:pathLst>
              <a:path w="945559" h="945559">
                <a:moveTo>
                  <a:pt x="0" y="0"/>
                </a:moveTo>
                <a:lnTo>
                  <a:pt x="945559" y="0"/>
                </a:lnTo>
                <a:lnTo>
                  <a:pt x="945559" y="945559"/>
                </a:lnTo>
                <a:lnTo>
                  <a:pt x="0" y="945559"/>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426523" y="6138294"/>
            <a:ext cx="945559" cy="998191"/>
          </a:xfrm>
          <a:custGeom>
            <a:avLst/>
            <a:gdLst/>
            <a:ahLst/>
            <a:cxnLst/>
            <a:rect l="l" t="t" r="r" b="b"/>
            <a:pathLst>
              <a:path w="945559" h="998191">
                <a:moveTo>
                  <a:pt x="0" y="0"/>
                </a:moveTo>
                <a:lnTo>
                  <a:pt x="945559" y="0"/>
                </a:lnTo>
                <a:lnTo>
                  <a:pt x="945559" y="998191"/>
                </a:lnTo>
                <a:lnTo>
                  <a:pt x="0" y="99819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8671220" y="2656238"/>
            <a:ext cx="945559" cy="996279"/>
          </a:xfrm>
          <a:custGeom>
            <a:avLst/>
            <a:gdLst/>
            <a:ahLst/>
            <a:cxnLst/>
            <a:rect l="l" t="t" r="r" b="b"/>
            <a:pathLst>
              <a:path w="945559" h="996279">
                <a:moveTo>
                  <a:pt x="0" y="0"/>
                </a:moveTo>
                <a:lnTo>
                  <a:pt x="945558" y="0"/>
                </a:lnTo>
                <a:lnTo>
                  <a:pt x="945558" y="996279"/>
                </a:lnTo>
                <a:lnTo>
                  <a:pt x="0" y="99627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a:off x="9220806" y="5702178"/>
            <a:ext cx="945559" cy="1009820"/>
          </a:xfrm>
          <a:custGeom>
            <a:avLst/>
            <a:gdLst/>
            <a:ahLst/>
            <a:cxnLst/>
            <a:rect l="l" t="t" r="r" b="b"/>
            <a:pathLst>
              <a:path w="945559" h="1009820">
                <a:moveTo>
                  <a:pt x="0" y="0"/>
                </a:moveTo>
                <a:lnTo>
                  <a:pt x="945559" y="0"/>
                </a:lnTo>
                <a:lnTo>
                  <a:pt x="945559" y="1009820"/>
                </a:lnTo>
                <a:lnTo>
                  <a:pt x="0" y="1009820"/>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1373832" y="9258300"/>
            <a:ext cx="20569442" cy="1267832"/>
            <a:chOff x="0" y="0"/>
            <a:chExt cx="5417466" cy="333915"/>
          </a:xfrm>
        </p:grpSpPr>
        <p:sp>
          <p:nvSpPr>
            <p:cNvPr id="10" name="Freeform 10"/>
            <p:cNvSpPr/>
            <p:nvPr/>
          </p:nvSpPr>
          <p:spPr>
            <a:xfrm>
              <a:off x="0" y="0"/>
              <a:ext cx="5417466" cy="333915"/>
            </a:xfrm>
            <a:custGeom>
              <a:avLst/>
              <a:gdLst/>
              <a:ahLst/>
              <a:cxnLst/>
              <a:rect l="l" t="t" r="r" b="b"/>
              <a:pathLst>
                <a:path w="5417466" h="333915">
                  <a:moveTo>
                    <a:pt x="0" y="0"/>
                  </a:moveTo>
                  <a:lnTo>
                    <a:pt x="5417466" y="0"/>
                  </a:lnTo>
                  <a:lnTo>
                    <a:pt x="5417466" y="333915"/>
                  </a:lnTo>
                  <a:lnTo>
                    <a:pt x="0" y="333915"/>
                  </a:lnTo>
                  <a:close/>
                </a:path>
              </a:pathLst>
            </a:custGeom>
            <a:solidFill>
              <a:srgbClr val="112C16"/>
            </a:solidFill>
          </p:spPr>
        </p:sp>
        <p:sp>
          <p:nvSpPr>
            <p:cNvPr id="11" name="TextBox 11"/>
            <p:cNvSpPr txBox="1"/>
            <p:nvPr/>
          </p:nvSpPr>
          <p:spPr>
            <a:xfrm>
              <a:off x="0" y="-57150"/>
              <a:ext cx="5417466" cy="391065"/>
            </a:xfrm>
            <a:prstGeom prst="rect">
              <a:avLst/>
            </a:prstGeom>
          </p:spPr>
          <p:txBody>
            <a:bodyPr lIns="50800" tIns="50800" rIns="50800" bIns="50800" rtlCol="0" anchor="ctr"/>
            <a:lstStyle/>
            <a:p>
              <a:pPr algn="ctr">
                <a:lnSpc>
                  <a:spcPts val="3359"/>
                </a:lnSpc>
              </a:pPr>
              <a:endParaRPr/>
            </a:p>
          </p:txBody>
        </p:sp>
      </p:grpSp>
      <p:sp>
        <p:nvSpPr>
          <p:cNvPr id="12" name="TextBox 12"/>
          <p:cNvSpPr txBox="1"/>
          <p:nvPr/>
        </p:nvSpPr>
        <p:spPr>
          <a:xfrm>
            <a:off x="1502759" y="1027430"/>
            <a:ext cx="12688898" cy="1094740"/>
          </a:xfrm>
          <a:prstGeom prst="rect">
            <a:avLst/>
          </a:prstGeom>
        </p:spPr>
        <p:txBody>
          <a:bodyPr lIns="0" tIns="0" rIns="0" bIns="0" rtlCol="0" anchor="t">
            <a:spAutoFit/>
          </a:bodyPr>
          <a:lstStyle/>
          <a:p>
            <a:pPr algn="l">
              <a:lnSpc>
                <a:spcPts val="8959"/>
              </a:lnSpc>
              <a:spcBef>
                <a:spcPct val="0"/>
              </a:spcBef>
            </a:pPr>
            <a:r>
              <a:rPr lang="en-US" sz="6399">
                <a:solidFill>
                  <a:srgbClr val="F1F0E7"/>
                </a:solidFill>
                <a:latin typeface="Anton"/>
                <a:ea typeface="Anton"/>
                <a:cs typeface="Anton"/>
                <a:sym typeface="Anton"/>
              </a:rPr>
              <a:t>Spatial Analysis:</a:t>
            </a:r>
          </a:p>
        </p:txBody>
      </p:sp>
      <p:sp>
        <p:nvSpPr>
          <p:cNvPr id="13" name="TextBox 13"/>
          <p:cNvSpPr txBox="1"/>
          <p:nvPr/>
        </p:nvSpPr>
        <p:spPr>
          <a:xfrm>
            <a:off x="1443524" y="2793381"/>
            <a:ext cx="6256709" cy="721995"/>
          </a:xfrm>
          <a:prstGeom prst="rect">
            <a:avLst/>
          </a:prstGeom>
        </p:spPr>
        <p:txBody>
          <a:bodyPr lIns="0" tIns="0" rIns="0" bIns="0" rtlCol="0" anchor="t">
            <a:spAutoFit/>
          </a:bodyPr>
          <a:lstStyle/>
          <a:p>
            <a:pPr algn="l">
              <a:lnSpc>
                <a:spcPts val="5880"/>
              </a:lnSpc>
              <a:spcBef>
                <a:spcPct val="0"/>
              </a:spcBef>
            </a:pPr>
            <a:r>
              <a:rPr lang="en-US" sz="4200" b="1" dirty="0">
                <a:solidFill>
                  <a:srgbClr val="112C16"/>
                </a:solidFill>
                <a:latin typeface="Glacial Indifference Bold"/>
                <a:ea typeface="Glacial Indifference Bold"/>
                <a:cs typeface="Glacial Indifference Bold"/>
                <a:sym typeface="Glacial Indifference Bold"/>
              </a:rPr>
              <a:t>Spatial Weights Matrix</a:t>
            </a:r>
          </a:p>
        </p:txBody>
      </p:sp>
      <p:sp>
        <p:nvSpPr>
          <p:cNvPr id="14" name="TextBox 14"/>
          <p:cNvSpPr txBox="1"/>
          <p:nvPr/>
        </p:nvSpPr>
        <p:spPr>
          <a:xfrm>
            <a:off x="1418844" y="3677166"/>
            <a:ext cx="5869172" cy="1715341"/>
          </a:xfrm>
          <a:prstGeom prst="rect">
            <a:avLst/>
          </a:prstGeom>
        </p:spPr>
        <p:txBody>
          <a:bodyPr lIns="0" tIns="0" rIns="0" bIns="0" rtlCol="0" anchor="t">
            <a:spAutoFit/>
          </a:bodyPr>
          <a:lstStyle/>
          <a:p>
            <a:pPr algn="l">
              <a:lnSpc>
                <a:spcPts val="3359"/>
              </a:lnSpc>
              <a:spcBef>
                <a:spcPct val="0"/>
              </a:spcBef>
            </a:pPr>
            <a:r>
              <a:rPr lang="en-US" sz="2400" dirty="0">
                <a:solidFill>
                  <a:srgbClr val="112C16"/>
                </a:solidFill>
                <a:latin typeface="Glacial Indifference"/>
                <a:ea typeface="Glacial Indifference"/>
                <a:cs typeface="Glacial Indifference"/>
                <a:sym typeface="Glacial Indifference"/>
              </a:rPr>
              <a:t>spatial weights connect objects in a geographic table to one another using the spatial relationships between them</a:t>
            </a:r>
          </a:p>
          <a:p>
            <a:pPr algn="l">
              <a:lnSpc>
                <a:spcPts val="3359"/>
              </a:lnSpc>
              <a:spcBef>
                <a:spcPct val="0"/>
              </a:spcBef>
            </a:pPr>
            <a:r>
              <a:rPr lang="en-US" sz="2400" b="1" dirty="0">
                <a:solidFill>
                  <a:srgbClr val="112C16"/>
                </a:solidFill>
                <a:latin typeface="Codec Pro"/>
                <a:ea typeface="Codec Pro"/>
                <a:cs typeface="Codec Pro"/>
                <a:sym typeface="Codec Pro"/>
              </a:rPr>
              <a:t>from </a:t>
            </a:r>
            <a:r>
              <a:rPr lang="en-US" sz="2400" b="1" dirty="0" err="1">
                <a:solidFill>
                  <a:srgbClr val="112C16"/>
                </a:solidFill>
                <a:latin typeface="Codec Pro"/>
                <a:ea typeface="Codec Pro"/>
                <a:cs typeface="Codec Pro"/>
                <a:sym typeface="Codec Pro"/>
              </a:rPr>
              <a:t>libpysal</a:t>
            </a:r>
            <a:r>
              <a:rPr lang="en-US" sz="2400" b="1" dirty="0">
                <a:solidFill>
                  <a:srgbClr val="112C16"/>
                </a:solidFill>
                <a:latin typeface="Codec Pro"/>
                <a:ea typeface="Codec Pro"/>
                <a:cs typeface="Codec Pro"/>
                <a:sym typeface="Codec Pro"/>
              </a:rPr>
              <a:t> import weights</a:t>
            </a:r>
          </a:p>
        </p:txBody>
      </p:sp>
      <p:sp>
        <p:nvSpPr>
          <p:cNvPr id="15" name="TextBox 15"/>
          <p:cNvSpPr txBox="1"/>
          <p:nvPr/>
        </p:nvSpPr>
        <p:spPr>
          <a:xfrm>
            <a:off x="1585708" y="6153623"/>
            <a:ext cx="7631124" cy="616021"/>
          </a:xfrm>
          <a:prstGeom prst="rect">
            <a:avLst/>
          </a:prstGeom>
        </p:spPr>
        <p:txBody>
          <a:bodyPr lIns="0" tIns="0" rIns="0" bIns="0" rtlCol="0" anchor="t">
            <a:spAutoFit/>
          </a:bodyPr>
          <a:lstStyle/>
          <a:p>
            <a:pPr algn="l">
              <a:lnSpc>
                <a:spcPts val="5076"/>
              </a:lnSpc>
              <a:spcBef>
                <a:spcPct val="0"/>
              </a:spcBef>
            </a:pPr>
            <a:r>
              <a:rPr lang="en-US" sz="3626" b="1" dirty="0">
                <a:solidFill>
                  <a:srgbClr val="112C16"/>
                </a:solidFill>
                <a:latin typeface="Glacial Indifference Bold"/>
                <a:ea typeface="Glacial Indifference Bold"/>
                <a:cs typeface="Glacial Indifference Bold"/>
                <a:sym typeface="Glacial Indifference Bold"/>
              </a:rPr>
              <a:t>Local Spatial Autocorrelation (LISA)</a:t>
            </a:r>
          </a:p>
        </p:txBody>
      </p:sp>
      <p:sp>
        <p:nvSpPr>
          <p:cNvPr id="16" name="TextBox 16"/>
          <p:cNvSpPr txBox="1"/>
          <p:nvPr/>
        </p:nvSpPr>
        <p:spPr>
          <a:xfrm>
            <a:off x="1585708" y="6992798"/>
            <a:ext cx="6360042" cy="1712007"/>
          </a:xfrm>
          <a:prstGeom prst="rect">
            <a:avLst/>
          </a:prstGeom>
        </p:spPr>
        <p:txBody>
          <a:bodyPr lIns="0" tIns="0" rIns="0" bIns="0" rtlCol="0" anchor="t">
            <a:spAutoFit/>
          </a:bodyPr>
          <a:lstStyle/>
          <a:p>
            <a:pPr algn="l">
              <a:lnSpc>
                <a:spcPts val="3359"/>
              </a:lnSpc>
            </a:pPr>
            <a:r>
              <a:rPr lang="en-US" sz="2400" dirty="0">
                <a:solidFill>
                  <a:srgbClr val="000000"/>
                </a:solidFill>
                <a:latin typeface="Glacial Indifference"/>
                <a:ea typeface="Glacial Indifference"/>
                <a:cs typeface="Glacial Indifference"/>
                <a:sym typeface="Glacial Indifference"/>
              </a:rPr>
              <a:t>Are designed to provide an indication of the extent of significant spatial clustering of similar values around each observation.</a:t>
            </a:r>
          </a:p>
          <a:p>
            <a:pPr algn="l">
              <a:lnSpc>
                <a:spcPts val="3359"/>
              </a:lnSpc>
            </a:pPr>
            <a:endParaRPr lang="en-US" sz="2400" dirty="0">
              <a:solidFill>
                <a:srgbClr val="000000"/>
              </a:solidFill>
              <a:latin typeface="Glacial Indifference"/>
              <a:ea typeface="Glacial Indifference"/>
              <a:cs typeface="Glacial Indifference"/>
              <a:sym typeface="Glacial Indifference"/>
            </a:endParaRPr>
          </a:p>
        </p:txBody>
      </p:sp>
      <p:sp>
        <p:nvSpPr>
          <p:cNvPr id="17" name="TextBox 17"/>
          <p:cNvSpPr txBox="1"/>
          <p:nvPr/>
        </p:nvSpPr>
        <p:spPr>
          <a:xfrm>
            <a:off x="9762337" y="2691164"/>
            <a:ext cx="8189405" cy="535301"/>
          </a:xfrm>
          <a:prstGeom prst="rect">
            <a:avLst/>
          </a:prstGeom>
        </p:spPr>
        <p:txBody>
          <a:bodyPr lIns="0" tIns="0" rIns="0" bIns="0" rtlCol="0" anchor="t">
            <a:spAutoFit/>
          </a:bodyPr>
          <a:lstStyle/>
          <a:p>
            <a:pPr algn="l">
              <a:lnSpc>
                <a:spcPts val="4330"/>
              </a:lnSpc>
              <a:spcBef>
                <a:spcPct val="0"/>
              </a:spcBef>
            </a:pPr>
            <a:r>
              <a:rPr lang="en-US" sz="3093" b="1" dirty="0">
                <a:solidFill>
                  <a:srgbClr val="112C16"/>
                </a:solidFill>
                <a:latin typeface="Glacial Indifference Bold"/>
                <a:ea typeface="Glacial Indifference Bold"/>
                <a:cs typeface="Glacial Indifference Bold"/>
                <a:sym typeface="Glacial Indifference Bold"/>
              </a:rPr>
              <a:t>Global Spatial Autocorrelation (Moran's I)</a:t>
            </a:r>
          </a:p>
        </p:txBody>
      </p:sp>
      <p:sp>
        <p:nvSpPr>
          <p:cNvPr id="18" name="TextBox 18"/>
          <p:cNvSpPr txBox="1"/>
          <p:nvPr/>
        </p:nvSpPr>
        <p:spPr>
          <a:xfrm>
            <a:off x="10054929" y="3377931"/>
            <a:ext cx="7204371" cy="1715341"/>
          </a:xfrm>
          <a:prstGeom prst="rect">
            <a:avLst/>
          </a:prstGeom>
        </p:spPr>
        <p:txBody>
          <a:bodyPr wrap="square" lIns="0" tIns="0" rIns="0" bIns="0" rtlCol="0" anchor="t">
            <a:spAutoFit/>
          </a:bodyPr>
          <a:lstStyle/>
          <a:p>
            <a:pPr algn="l">
              <a:lnSpc>
                <a:spcPts val="3359"/>
              </a:lnSpc>
            </a:pPr>
            <a:r>
              <a:rPr lang="en-US" sz="2400" dirty="0">
                <a:solidFill>
                  <a:srgbClr val="000000"/>
                </a:solidFill>
                <a:latin typeface="Glacial Indifference"/>
                <a:ea typeface="Glacial Indifference"/>
                <a:cs typeface="Glacial Indifference"/>
                <a:sym typeface="Glacial Indifference"/>
              </a:rPr>
              <a:t>“everything is related to everything else, but near things are more related than distant things” (</a:t>
            </a:r>
            <a:r>
              <a:rPr lang="en-US" sz="2400" u="sng" dirty="0">
                <a:solidFill>
                  <a:srgbClr val="000000"/>
                </a:solidFill>
                <a:latin typeface="Glacial Indifference"/>
                <a:ea typeface="Glacial Indifference"/>
                <a:cs typeface="Glacial Indifference"/>
                <a:sym typeface="Glacial Indifference"/>
                <a:hlinkClick r:id="rId6" tooltip="https://www.paulamoraga.com/book-spatial/references.html#ref-tobler70"/>
              </a:rPr>
              <a:t>Tobler 1970</a:t>
            </a:r>
            <a:r>
              <a:rPr lang="en-US" sz="2400" dirty="0">
                <a:solidFill>
                  <a:srgbClr val="000000"/>
                </a:solidFill>
                <a:latin typeface="Glacial Indifference"/>
                <a:ea typeface="Glacial Indifference"/>
                <a:cs typeface="Glacial Indifference"/>
                <a:sym typeface="Glacial Indifference"/>
              </a:rPr>
              <a:t>). </a:t>
            </a:r>
          </a:p>
          <a:p>
            <a:pPr algn="l">
              <a:lnSpc>
                <a:spcPts val="3359"/>
              </a:lnSpc>
            </a:pPr>
            <a:r>
              <a:rPr lang="en-US" sz="2400" b="1" dirty="0">
                <a:solidFill>
                  <a:srgbClr val="000000"/>
                </a:solidFill>
                <a:latin typeface="Codec Pro"/>
                <a:ea typeface="Codec Pro"/>
                <a:cs typeface="Codec Pro"/>
                <a:sym typeface="Codec Pro"/>
              </a:rPr>
              <a:t>from </a:t>
            </a:r>
            <a:r>
              <a:rPr lang="en-US" sz="2400" b="1" dirty="0" err="1">
                <a:solidFill>
                  <a:srgbClr val="000000"/>
                </a:solidFill>
                <a:latin typeface="Codec Pro"/>
                <a:ea typeface="Codec Pro"/>
                <a:cs typeface="Codec Pro"/>
                <a:sym typeface="Codec Pro"/>
              </a:rPr>
              <a:t>esda.moran</a:t>
            </a:r>
            <a:r>
              <a:rPr lang="en-US" sz="2400" b="1" dirty="0">
                <a:solidFill>
                  <a:srgbClr val="000000"/>
                </a:solidFill>
                <a:latin typeface="Codec Pro"/>
                <a:ea typeface="Codec Pro"/>
                <a:cs typeface="Codec Pro"/>
                <a:sym typeface="Codec Pro"/>
              </a:rPr>
              <a:t> import Moran</a:t>
            </a:r>
          </a:p>
        </p:txBody>
      </p:sp>
      <p:sp>
        <p:nvSpPr>
          <p:cNvPr id="19" name="TextBox 19"/>
          <p:cNvSpPr txBox="1"/>
          <p:nvPr/>
        </p:nvSpPr>
        <p:spPr>
          <a:xfrm>
            <a:off x="10273924" y="5840526"/>
            <a:ext cx="7350053" cy="682578"/>
          </a:xfrm>
          <a:prstGeom prst="rect">
            <a:avLst/>
          </a:prstGeom>
        </p:spPr>
        <p:txBody>
          <a:bodyPr lIns="0" tIns="0" rIns="0" bIns="0" rtlCol="0" anchor="t">
            <a:spAutoFit/>
          </a:bodyPr>
          <a:lstStyle/>
          <a:p>
            <a:pPr algn="l">
              <a:lnSpc>
                <a:spcPts val="5515"/>
              </a:lnSpc>
              <a:spcBef>
                <a:spcPct val="0"/>
              </a:spcBef>
            </a:pPr>
            <a:r>
              <a:rPr lang="en-US" sz="3939" b="1">
                <a:solidFill>
                  <a:srgbClr val="112C16"/>
                </a:solidFill>
                <a:latin typeface="Glacial Indifference Bold"/>
                <a:ea typeface="Glacial Indifference Bold"/>
                <a:cs typeface="Glacial Indifference Bold"/>
                <a:sym typeface="Glacial Indifference Bold"/>
              </a:rPr>
              <a:t>Hotspot Analysis (Getis-Ord G)</a:t>
            </a:r>
          </a:p>
        </p:txBody>
      </p:sp>
      <p:sp>
        <p:nvSpPr>
          <p:cNvPr id="20" name="TextBox 20"/>
          <p:cNvSpPr txBox="1"/>
          <p:nvPr/>
        </p:nvSpPr>
        <p:spPr>
          <a:xfrm>
            <a:off x="10054929" y="6503011"/>
            <a:ext cx="7824050" cy="2584041"/>
          </a:xfrm>
          <a:prstGeom prst="rect">
            <a:avLst/>
          </a:prstGeom>
        </p:spPr>
        <p:txBody>
          <a:bodyPr lIns="0" tIns="0" rIns="0" bIns="0" rtlCol="0" anchor="t">
            <a:spAutoFit/>
          </a:bodyPr>
          <a:lstStyle/>
          <a:p>
            <a:pPr algn="l">
              <a:lnSpc>
                <a:spcPts val="3359"/>
              </a:lnSpc>
            </a:pPr>
            <a:r>
              <a:rPr lang="en-US" sz="2400" dirty="0">
                <a:solidFill>
                  <a:srgbClr val="000000"/>
                </a:solidFill>
                <a:latin typeface="Glacial Indifference"/>
                <a:ea typeface="Glacial Indifference"/>
                <a:cs typeface="Glacial Indifference"/>
                <a:sym typeface="Glacial Indifference"/>
              </a:rPr>
              <a:t>G is the global version of a family of statistics of spatial autocorrelation based on distance. The class of statistics is conceived for points, hence the use of a distance , but it can also be applied to polygon data if a binary spatial weights matrix can be constructed. </a:t>
            </a:r>
          </a:p>
          <a:p>
            <a:pPr algn="l">
              <a:lnSpc>
                <a:spcPts val="3359"/>
              </a:lnSpc>
            </a:pPr>
            <a:r>
              <a:rPr lang="en-US" sz="2400" b="1" dirty="0" err="1">
                <a:solidFill>
                  <a:srgbClr val="000000"/>
                </a:solidFill>
                <a:latin typeface="Glacial Indifference"/>
                <a:ea typeface="Glacial Indifference"/>
                <a:cs typeface="Glacial Indifference"/>
                <a:sym typeface="Glacial Indifference"/>
              </a:rPr>
              <a:t>min_threshold_distance</a:t>
            </a:r>
            <a:r>
              <a:rPr lang="en-US" sz="2400" b="1" dirty="0">
                <a:solidFill>
                  <a:srgbClr val="000000"/>
                </a:solidFill>
                <a:latin typeface="Glacial Indifference"/>
                <a:ea typeface="Glacial Indifference"/>
                <a:cs typeface="Glacial Indifference"/>
                <a:sym typeface="Glacial Indifference"/>
              </a:rPr>
              <a:t> method , </a:t>
            </a:r>
            <a:r>
              <a:rPr lang="en-US" sz="2400" b="1" dirty="0" err="1">
                <a:solidFill>
                  <a:srgbClr val="000000"/>
                </a:solidFill>
                <a:latin typeface="Glacial Indifference"/>
                <a:ea typeface="Glacial Indifference"/>
                <a:cs typeface="Glacial Indifference"/>
                <a:sym typeface="Glacial Indifference"/>
              </a:rPr>
              <a:t>DistanceBand</a:t>
            </a:r>
            <a:r>
              <a:rPr lang="en-US" sz="2400" b="1" dirty="0">
                <a:solidFill>
                  <a:srgbClr val="000000"/>
                </a:solidFill>
                <a:latin typeface="Glacial Indifference"/>
                <a:ea typeface="Glacial Indifference"/>
                <a:cs typeface="Glacial Indifference"/>
                <a:sym typeface="Glacial Indifference"/>
              </a:rPr>
              <a:t> , </a:t>
            </a:r>
            <a:r>
              <a:rPr lang="en-US" sz="2400" b="1" dirty="0" err="1">
                <a:solidFill>
                  <a:srgbClr val="000000"/>
                </a:solidFill>
                <a:latin typeface="Glacial Indifference"/>
                <a:ea typeface="Glacial Indifference"/>
                <a:cs typeface="Glacial Indifference"/>
                <a:sym typeface="Glacial Indifference"/>
              </a:rPr>
              <a:t>gao.G</a:t>
            </a:r>
            <a:endParaRPr lang="en-US" sz="2400" b="1" dirty="0">
              <a:solidFill>
                <a:srgbClr val="000000"/>
              </a:solidFill>
              <a:latin typeface="Glacial Indifference"/>
              <a:ea typeface="Glacial Indifference"/>
              <a:cs typeface="Glacial Indifference"/>
              <a:sym typeface="Glacial Indifference"/>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934535" y="2590679"/>
            <a:ext cx="945559" cy="945559"/>
          </a:xfrm>
          <a:custGeom>
            <a:avLst/>
            <a:gdLst/>
            <a:ahLst/>
            <a:cxnLst/>
            <a:rect l="l" t="t" r="r" b="b"/>
            <a:pathLst>
              <a:path w="945559" h="945559">
                <a:moveTo>
                  <a:pt x="0" y="0"/>
                </a:moveTo>
                <a:lnTo>
                  <a:pt x="945559" y="0"/>
                </a:lnTo>
                <a:lnTo>
                  <a:pt x="945559" y="945559"/>
                </a:lnTo>
                <a:lnTo>
                  <a:pt x="0" y="945559"/>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1028700" y="5931873"/>
            <a:ext cx="945559" cy="998191"/>
          </a:xfrm>
          <a:custGeom>
            <a:avLst/>
            <a:gdLst/>
            <a:ahLst/>
            <a:cxnLst/>
            <a:rect l="l" t="t" r="r" b="b"/>
            <a:pathLst>
              <a:path w="945559" h="998191">
                <a:moveTo>
                  <a:pt x="0" y="0"/>
                </a:moveTo>
                <a:lnTo>
                  <a:pt x="945559" y="0"/>
                </a:lnTo>
                <a:lnTo>
                  <a:pt x="945559" y="998191"/>
                </a:lnTo>
                <a:lnTo>
                  <a:pt x="0" y="998191"/>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1373832" y="9258300"/>
            <a:ext cx="20569442" cy="1267832"/>
            <a:chOff x="0" y="0"/>
            <a:chExt cx="5417466" cy="333915"/>
          </a:xfrm>
        </p:grpSpPr>
        <p:sp>
          <p:nvSpPr>
            <p:cNvPr id="10" name="Freeform 10"/>
            <p:cNvSpPr/>
            <p:nvPr/>
          </p:nvSpPr>
          <p:spPr>
            <a:xfrm>
              <a:off x="0" y="0"/>
              <a:ext cx="5417466" cy="333915"/>
            </a:xfrm>
            <a:custGeom>
              <a:avLst/>
              <a:gdLst/>
              <a:ahLst/>
              <a:cxnLst/>
              <a:rect l="l" t="t" r="r" b="b"/>
              <a:pathLst>
                <a:path w="5417466" h="333915">
                  <a:moveTo>
                    <a:pt x="0" y="0"/>
                  </a:moveTo>
                  <a:lnTo>
                    <a:pt x="5417466" y="0"/>
                  </a:lnTo>
                  <a:lnTo>
                    <a:pt x="5417466" y="333915"/>
                  </a:lnTo>
                  <a:lnTo>
                    <a:pt x="0" y="333915"/>
                  </a:lnTo>
                  <a:close/>
                </a:path>
              </a:pathLst>
            </a:custGeom>
            <a:solidFill>
              <a:srgbClr val="112C16"/>
            </a:solidFill>
          </p:spPr>
        </p:sp>
        <p:sp>
          <p:nvSpPr>
            <p:cNvPr id="11" name="TextBox 11"/>
            <p:cNvSpPr txBox="1"/>
            <p:nvPr/>
          </p:nvSpPr>
          <p:spPr>
            <a:xfrm>
              <a:off x="0" y="-57150"/>
              <a:ext cx="5417466" cy="391065"/>
            </a:xfrm>
            <a:prstGeom prst="rect">
              <a:avLst/>
            </a:prstGeom>
          </p:spPr>
          <p:txBody>
            <a:bodyPr lIns="50800" tIns="50800" rIns="50800" bIns="50800" rtlCol="0" anchor="ctr"/>
            <a:lstStyle/>
            <a:p>
              <a:pPr algn="ctr">
                <a:lnSpc>
                  <a:spcPts val="3359"/>
                </a:lnSpc>
              </a:pPr>
              <a:endParaRPr/>
            </a:p>
          </p:txBody>
        </p:sp>
      </p:grpSp>
      <p:sp>
        <p:nvSpPr>
          <p:cNvPr id="12" name="TextBox 12"/>
          <p:cNvSpPr txBox="1"/>
          <p:nvPr/>
        </p:nvSpPr>
        <p:spPr>
          <a:xfrm>
            <a:off x="1502759" y="1027430"/>
            <a:ext cx="12688898" cy="1094740"/>
          </a:xfrm>
          <a:prstGeom prst="rect">
            <a:avLst/>
          </a:prstGeom>
        </p:spPr>
        <p:txBody>
          <a:bodyPr lIns="0" tIns="0" rIns="0" bIns="0" rtlCol="0" anchor="t">
            <a:spAutoFit/>
          </a:bodyPr>
          <a:lstStyle/>
          <a:p>
            <a:pPr algn="l">
              <a:lnSpc>
                <a:spcPts val="8959"/>
              </a:lnSpc>
              <a:spcBef>
                <a:spcPct val="0"/>
              </a:spcBef>
            </a:pPr>
            <a:r>
              <a:rPr lang="en-US" sz="6399">
                <a:solidFill>
                  <a:srgbClr val="F1F0E7"/>
                </a:solidFill>
                <a:latin typeface="Anton"/>
                <a:ea typeface="Anton"/>
                <a:cs typeface="Anton"/>
                <a:sym typeface="Anton"/>
              </a:rPr>
              <a:t>Spatial Analysis:</a:t>
            </a:r>
          </a:p>
        </p:txBody>
      </p:sp>
      <p:sp>
        <p:nvSpPr>
          <p:cNvPr id="13" name="TextBox 13"/>
          <p:cNvSpPr txBox="1"/>
          <p:nvPr/>
        </p:nvSpPr>
        <p:spPr>
          <a:xfrm>
            <a:off x="1849614" y="7180537"/>
            <a:ext cx="5853246" cy="1672590"/>
          </a:xfrm>
          <a:prstGeom prst="rect">
            <a:avLst/>
          </a:prstGeom>
        </p:spPr>
        <p:txBody>
          <a:bodyPr lIns="0" tIns="0" rIns="0" bIns="0" rtlCol="0" anchor="t">
            <a:spAutoFit/>
          </a:bodyPr>
          <a:lstStyle/>
          <a:p>
            <a:pPr marL="518160" lvl="1" indent="-259080" algn="l">
              <a:lnSpc>
                <a:spcPts val="3359"/>
              </a:lnSpc>
              <a:buFont typeface="Arial"/>
              <a:buChar char="•"/>
            </a:pPr>
            <a:r>
              <a:rPr lang="en-US" sz="2400" dirty="0">
                <a:solidFill>
                  <a:srgbClr val="000000"/>
                </a:solidFill>
                <a:latin typeface="Glacial Indifference"/>
                <a:ea typeface="Glacial Indifference"/>
                <a:cs typeface="Glacial Indifference"/>
                <a:sym typeface="Glacial Indifference"/>
              </a:rPr>
              <a:t>Electronics showed the highest growth in Q2.</a:t>
            </a:r>
          </a:p>
          <a:p>
            <a:pPr marL="518160" lvl="1" indent="-259080" algn="l">
              <a:lnSpc>
                <a:spcPts val="3359"/>
              </a:lnSpc>
              <a:buFont typeface="Arial"/>
              <a:buChar char="•"/>
            </a:pPr>
            <a:r>
              <a:rPr lang="en-US" sz="2400" dirty="0">
                <a:solidFill>
                  <a:srgbClr val="000000"/>
                </a:solidFill>
                <a:latin typeface="Glacial Indifference"/>
                <a:ea typeface="Glacial Indifference"/>
                <a:cs typeface="Glacial Indifference"/>
                <a:sym typeface="Glacial Indifference"/>
              </a:rPr>
              <a:t>Top 3 regions contributed over 60% of total revenue</a:t>
            </a:r>
          </a:p>
        </p:txBody>
      </p:sp>
      <p:sp>
        <p:nvSpPr>
          <p:cNvPr id="14" name="TextBox 14"/>
          <p:cNvSpPr txBox="1"/>
          <p:nvPr/>
        </p:nvSpPr>
        <p:spPr>
          <a:xfrm>
            <a:off x="2088912" y="6110756"/>
            <a:ext cx="6936684" cy="640426"/>
          </a:xfrm>
          <a:prstGeom prst="rect">
            <a:avLst/>
          </a:prstGeom>
        </p:spPr>
        <p:txBody>
          <a:bodyPr lIns="0" tIns="0" rIns="0" bIns="0" rtlCol="0" anchor="t">
            <a:spAutoFit/>
          </a:bodyPr>
          <a:lstStyle/>
          <a:p>
            <a:pPr algn="l">
              <a:lnSpc>
                <a:spcPts val="5214"/>
              </a:lnSpc>
              <a:spcBef>
                <a:spcPct val="0"/>
              </a:spcBef>
            </a:pPr>
            <a:r>
              <a:rPr lang="en-US" sz="3724" b="1" dirty="0">
                <a:solidFill>
                  <a:srgbClr val="112C16"/>
                </a:solidFill>
                <a:latin typeface="Glacial Indifference Bold"/>
                <a:ea typeface="Glacial Indifference Bold"/>
                <a:cs typeface="Glacial Indifference Bold"/>
                <a:sym typeface="Glacial Indifference Bold"/>
              </a:rPr>
              <a:t>Spatial Regression (</a:t>
            </a:r>
            <a:r>
              <a:rPr lang="en-US" sz="3724" b="1" dirty="0" err="1">
                <a:solidFill>
                  <a:srgbClr val="112C16"/>
                </a:solidFill>
                <a:latin typeface="Glacial Indifference Bold"/>
                <a:ea typeface="Glacial Indifference Bold"/>
                <a:cs typeface="Glacial Indifference Bold"/>
                <a:sym typeface="Glacial Indifference Bold"/>
              </a:rPr>
              <a:t>ML_Lag</a:t>
            </a:r>
            <a:r>
              <a:rPr lang="en-US" sz="3724" b="1" dirty="0">
                <a:solidFill>
                  <a:srgbClr val="112C16"/>
                </a:solidFill>
                <a:latin typeface="Glacial Indifference Bold"/>
                <a:ea typeface="Glacial Indifference Bold"/>
                <a:cs typeface="Glacial Indifference Bold"/>
                <a:sym typeface="Glacial Indifference Bold"/>
              </a:rPr>
              <a:t>)</a:t>
            </a:r>
          </a:p>
        </p:txBody>
      </p:sp>
      <p:sp>
        <p:nvSpPr>
          <p:cNvPr id="16" name="TextBox 16"/>
          <p:cNvSpPr txBox="1"/>
          <p:nvPr/>
        </p:nvSpPr>
        <p:spPr>
          <a:xfrm>
            <a:off x="2458211" y="2504954"/>
            <a:ext cx="5720745" cy="721995"/>
          </a:xfrm>
          <a:prstGeom prst="rect">
            <a:avLst/>
          </a:prstGeom>
        </p:spPr>
        <p:txBody>
          <a:bodyPr lIns="0" tIns="0" rIns="0" bIns="0" rtlCol="0" anchor="t">
            <a:spAutoFit/>
          </a:bodyPr>
          <a:lstStyle/>
          <a:p>
            <a:pPr algn="l">
              <a:lnSpc>
                <a:spcPts val="5880"/>
              </a:lnSpc>
              <a:spcBef>
                <a:spcPct val="0"/>
              </a:spcBef>
            </a:pPr>
            <a:r>
              <a:rPr lang="en-US" sz="4200" b="1" dirty="0">
                <a:solidFill>
                  <a:srgbClr val="112C16"/>
                </a:solidFill>
                <a:latin typeface="Glacial Indifference Bold"/>
                <a:ea typeface="Glacial Indifference Bold"/>
                <a:cs typeface="Glacial Indifference Bold"/>
                <a:sym typeface="Glacial Indifference Bold"/>
              </a:rPr>
              <a:t>Kriging</a:t>
            </a:r>
          </a:p>
        </p:txBody>
      </p:sp>
      <p:sp>
        <p:nvSpPr>
          <p:cNvPr id="17" name="TextBox 17"/>
          <p:cNvSpPr txBox="1"/>
          <p:nvPr/>
        </p:nvSpPr>
        <p:spPr>
          <a:xfrm>
            <a:off x="2088912" y="3341441"/>
            <a:ext cx="5853246" cy="2584041"/>
          </a:xfrm>
          <a:prstGeom prst="rect">
            <a:avLst/>
          </a:prstGeom>
        </p:spPr>
        <p:txBody>
          <a:bodyPr lIns="0" tIns="0" rIns="0" bIns="0" rtlCol="0" anchor="t">
            <a:spAutoFit/>
          </a:bodyPr>
          <a:lstStyle/>
          <a:p>
            <a:pPr marL="518160" lvl="1" indent="-259080" algn="l">
              <a:lnSpc>
                <a:spcPts val="3359"/>
              </a:lnSpc>
              <a:buFont typeface="Arial"/>
              <a:buChar char="•"/>
            </a:pPr>
            <a:r>
              <a:rPr lang="en-US" sz="2400" dirty="0">
                <a:solidFill>
                  <a:srgbClr val="000000"/>
                </a:solidFill>
                <a:latin typeface="Glacial Indifference"/>
                <a:ea typeface="Glacial Indifference"/>
                <a:cs typeface="Glacial Indifference"/>
                <a:sym typeface="Glacial Indifference"/>
              </a:rPr>
              <a:t>Allow us to predict values of a spatially continuous variable at locations that are not sampled. These methods include closest observation, inverse distance weighting (IDW), and nearest neighbors.</a:t>
            </a:r>
          </a:p>
          <a:p>
            <a:pPr marL="518160" lvl="1" indent="-259080" algn="l">
              <a:lnSpc>
                <a:spcPts val="3359"/>
              </a:lnSpc>
              <a:buFont typeface="Arial"/>
              <a:buChar char="•"/>
            </a:pPr>
            <a:endParaRPr lang="en-US" sz="2400" dirty="0">
              <a:solidFill>
                <a:srgbClr val="000000"/>
              </a:solidFill>
              <a:latin typeface="Glacial Indifference"/>
              <a:ea typeface="Glacial Indifference"/>
              <a:cs typeface="Glacial Indifference"/>
              <a:sym typeface="Glacial Indifference"/>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028700" y="2721794"/>
            <a:ext cx="7454107" cy="1821366"/>
          </a:xfrm>
          <a:custGeom>
            <a:avLst/>
            <a:gdLst/>
            <a:ahLst/>
            <a:cxnLst/>
            <a:rect l="l" t="t" r="r" b="b"/>
            <a:pathLst>
              <a:path w="7454107" h="1821366">
                <a:moveTo>
                  <a:pt x="0" y="0"/>
                </a:moveTo>
                <a:lnTo>
                  <a:pt x="7454107" y="0"/>
                </a:lnTo>
                <a:lnTo>
                  <a:pt x="7454107" y="1821365"/>
                </a:lnTo>
                <a:lnTo>
                  <a:pt x="0" y="1821365"/>
                </a:lnTo>
                <a:lnTo>
                  <a:pt x="0" y="0"/>
                </a:lnTo>
                <a:close/>
              </a:path>
            </a:pathLst>
          </a:custGeom>
          <a:blipFill>
            <a:blip r:embed="rId2"/>
            <a:stretch>
              <a:fillRect/>
            </a:stretch>
          </a:blipFill>
        </p:spPr>
      </p:sp>
      <p:sp>
        <p:nvSpPr>
          <p:cNvPr id="7" name="Freeform 7"/>
          <p:cNvSpPr/>
          <p:nvPr/>
        </p:nvSpPr>
        <p:spPr>
          <a:xfrm>
            <a:off x="8839200" y="2721794"/>
            <a:ext cx="8991600" cy="1674721"/>
          </a:xfrm>
          <a:custGeom>
            <a:avLst/>
            <a:gdLst/>
            <a:ahLst/>
            <a:cxnLst/>
            <a:rect l="l" t="t" r="r" b="b"/>
            <a:pathLst>
              <a:path w="11301259" h="2302632">
                <a:moveTo>
                  <a:pt x="0" y="0"/>
                </a:moveTo>
                <a:lnTo>
                  <a:pt x="11301259" y="0"/>
                </a:lnTo>
                <a:lnTo>
                  <a:pt x="11301259" y="2302631"/>
                </a:lnTo>
                <a:lnTo>
                  <a:pt x="0" y="2302631"/>
                </a:lnTo>
                <a:lnTo>
                  <a:pt x="0" y="0"/>
                </a:lnTo>
                <a:close/>
              </a:path>
            </a:pathLst>
          </a:custGeom>
          <a:blipFill>
            <a:blip r:embed="rId3"/>
            <a:stretch>
              <a:fillRect/>
            </a:stretch>
          </a:blipFill>
        </p:spPr>
      </p:sp>
      <p:sp>
        <p:nvSpPr>
          <p:cNvPr id="8" name="TextBox 8"/>
          <p:cNvSpPr txBox="1"/>
          <p:nvPr/>
        </p:nvSpPr>
        <p:spPr>
          <a:xfrm>
            <a:off x="1502759" y="1027430"/>
            <a:ext cx="12688898" cy="1094740"/>
          </a:xfrm>
          <a:prstGeom prst="rect">
            <a:avLst/>
          </a:prstGeom>
        </p:spPr>
        <p:txBody>
          <a:bodyPr lIns="0" tIns="0" rIns="0" bIns="0" rtlCol="0" anchor="t">
            <a:spAutoFit/>
          </a:bodyPr>
          <a:lstStyle/>
          <a:p>
            <a:pPr algn="l">
              <a:lnSpc>
                <a:spcPts val="8959"/>
              </a:lnSpc>
              <a:spcBef>
                <a:spcPct val="0"/>
              </a:spcBef>
            </a:pPr>
            <a:r>
              <a:rPr lang="en-US" sz="6399">
                <a:solidFill>
                  <a:srgbClr val="F1F0E7"/>
                </a:solidFill>
                <a:latin typeface="Anton"/>
                <a:ea typeface="Anton"/>
                <a:cs typeface="Anton"/>
                <a:sym typeface="Anton"/>
              </a:rPr>
              <a:t>Moran’s I</a:t>
            </a:r>
          </a:p>
        </p:txBody>
      </p:sp>
      <p:sp>
        <p:nvSpPr>
          <p:cNvPr id="9" name="TextBox 9"/>
          <p:cNvSpPr txBox="1"/>
          <p:nvPr/>
        </p:nvSpPr>
        <p:spPr>
          <a:xfrm>
            <a:off x="1028700" y="6741658"/>
            <a:ext cx="5179341" cy="1275990"/>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nchor="t">
            <a:spAutoFit/>
          </a:bodyPr>
          <a:lstStyle/>
          <a:p>
            <a:pPr algn="ctr">
              <a:lnSpc>
                <a:spcPts val="3359"/>
              </a:lnSpc>
              <a:spcBef>
                <a:spcPct val="0"/>
              </a:spcBef>
            </a:pPr>
            <a:r>
              <a:rPr lang="en-US" sz="2400" b="1" dirty="0">
                <a:solidFill>
                  <a:srgbClr val="000000"/>
                </a:solidFill>
                <a:latin typeface="Glacial Indifference"/>
                <a:ea typeface="Glacial Indifference"/>
                <a:cs typeface="Glacial Indifference"/>
                <a:sym typeface="Glacial Indifference"/>
              </a:rPr>
              <a:t>Libraries and methods:</a:t>
            </a:r>
          </a:p>
          <a:p>
            <a:pPr algn="ctr">
              <a:lnSpc>
                <a:spcPts val="3359"/>
              </a:lnSpc>
              <a:spcBef>
                <a:spcPct val="0"/>
              </a:spcBef>
            </a:pPr>
            <a:r>
              <a:rPr lang="en-US" sz="2400" dirty="0">
                <a:solidFill>
                  <a:srgbClr val="000000"/>
                </a:solidFill>
                <a:latin typeface="Glacial Indifference"/>
                <a:ea typeface="Glacial Indifference"/>
                <a:cs typeface="Glacial Indifference"/>
                <a:sym typeface="Glacial Indifference"/>
              </a:rPr>
              <a:t>from </a:t>
            </a:r>
            <a:r>
              <a:rPr lang="en-US" sz="2400" dirty="0" err="1">
                <a:solidFill>
                  <a:srgbClr val="000000"/>
                </a:solidFill>
                <a:latin typeface="Glacial Indifference"/>
                <a:ea typeface="Glacial Indifference"/>
                <a:cs typeface="Glacial Indifference"/>
                <a:sym typeface="Glacial Indifference"/>
              </a:rPr>
              <a:t>splot.esda</a:t>
            </a:r>
            <a:r>
              <a:rPr lang="en-US" sz="2400" dirty="0">
                <a:solidFill>
                  <a:srgbClr val="000000"/>
                </a:solidFill>
                <a:latin typeface="Glacial Indifference"/>
                <a:ea typeface="Glacial Indifference"/>
                <a:cs typeface="Glacial Indifference"/>
                <a:sym typeface="Glacial Indifference"/>
              </a:rPr>
              <a:t> import </a:t>
            </a:r>
            <a:r>
              <a:rPr lang="en-US" sz="2400" dirty="0" err="1">
                <a:solidFill>
                  <a:srgbClr val="000000"/>
                </a:solidFill>
                <a:latin typeface="Glacial Indifference"/>
                <a:ea typeface="Glacial Indifference"/>
                <a:cs typeface="Glacial Indifference"/>
                <a:sym typeface="Glacial Indifference"/>
              </a:rPr>
              <a:t>plot_moran</a:t>
            </a:r>
            <a:endParaRPr lang="en-US" sz="2400" dirty="0">
              <a:solidFill>
                <a:srgbClr val="000000"/>
              </a:solidFill>
              <a:latin typeface="Glacial Indifference"/>
              <a:ea typeface="Glacial Indifference"/>
              <a:cs typeface="Glacial Indifference"/>
              <a:sym typeface="Glacial Indifference"/>
            </a:endParaRPr>
          </a:p>
          <a:p>
            <a:pPr algn="ctr">
              <a:lnSpc>
                <a:spcPts val="3359"/>
              </a:lnSpc>
              <a:spcBef>
                <a:spcPct val="0"/>
              </a:spcBef>
            </a:pPr>
            <a:r>
              <a:rPr lang="en-US" sz="2400" dirty="0">
                <a:solidFill>
                  <a:srgbClr val="000000"/>
                </a:solidFill>
                <a:latin typeface="Glacial Indifference"/>
                <a:ea typeface="Glacial Indifference"/>
                <a:cs typeface="Glacial Indifference"/>
                <a:sym typeface="Glacial Indifference"/>
              </a:rPr>
              <a:t>import </a:t>
            </a:r>
            <a:r>
              <a:rPr lang="en-US" sz="2400" dirty="0" err="1">
                <a:solidFill>
                  <a:srgbClr val="000000"/>
                </a:solidFill>
                <a:latin typeface="Glacial Indifference"/>
                <a:ea typeface="Glacial Indifference"/>
                <a:cs typeface="Glacial Indifference"/>
                <a:sym typeface="Glacial Indifference"/>
              </a:rPr>
              <a:t>contextily</a:t>
            </a:r>
            <a:endParaRPr lang="en-US" sz="2400" dirty="0">
              <a:solidFill>
                <a:srgbClr val="000000"/>
              </a:solidFill>
              <a:latin typeface="Glacial Indifference"/>
              <a:ea typeface="Glacial Indifference"/>
              <a:cs typeface="Glacial Indifference"/>
              <a:sym typeface="Glacial Indifference"/>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547803A-EF7A-69D8-2E2B-34D4BFC4838F}"/>
                  </a:ext>
                </a:extLst>
              </p:cNvPr>
              <p:cNvSpPr txBox="1"/>
              <p:nvPr/>
            </p:nvSpPr>
            <p:spPr>
              <a:xfrm>
                <a:off x="4167187" y="5081193"/>
                <a:ext cx="9144000" cy="964367"/>
              </a:xfrm>
              <a:prstGeom prst="rect">
                <a:avLst/>
              </a:prstGeom>
              <a:noFill/>
            </p:spPr>
            <p:txBody>
              <a:bodyPr wrap="square">
                <a:spAutoFit/>
              </a:bodyPr>
              <a:lstStyle/>
              <a:p>
                <a:pPr algn="ctr">
                  <a:lnSpc>
                    <a:spcPts val="3359"/>
                  </a:lnSpc>
                  <a:spcBef>
                    <a:spcPct val="0"/>
                  </a:spcBef>
                </a:pPr>
                <a14:m>
                  <m:oMathPara xmlns:m="http://schemas.openxmlformats.org/officeDocument/2006/math">
                    <m:oMathParaPr>
                      <m:jc m:val="centerGroup"/>
                    </m:oMathParaPr>
                    <m:oMath xmlns:m="http://schemas.openxmlformats.org/officeDocument/2006/math">
                      <m:sSub>
                        <m:sSubPr>
                          <m:ctrlPr>
                            <a:rPr lang="en-US" sz="3200" i="1" dirty="0" smtClean="0">
                              <a:solidFill>
                                <a:srgbClr val="000000"/>
                              </a:solidFill>
                              <a:latin typeface="Cambria Math" panose="02040503050406030204" pitchFamily="18" charset="0"/>
                              <a:ea typeface="Glacial Indifference"/>
                              <a:cs typeface="Glacial Indifference"/>
                              <a:sym typeface="Glacial Indifference"/>
                            </a:rPr>
                          </m:ctrlPr>
                        </m:sSubPr>
                        <m:e>
                          <m:r>
                            <a:rPr lang="en-US" sz="3200" i="1" dirty="0" smtClean="0">
                              <a:solidFill>
                                <a:srgbClr val="000000"/>
                              </a:solidFill>
                              <a:latin typeface="Cambria Math" panose="02040503050406030204" pitchFamily="18" charset="0"/>
                              <a:ea typeface="Glacial Indifference"/>
                              <a:cs typeface="Glacial Indifference"/>
                              <a:sym typeface="Glacial Indifference"/>
                            </a:rPr>
                            <m:t>𝐻</m:t>
                          </m:r>
                        </m:e>
                        <m:sub>
                          <m:r>
                            <a:rPr lang="en-US" sz="3200" i="1" dirty="0">
                              <a:solidFill>
                                <a:srgbClr val="000000"/>
                              </a:solidFill>
                              <a:latin typeface="Cambria Math" panose="02040503050406030204" pitchFamily="18" charset="0"/>
                              <a:ea typeface="Glacial Indifference"/>
                              <a:cs typeface="Glacial Indifference"/>
                              <a:sym typeface="Glacial Indifference"/>
                            </a:rPr>
                            <m:t>1</m:t>
                          </m:r>
                        </m:sub>
                      </m:sSub>
                      <m:r>
                        <a:rPr lang="en-US" sz="3200" i="1" dirty="0" smtClean="0">
                          <a:solidFill>
                            <a:srgbClr val="000000"/>
                          </a:solidFill>
                          <a:latin typeface="Cambria Math" panose="02040503050406030204" pitchFamily="18" charset="0"/>
                          <a:ea typeface="Glacial Indifference"/>
                          <a:cs typeface="Glacial Indifference"/>
                          <a:sym typeface="Glacial Indifference"/>
                        </a:rPr>
                        <m:t> </m:t>
                      </m:r>
                      <m:r>
                        <a:rPr lang="en-IN" sz="3200" b="0" i="1" dirty="0" smtClean="0">
                          <a:solidFill>
                            <a:srgbClr val="000000"/>
                          </a:solidFill>
                          <a:latin typeface="Cambria Math" panose="02040503050406030204" pitchFamily="18" charset="0"/>
                          <a:ea typeface="Glacial Indifference"/>
                          <a:cs typeface="Glacial Indifference"/>
                          <a:sym typeface="Glacial Indifference"/>
                        </a:rPr>
                        <m:t> </m:t>
                      </m:r>
                      <m:r>
                        <a:rPr lang="en-US" sz="3200" i="1" dirty="0">
                          <a:solidFill>
                            <a:srgbClr val="000000"/>
                          </a:solidFill>
                          <a:latin typeface="Cambria Math" panose="02040503050406030204" pitchFamily="18" charset="0"/>
                          <a:ea typeface="Glacial Indifference"/>
                          <a:cs typeface="Glacial Indifference"/>
                          <a:sym typeface="Glacial Indifference"/>
                        </a:rPr>
                        <m:t>: </m:t>
                      </m:r>
                      <m:r>
                        <a:rPr lang="en-US" sz="3200" i="1" dirty="0">
                          <a:solidFill>
                            <a:srgbClr val="000000"/>
                          </a:solidFill>
                          <a:latin typeface="Cambria Math" panose="02040503050406030204" pitchFamily="18" charset="0"/>
                          <a:ea typeface="Glacial Indifference"/>
                          <a:cs typeface="Glacial Indifference"/>
                          <a:sym typeface="Glacial Indifference"/>
                        </a:rPr>
                        <m:t>𝐼</m:t>
                      </m:r>
                      <m:r>
                        <a:rPr lang="en-US" sz="3200" i="1" dirty="0">
                          <a:solidFill>
                            <a:srgbClr val="000000"/>
                          </a:solidFill>
                          <a:latin typeface="Cambria Math" panose="02040503050406030204" pitchFamily="18" charset="0"/>
                          <a:ea typeface="Glacial Indifference"/>
                          <a:cs typeface="Glacial Indifference"/>
                          <a:sym typeface="Glacial Indifference"/>
                        </a:rPr>
                        <m:t> !≠ </m:t>
                      </m:r>
                      <m:r>
                        <a:rPr lang="en-US" sz="3200" i="1" dirty="0">
                          <a:solidFill>
                            <a:srgbClr val="000000"/>
                          </a:solidFill>
                          <a:latin typeface="Cambria Math" panose="02040503050406030204" pitchFamily="18" charset="0"/>
                          <a:ea typeface="Glacial Indifference"/>
                          <a:cs typeface="Glacial Indifference"/>
                          <a:sym typeface="Glacial Indifference"/>
                        </a:rPr>
                        <m:t>𝐸</m:t>
                      </m:r>
                      <m:r>
                        <a:rPr lang="en-US" sz="3200" i="1" dirty="0">
                          <a:solidFill>
                            <a:srgbClr val="000000"/>
                          </a:solidFill>
                          <a:latin typeface="Cambria Math" panose="02040503050406030204" pitchFamily="18" charset="0"/>
                          <a:ea typeface="Glacial Indifference"/>
                          <a:cs typeface="Glacial Indifference"/>
                          <a:sym typeface="Glacial Indifference"/>
                        </a:rPr>
                        <m:t>[</m:t>
                      </m:r>
                      <m:r>
                        <a:rPr lang="en-US" sz="3200" i="1" dirty="0">
                          <a:solidFill>
                            <a:srgbClr val="000000"/>
                          </a:solidFill>
                          <a:latin typeface="Cambria Math" panose="02040503050406030204" pitchFamily="18" charset="0"/>
                          <a:ea typeface="Glacial Indifference"/>
                          <a:cs typeface="Glacial Indifference"/>
                          <a:sym typeface="Glacial Indifference"/>
                        </a:rPr>
                        <m:t>𝐼</m:t>
                      </m:r>
                      <m:r>
                        <a:rPr lang="en-US" sz="3200" i="1" dirty="0">
                          <a:solidFill>
                            <a:srgbClr val="000000"/>
                          </a:solidFill>
                          <a:latin typeface="Cambria Math" panose="02040503050406030204" pitchFamily="18" charset="0"/>
                          <a:ea typeface="Glacial Indifference"/>
                          <a:cs typeface="Glacial Indifference"/>
                          <a:sym typeface="Glacial Indifference"/>
                        </a:rPr>
                        <m:t>] (</m:t>
                      </m:r>
                      <m:r>
                        <a:rPr lang="en-US" sz="3200" i="1" dirty="0" smtClean="0">
                          <a:solidFill>
                            <a:srgbClr val="000000"/>
                          </a:solidFill>
                          <a:latin typeface="Cambria Math" panose="02040503050406030204" pitchFamily="18" charset="0"/>
                          <a:ea typeface="Glacial Indifference"/>
                          <a:cs typeface="Glacial Indifference"/>
                          <a:sym typeface="Glacial Indifference"/>
                        </a:rPr>
                        <m:t>𝑠𝑝𝑎𝑡𝑖𝑎𝑙</m:t>
                      </m:r>
                      <m:r>
                        <a:rPr lang="en-US" sz="3200" i="1" dirty="0" smtClean="0">
                          <a:solidFill>
                            <a:srgbClr val="000000"/>
                          </a:solidFill>
                          <a:latin typeface="Cambria Math" panose="02040503050406030204" pitchFamily="18" charset="0"/>
                          <a:ea typeface="Glacial Indifference"/>
                          <a:cs typeface="Glacial Indifference"/>
                          <a:sym typeface="Glacial Indifference"/>
                        </a:rPr>
                        <m:t> </m:t>
                      </m:r>
                      <m:r>
                        <a:rPr lang="en-US" sz="3200" i="1" dirty="0">
                          <a:solidFill>
                            <a:srgbClr val="000000"/>
                          </a:solidFill>
                          <a:latin typeface="Cambria Math" panose="02040503050406030204" pitchFamily="18" charset="0"/>
                          <a:ea typeface="Glacial Indifference"/>
                          <a:cs typeface="Glacial Indifference"/>
                          <a:sym typeface="Glacial Indifference"/>
                        </a:rPr>
                        <m:t>𝑎𝑢𝑡𝑜𝑐𝑜𝑟𝑟𝑒𝑙𝑎𝑡𝑖𝑜𝑛</m:t>
                      </m:r>
                      <m:r>
                        <a:rPr lang="en-US" sz="3200" i="1" dirty="0">
                          <a:solidFill>
                            <a:srgbClr val="000000"/>
                          </a:solidFill>
                          <a:latin typeface="Cambria Math" panose="02040503050406030204" pitchFamily="18" charset="0"/>
                          <a:ea typeface="Glacial Indifference"/>
                          <a:cs typeface="Glacial Indifference"/>
                          <a:sym typeface="Glacial Indifference"/>
                        </a:rPr>
                        <m:t>)</m:t>
                      </m:r>
                      <m:sSub>
                        <m:sSubPr>
                          <m:ctrlPr>
                            <a:rPr lang="en-US" sz="3200" i="1" dirty="0" smtClean="0">
                              <a:solidFill>
                                <a:srgbClr val="000000"/>
                              </a:solidFill>
                              <a:latin typeface="Cambria Math" panose="02040503050406030204" pitchFamily="18" charset="0"/>
                              <a:ea typeface="Glacial Indifference"/>
                              <a:cs typeface="Glacial Indifference"/>
                              <a:sym typeface="Glacial Indifference"/>
                            </a:rPr>
                          </m:ctrlPr>
                        </m:sSubPr>
                        <m:e>
                          <m:r>
                            <a:rPr lang="en-US" sz="3200" i="1" dirty="0" smtClean="0">
                              <a:solidFill>
                                <a:srgbClr val="000000"/>
                              </a:solidFill>
                              <a:latin typeface="Cambria Math" panose="02040503050406030204" pitchFamily="18" charset="0"/>
                              <a:ea typeface="Glacial Indifference"/>
                              <a:cs typeface="Glacial Indifference"/>
                              <a:sym typeface="Glacial Indifference"/>
                            </a:rPr>
                            <m:t>𝐻</m:t>
                          </m:r>
                        </m:e>
                        <m:sub>
                          <m:r>
                            <a:rPr lang="en-US" sz="3200" i="1" dirty="0" smtClean="0">
                              <a:solidFill>
                                <a:srgbClr val="000000"/>
                              </a:solidFill>
                              <a:latin typeface="Cambria Math" panose="02040503050406030204" pitchFamily="18" charset="0"/>
                              <a:ea typeface="Glacial Indifference"/>
                              <a:cs typeface="Glacial Indifference"/>
                              <a:sym typeface="Glacial Indifference"/>
                            </a:rPr>
                            <m:t>0</m:t>
                          </m:r>
                        </m:sub>
                      </m:sSub>
                      <m:r>
                        <a:rPr lang="en-US" sz="3200" i="1" dirty="0" smtClean="0">
                          <a:solidFill>
                            <a:srgbClr val="000000"/>
                          </a:solidFill>
                          <a:latin typeface="Cambria Math" panose="02040503050406030204" pitchFamily="18" charset="0"/>
                          <a:ea typeface="Glacial Indifference"/>
                          <a:cs typeface="Glacial Indifference"/>
                          <a:sym typeface="Glacial Indifference"/>
                        </a:rPr>
                        <m:t>: </m:t>
                      </m:r>
                      <m:r>
                        <a:rPr lang="en-US" sz="3200" i="1" dirty="0" smtClean="0">
                          <a:solidFill>
                            <a:srgbClr val="000000"/>
                          </a:solidFill>
                          <a:latin typeface="Cambria Math" panose="02040503050406030204" pitchFamily="18" charset="0"/>
                          <a:ea typeface="Glacial Indifference"/>
                          <a:cs typeface="Glacial Indifference"/>
                          <a:sym typeface="Glacial Indifference"/>
                        </a:rPr>
                        <m:t>𝐼</m:t>
                      </m:r>
                      <m:r>
                        <a:rPr lang="en-US" sz="3200" i="1" dirty="0" smtClean="0">
                          <a:solidFill>
                            <a:srgbClr val="000000"/>
                          </a:solidFill>
                          <a:latin typeface="Cambria Math" panose="02040503050406030204" pitchFamily="18" charset="0"/>
                          <a:ea typeface="Glacial Indifference"/>
                          <a:cs typeface="Glacial Indifference"/>
                          <a:sym typeface="Glacial Indifference"/>
                        </a:rPr>
                        <m:t> = </m:t>
                      </m:r>
                      <m:r>
                        <a:rPr lang="en-US" sz="3200" i="1" dirty="0" smtClean="0">
                          <a:solidFill>
                            <a:srgbClr val="000000"/>
                          </a:solidFill>
                          <a:latin typeface="Cambria Math" panose="02040503050406030204" pitchFamily="18" charset="0"/>
                          <a:ea typeface="Glacial Indifference"/>
                          <a:cs typeface="Glacial Indifference"/>
                          <a:sym typeface="Glacial Indifference"/>
                        </a:rPr>
                        <m:t>𝐸</m:t>
                      </m:r>
                      <m:r>
                        <a:rPr lang="en-US" sz="3200" i="1" dirty="0" smtClean="0">
                          <a:solidFill>
                            <a:srgbClr val="000000"/>
                          </a:solidFill>
                          <a:latin typeface="Cambria Math" panose="02040503050406030204" pitchFamily="18" charset="0"/>
                          <a:ea typeface="Glacial Indifference"/>
                          <a:cs typeface="Glacial Indifference"/>
                          <a:sym typeface="Glacial Indifference"/>
                        </a:rPr>
                        <m:t>[</m:t>
                      </m:r>
                      <m:r>
                        <a:rPr lang="en-US" sz="3200" i="1" dirty="0" smtClean="0">
                          <a:solidFill>
                            <a:srgbClr val="000000"/>
                          </a:solidFill>
                          <a:latin typeface="Cambria Math" panose="02040503050406030204" pitchFamily="18" charset="0"/>
                          <a:ea typeface="Glacial Indifference"/>
                          <a:cs typeface="Glacial Indifference"/>
                          <a:sym typeface="Glacial Indifference"/>
                        </a:rPr>
                        <m:t>𝐼</m:t>
                      </m:r>
                      <m:r>
                        <a:rPr lang="en-US" sz="3200" i="1" dirty="0" smtClean="0">
                          <a:solidFill>
                            <a:srgbClr val="000000"/>
                          </a:solidFill>
                          <a:latin typeface="Cambria Math" panose="02040503050406030204" pitchFamily="18" charset="0"/>
                          <a:ea typeface="Glacial Indifference"/>
                          <a:cs typeface="Glacial Indifference"/>
                          <a:sym typeface="Glacial Indifference"/>
                        </a:rPr>
                        <m:t>] (</m:t>
                      </m:r>
                      <m:r>
                        <a:rPr lang="en-US" sz="3200" i="1" dirty="0" smtClean="0">
                          <a:solidFill>
                            <a:srgbClr val="000000"/>
                          </a:solidFill>
                          <a:latin typeface="Cambria Math" panose="02040503050406030204" pitchFamily="18" charset="0"/>
                          <a:ea typeface="Glacial Indifference"/>
                          <a:cs typeface="Glacial Indifference"/>
                          <a:sym typeface="Glacial Indifference"/>
                        </a:rPr>
                        <m:t>𝑛𝑜</m:t>
                      </m:r>
                      <m:r>
                        <a:rPr lang="en-US" sz="3200" i="1" dirty="0" smtClean="0">
                          <a:solidFill>
                            <a:srgbClr val="000000"/>
                          </a:solidFill>
                          <a:latin typeface="Cambria Math" panose="02040503050406030204" pitchFamily="18" charset="0"/>
                          <a:ea typeface="Glacial Indifference"/>
                          <a:cs typeface="Glacial Indifference"/>
                          <a:sym typeface="Glacial Indifference"/>
                        </a:rPr>
                        <m:t> </m:t>
                      </m:r>
                      <m:r>
                        <a:rPr lang="en-US" sz="3200" i="1" dirty="0" smtClean="0">
                          <a:solidFill>
                            <a:srgbClr val="000000"/>
                          </a:solidFill>
                          <a:latin typeface="Cambria Math" panose="02040503050406030204" pitchFamily="18" charset="0"/>
                          <a:ea typeface="Glacial Indifference"/>
                          <a:cs typeface="Glacial Indifference"/>
                          <a:sym typeface="Glacial Indifference"/>
                        </a:rPr>
                        <m:t>𝑠𝑝𝑎𝑡𝑖𝑎𝑙</m:t>
                      </m:r>
                      <m:r>
                        <a:rPr lang="en-US" sz="3200" i="1" dirty="0" smtClean="0">
                          <a:solidFill>
                            <a:srgbClr val="000000"/>
                          </a:solidFill>
                          <a:latin typeface="Cambria Math" panose="02040503050406030204" pitchFamily="18" charset="0"/>
                          <a:ea typeface="Glacial Indifference"/>
                          <a:cs typeface="Glacial Indifference"/>
                          <a:sym typeface="Glacial Indifference"/>
                        </a:rPr>
                        <m:t> </m:t>
                      </m:r>
                      <m:r>
                        <a:rPr lang="en-US" sz="3200" i="1" dirty="0" smtClean="0">
                          <a:solidFill>
                            <a:srgbClr val="000000"/>
                          </a:solidFill>
                          <a:latin typeface="Cambria Math" panose="02040503050406030204" pitchFamily="18" charset="0"/>
                          <a:ea typeface="Glacial Indifference"/>
                          <a:cs typeface="Glacial Indifference"/>
                          <a:sym typeface="Glacial Indifference"/>
                        </a:rPr>
                        <m:t>𝑎𝑢𝑡𝑜𝑐𝑜𝑟𝑟𝑒𝑙𝑎𝑡𝑖𝑜𝑛</m:t>
                      </m:r>
                      <m:r>
                        <a:rPr lang="en-US" sz="3200" i="1" dirty="0" smtClean="0">
                          <a:solidFill>
                            <a:srgbClr val="000000"/>
                          </a:solidFill>
                          <a:latin typeface="Cambria Math" panose="02040503050406030204" pitchFamily="18" charset="0"/>
                          <a:ea typeface="Glacial Indifference"/>
                          <a:cs typeface="Glacial Indifference"/>
                          <a:sym typeface="Glacial Indifference"/>
                        </a:rPr>
                        <m:t>)</m:t>
                      </m:r>
                    </m:oMath>
                  </m:oMathPara>
                </a14:m>
                <a:endParaRPr/>
              </a:p>
              <a:p>
                <a:pPr algn="ctr">
                  <a:lnSpc>
                    <a:spcPts val="3359"/>
                  </a:lnSpc>
                  <a:spcBef>
                    <a:spcPct val="0"/>
                  </a:spcBef>
                </a:pPr>
                <a:endParaRPr/>
              </a:p>
            </p:txBody>
          </p:sp>
        </mc:Choice>
        <mc:Fallback xmlns="">
          <p:sp>
            <p:nvSpPr>
              <p:cNvPr id="13" name="TextBox 12">
                <a:extLst>
                  <a:ext uri="{FF2B5EF4-FFF2-40B4-BE49-F238E27FC236}">
                    <a16:creationId xmlns:a16="http://schemas.microsoft.com/office/drawing/2014/main" id="{4547803A-EF7A-69D8-2E2B-34D4BFC4838F}"/>
                  </a:ext>
                </a:extLst>
              </p:cNvPr>
              <p:cNvSpPr txBox="1">
                <a:spLocks noRot="1" noChangeAspect="1" noMove="1" noResize="1" noEditPoints="1" noAdjustHandles="1" noChangeArrowheads="1" noChangeShapeType="1" noTextEdit="1"/>
              </p:cNvSpPr>
              <p:nvPr/>
            </p:nvSpPr>
            <p:spPr>
              <a:xfrm>
                <a:off x="4167187" y="5081193"/>
                <a:ext cx="9144000" cy="964367"/>
              </a:xfrm>
              <a:prstGeom prst="rect">
                <a:avLst/>
              </a:prstGeom>
              <a:blipFill>
                <a:blip r:embed="rId4"/>
                <a:stretch>
                  <a:fillRect/>
                </a:stretch>
              </a:blipFill>
            </p:spPr>
            <p:txBody>
              <a:bodyPr/>
              <a:lstStyle/>
              <a:p>
                <a:r>
                  <a:rPr lang="en-IN">
                    <a:noFill/>
                  </a:rPr>
                  <a:t> </a:t>
                </a:r>
              </a:p>
            </p:txBody>
          </p:sp>
        </mc:Fallback>
      </mc:AlternateContent>
      <p:sp>
        <p:nvSpPr>
          <p:cNvPr id="15" name="TextBox 14">
            <a:extLst>
              <a:ext uri="{FF2B5EF4-FFF2-40B4-BE49-F238E27FC236}">
                <a16:creationId xmlns:a16="http://schemas.microsoft.com/office/drawing/2014/main" id="{47FAE0DD-B3C9-8ED6-3F02-05C7339F6BBC}"/>
              </a:ext>
            </a:extLst>
          </p:cNvPr>
          <p:cNvSpPr txBox="1"/>
          <p:nvPr/>
        </p:nvSpPr>
        <p:spPr>
          <a:xfrm>
            <a:off x="7696200" y="6945055"/>
            <a:ext cx="9144000" cy="2551339"/>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ctr">
              <a:lnSpc>
                <a:spcPts val="4937"/>
              </a:lnSpc>
              <a:spcBef>
                <a:spcPct val="0"/>
              </a:spcBef>
            </a:pPr>
            <a:r>
              <a:rPr lang="en-US" sz="3600" dirty="0">
                <a:solidFill>
                  <a:srgbClr val="000000"/>
                </a:solidFill>
                <a:latin typeface="Glacial Indifference"/>
                <a:ea typeface="Glacial Indifference"/>
                <a:cs typeface="Glacial Indifference"/>
                <a:sym typeface="Glacial Indifference"/>
              </a:rPr>
              <a:t>Results : Global Moran's I for AQI: -0.1713</a:t>
            </a:r>
          </a:p>
          <a:p>
            <a:pPr algn="ctr">
              <a:lnSpc>
                <a:spcPts val="4937"/>
              </a:lnSpc>
              <a:spcBef>
                <a:spcPct val="0"/>
              </a:spcBef>
            </a:pPr>
            <a:r>
              <a:rPr lang="en-US" sz="3600" dirty="0">
                <a:solidFill>
                  <a:srgbClr val="000000"/>
                </a:solidFill>
                <a:latin typeface="Glacial Indifference"/>
                <a:ea typeface="Glacial Indifference"/>
                <a:cs typeface="Glacial Indifference"/>
                <a:sym typeface="Glacial Indifference"/>
              </a:rPr>
              <a:t>P-value (two-sided): 0.4110</a:t>
            </a:r>
          </a:p>
          <a:p>
            <a:pPr algn="ctr">
              <a:lnSpc>
                <a:spcPts val="4937"/>
              </a:lnSpc>
              <a:spcBef>
                <a:spcPct val="0"/>
              </a:spcBef>
            </a:pPr>
            <a:r>
              <a:rPr lang="en-US" sz="3600" dirty="0">
                <a:solidFill>
                  <a:srgbClr val="000000"/>
                </a:solidFill>
                <a:latin typeface="Glacial Indifference"/>
                <a:ea typeface="Glacial Indifference"/>
                <a:cs typeface="Glacial Indifference"/>
                <a:sym typeface="Glacial Indifference"/>
              </a:rPr>
              <a:t>There is no statistically significant global spatial autocorrelation of AQI </a:t>
            </a:r>
          </a:p>
        </p:txBody>
      </p:sp>
      <p:sp>
        <p:nvSpPr>
          <p:cNvPr id="17" name="TextBox 16">
            <a:extLst>
              <a:ext uri="{FF2B5EF4-FFF2-40B4-BE49-F238E27FC236}">
                <a16:creationId xmlns:a16="http://schemas.microsoft.com/office/drawing/2014/main" id="{376D27ED-DE96-9254-95A4-144FBAF5D42A}"/>
              </a:ext>
            </a:extLst>
          </p:cNvPr>
          <p:cNvSpPr txBox="1"/>
          <p:nvPr/>
        </p:nvSpPr>
        <p:spPr>
          <a:xfrm>
            <a:off x="1295400" y="4470456"/>
            <a:ext cx="7696200" cy="738664"/>
          </a:xfrm>
          <a:prstGeom prst="rect">
            <a:avLst/>
          </a:prstGeom>
          <a:noFill/>
        </p:spPr>
        <p:txBody>
          <a:bodyPr wrap="square">
            <a:spAutoFit/>
          </a:bodyPr>
          <a:lstStyle/>
          <a:p>
            <a:r>
              <a:rPr lang="en-GB" sz="1400" b="0" i="0" dirty="0">
                <a:solidFill>
                  <a:srgbClr val="212529"/>
                </a:solidFill>
                <a:effectLst/>
                <a:latin typeface="MJXc-TeX-math-I"/>
              </a:rPr>
              <a:t>Yi</a:t>
            </a:r>
            <a:r>
              <a:rPr lang="en-GB" sz="1400" b="0" i="0" dirty="0">
                <a:solidFill>
                  <a:srgbClr val="212529"/>
                </a:solidFill>
                <a:effectLst/>
                <a:latin typeface="-apple-system"/>
              </a:rPr>
              <a:t> is the observed value of the variable of interest in region </a:t>
            </a:r>
            <a:r>
              <a:rPr lang="en-GB" sz="1400" b="0" i="0" dirty="0" err="1">
                <a:solidFill>
                  <a:srgbClr val="212529"/>
                </a:solidFill>
                <a:effectLst/>
                <a:latin typeface="MJXc-TeX-math-I"/>
              </a:rPr>
              <a:t>i</a:t>
            </a:r>
            <a:r>
              <a:rPr lang="en-GB" sz="1400" b="0" i="0" dirty="0">
                <a:solidFill>
                  <a:srgbClr val="212529"/>
                </a:solidFill>
                <a:effectLst/>
                <a:latin typeface="-apple-system"/>
              </a:rPr>
              <a:t>, and </a:t>
            </a:r>
            <a:r>
              <a:rPr lang="en-GB" sz="1400" b="0" i="0" dirty="0">
                <a:solidFill>
                  <a:srgbClr val="212529"/>
                </a:solidFill>
                <a:effectLst/>
                <a:latin typeface="MJXc-TeX-main-R"/>
              </a:rPr>
              <a:t>¯</a:t>
            </a:r>
            <a:r>
              <a:rPr lang="en-GB" sz="1400" b="0" i="0" dirty="0">
                <a:solidFill>
                  <a:srgbClr val="212529"/>
                </a:solidFill>
                <a:effectLst/>
                <a:latin typeface="MJXc-TeX-math-I"/>
              </a:rPr>
              <a:t>Y</a:t>
            </a:r>
            <a:r>
              <a:rPr lang="en-GB" sz="1400" b="0" i="0" dirty="0">
                <a:solidFill>
                  <a:srgbClr val="212529"/>
                </a:solidFill>
                <a:effectLst/>
                <a:latin typeface="-apple-system"/>
              </a:rPr>
              <a:t> is the mean of all values. </a:t>
            </a:r>
            <a:r>
              <a:rPr lang="en-GB" sz="1400" b="0" i="0" dirty="0" err="1">
                <a:solidFill>
                  <a:srgbClr val="212529"/>
                </a:solidFill>
                <a:effectLst/>
                <a:latin typeface="MJXc-TeX-math-I"/>
              </a:rPr>
              <a:t>wij</a:t>
            </a:r>
            <a:r>
              <a:rPr lang="en-GB" sz="1400" b="0" i="0" dirty="0">
                <a:solidFill>
                  <a:srgbClr val="212529"/>
                </a:solidFill>
                <a:effectLst/>
                <a:latin typeface="-apple-system"/>
              </a:rPr>
              <a:t> are spatial weights that denote the spatial proximity between regions </a:t>
            </a:r>
            <a:r>
              <a:rPr lang="en-GB" sz="1400" b="0" i="0" dirty="0" err="1">
                <a:solidFill>
                  <a:srgbClr val="212529"/>
                </a:solidFill>
                <a:effectLst/>
                <a:latin typeface="MJXc-TeX-math-I"/>
              </a:rPr>
              <a:t>i</a:t>
            </a:r>
            <a:r>
              <a:rPr lang="en-GB" sz="1400" b="0" i="0" dirty="0">
                <a:solidFill>
                  <a:srgbClr val="212529"/>
                </a:solidFill>
                <a:effectLst/>
                <a:latin typeface="-apple-system"/>
              </a:rPr>
              <a:t> and </a:t>
            </a:r>
            <a:r>
              <a:rPr lang="en-GB" sz="1400" b="0" i="0" dirty="0">
                <a:solidFill>
                  <a:srgbClr val="212529"/>
                </a:solidFill>
                <a:effectLst/>
                <a:latin typeface="MJXc-TeX-math-I"/>
              </a:rPr>
              <a:t>j</a:t>
            </a:r>
            <a:r>
              <a:rPr lang="en-GB" sz="1400" b="0" i="0" dirty="0">
                <a:solidFill>
                  <a:srgbClr val="212529"/>
                </a:solidFill>
                <a:effectLst/>
                <a:latin typeface="-apple-system"/>
              </a:rPr>
              <a:t>, </a:t>
            </a:r>
            <a:r>
              <a:rPr lang="en-GB" sz="1200" b="0" i="0" dirty="0">
                <a:solidFill>
                  <a:srgbClr val="212529"/>
                </a:solidFill>
                <a:effectLst/>
                <a:latin typeface="-apple-system"/>
              </a:rPr>
              <a:t>with</a:t>
            </a:r>
            <a:r>
              <a:rPr lang="en-GB" sz="1400" b="0" i="0" dirty="0">
                <a:solidFill>
                  <a:srgbClr val="212529"/>
                </a:solidFill>
                <a:effectLst/>
                <a:latin typeface="-apple-system"/>
              </a:rPr>
              <a:t> </a:t>
            </a:r>
            <a:r>
              <a:rPr lang="en-GB" sz="1400" b="0" i="0" dirty="0" err="1">
                <a:solidFill>
                  <a:srgbClr val="212529"/>
                </a:solidFill>
                <a:effectLst/>
                <a:latin typeface="MJXc-TeX-math-I"/>
              </a:rPr>
              <a:t>wii</a:t>
            </a:r>
            <a:r>
              <a:rPr lang="en-GB" sz="1400" b="0" i="0" dirty="0">
                <a:solidFill>
                  <a:srgbClr val="212529"/>
                </a:solidFill>
                <a:effectLst/>
                <a:latin typeface="MJXc-TeX-main-R"/>
              </a:rPr>
              <a:t>=0</a:t>
            </a:r>
            <a:r>
              <a:rPr lang="en-GB" sz="1400" b="0" i="0" dirty="0">
                <a:solidFill>
                  <a:srgbClr val="212529"/>
                </a:solidFill>
                <a:effectLst/>
                <a:latin typeface="-apple-system"/>
              </a:rPr>
              <a:t> and </a:t>
            </a:r>
            <a:r>
              <a:rPr lang="en-GB" sz="1400" b="0" i="0" dirty="0" err="1">
                <a:solidFill>
                  <a:srgbClr val="212529"/>
                </a:solidFill>
                <a:effectLst/>
                <a:latin typeface="MJXc-TeX-math-I"/>
              </a:rPr>
              <a:t>i</a:t>
            </a:r>
            <a:r>
              <a:rPr lang="en-GB" sz="1400" b="0" i="0" dirty="0" err="1">
                <a:solidFill>
                  <a:srgbClr val="212529"/>
                </a:solidFill>
                <a:effectLst/>
                <a:latin typeface="MJXc-TeX-main-R"/>
              </a:rPr>
              <a:t>,</a:t>
            </a:r>
            <a:r>
              <a:rPr lang="en-GB" sz="1400" b="0" i="0" dirty="0" err="1">
                <a:solidFill>
                  <a:srgbClr val="212529"/>
                </a:solidFill>
                <a:effectLst/>
                <a:latin typeface="MJXc-TeX-math-I"/>
              </a:rPr>
              <a:t>j</a:t>
            </a:r>
            <a:r>
              <a:rPr lang="en-GB" sz="1400" b="0" i="0" dirty="0">
                <a:solidFill>
                  <a:srgbClr val="212529"/>
                </a:solidFill>
                <a:effectLst/>
                <a:latin typeface="MJXc-TeX-main-R"/>
              </a:rPr>
              <a:t>=1,…,</a:t>
            </a:r>
            <a:r>
              <a:rPr lang="en-GB" sz="1400" b="0" i="0" dirty="0">
                <a:solidFill>
                  <a:srgbClr val="212529"/>
                </a:solidFill>
                <a:effectLst/>
                <a:latin typeface="MJXc-TeX-math-I"/>
              </a:rPr>
              <a:t>n</a:t>
            </a:r>
            <a:br>
              <a:rPr lang="en-GB" sz="1400" dirty="0"/>
            </a:br>
            <a:endParaRPr lang="en-IN"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047427" y="2640002"/>
            <a:ext cx="6800366" cy="1600200"/>
          </a:xfrm>
          <a:custGeom>
            <a:avLst/>
            <a:gdLst/>
            <a:ahLst/>
            <a:cxnLst/>
            <a:rect l="l" t="t" r="r" b="b"/>
            <a:pathLst>
              <a:path w="10056737" h="2667222">
                <a:moveTo>
                  <a:pt x="0" y="0"/>
                </a:moveTo>
                <a:lnTo>
                  <a:pt x="10056737" y="0"/>
                </a:lnTo>
                <a:lnTo>
                  <a:pt x="10056737" y="2667221"/>
                </a:lnTo>
                <a:lnTo>
                  <a:pt x="0" y="2667221"/>
                </a:lnTo>
                <a:lnTo>
                  <a:pt x="0" y="0"/>
                </a:lnTo>
                <a:close/>
              </a:path>
            </a:pathLst>
          </a:custGeom>
          <a:blipFill>
            <a:blip r:embed="rId2"/>
            <a:stretch>
              <a:fillRect/>
            </a:stretch>
          </a:blipFill>
        </p:spPr>
      </p:sp>
      <p:sp>
        <p:nvSpPr>
          <p:cNvPr id="6" name="Freeform 6"/>
          <p:cNvSpPr/>
          <p:nvPr/>
        </p:nvSpPr>
        <p:spPr>
          <a:xfrm>
            <a:off x="10134600" y="2708733"/>
            <a:ext cx="7544495" cy="5673557"/>
          </a:xfrm>
          <a:custGeom>
            <a:avLst/>
            <a:gdLst/>
            <a:ahLst/>
            <a:cxnLst/>
            <a:rect l="l" t="t" r="r" b="b"/>
            <a:pathLst>
              <a:path w="7544495" h="5673557">
                <a:moveTo>
                  <a:pt x="0" y="0"/>
                </a:moveTo>
                <a:lnTo>
                  <a:pt x="7544495" y="0"/>
                </a:lnTo>
                <a:lnTo>
                  <a:pt x="7544495" y="5673557"/>
                </a:lnTo>
                <a:lnTo>
                  <a:pt x="0" y="5673557"/>
                </a:lnTo>
                <a:lnTo>
                  <a:pt x="0" y="0"/>
                </a:lnTo>
                <a:close/>
              </a:path>
            </a:pathLst>
          </a:custGeom>
          <a:blipFill>
            <a:blip r:embed="rId3"/>
            <a:stretch>
              <a:fillRect/>
            </a:stretch>
          </a:blipFill>
        </p:spPr>
      </p:sp>
      <p:sp>
        <p:nvSpPr>
          <p:cNvPr id="7" name="TextBox 7"/>
          <p:cNvSpPr txBox="1"/>
          <p:nvPr/>
        </p:nvSpPr>
        <p:spPr>
          <a:xfrm>
            <a:off x="1502759" y="1027430"/>
            <a:ext cx="12688898" cy="2228215"/>
          </a:xfrm>
          <a:prstGeom prst="rect">
            <a:avLst/>
          </a:prstGeom>
        </p:spPr>
        <p:txBody>
          <a:bodyPr lIns="0" tIns="0" rIns="0" bIns="0" rtlCol="0" anchor="t">
            <a:spAutoFit/>
          </a:bodyPr>
          <a:lstStyle/>
          <a:p>
            <a:pPr algn="l">
              <a:lnSpc>
                <a:spcPts val="8959"/>
              </a:lnSpc>
            </a:pPr>
            <a:r>
              <a:rPr lang="en-US" sz="6399" dirty="0">
                <a:solidFill>
                  <a:srgbClr val="F1F0E7"/>
                </a:solidFill>
                <a:latin typeface="Anton"/>
                <a:ea typeface="Anton"/>
                <a:cs typeface="Anton"/>
                <a:sym typeface="Anton"/>
              </a:rPr>
              <a:t>Local Spatial Autocorrelation (LISA)</a:t>
            </a:r>
          </a:p>
          <a:p>
            <a:pPr algn="l">
              <a:lnSpc>
                <a:spcPts val="8959"/>
              </a:lnSpc>
              <a:spcBef>
                <a:spcPct val="0"/>
              </a:spcBef>
            </a:pPr>
            <a:endParaRPr lang="en-US" sz="6399" dirty="0">
              <a:solidFill>
                <a:srgbClr val="F1F0E7"/>
              </a:solidFill>
              <a:latin typeface="Anton"/>
              <a:ea typeface="Anton"/>
              <a:cs typeface="Anton"/>
              <a:sym typeface="Anton"/>
            </a:endParaRPr>
          </a:p>
        </p:txBody>
      </p:sp>
      <p:sp>
        <p:nvSpPr>
          <p:cNvPr id="8" name="TextBox 8"/>
          <p:cNvSpPr txBox="1"/>
          <p:nvPr/>
        </p:nvSpPr>
        <p:spPr>
          <a:xfrm>
            <a:off x="132890" y="4249727"/>
            <a:ext cx="9793790" cy="3206583"/>
          </a:xfrm>
          <a:prstGeom prst="rect">
            <a:avLst/>
          </a:prstGeom>
        </p:spPr>
        <p:txBody>
          <a:bodyPr lIns="0" tIns="0" rIns="0" bIns="0" rtlCol="0" anchor="t">
            <a:spAutoFit/>
          </a:bodyPr>
          <a:lstStyle/>
          <a:p>
            <a:pPr marL="342900" indent="-342900">
              <a:lnSpc>
                <a:spcPts val="2825"/>
              </a:lnSpc>
              <a:spcBef>
                <a:spcPct val="0"/>
              </a:spcBef>
              <a:buFont typeface="Arial" panose="020B0604020202020204" pitchFamily="34" charset="0"/>
              <a:buChar char="•"/>
            </a:pPr>
            <a:r>
              <a:rPr lang="en-US" sz="2018" dirty="0">
                <a:solidFill>
                  <a:srgbClr val="000000"/>
                </a:solidFill>
                <a:latin typeface="Glacial Indifference"/>
                <a:ea typeface="Glacial Indifference"/>
                <a:cs typeface="Glacial Indifference"/>
                <a:sym typeface="Glacial Indifference"/>
              </a:rPr>
              <a:t>The values of the LISAs are mapped to indicate the location of areas with comparatively high or low local association with neighboring areas</a:t>
            </a:r>
          </a:p>
          <a:p>
            <a:pPr marL="342900" indent="-342900">
              <a:lnSpc>
                <a:spcPts val="2825"/>
              </a:lnSpc>
              <a:spcBef>
                <a:spcPct val="0"/>
              </a:spcBef>
              <a:buFont typeface="Arial" panose="020B0604020202020204" pitchFamily="34" charset="0"/>
              <a:buChar char="•"/>
            </a:pPr>
            <a:endParaRPr lang="en-US" sz="2018" dirty="0">
              <a:solidFill>
                <a:srgbClr val="000000"/>
              </a:solidFill>
              <a:latin typeface="Glacial Indifference"/>
              <a:ea typeface="Glacial Indifference"/>
              <a:cs typeface="Glacial Indifference"/>
              <a:sym typeface="Glacial Indifference"/>
            </a:endParaRPr>
          </a:p>
          <a:p>
            <a:pPr marL="342900" indent="-342900">
              <a:lnSpc>
                <a:spcPts val="2825"/>
              </a:lnSpc>
              <a:spcBef>
                <a:spcPct val="0"/>
              </a:spcBef>
              <a:buFont typeface="Arial" panose="020B0604020202020204" pitchFamily="34" charset="0"/>
              <a:buChar char="•"/>
            </a:pPr>
            <a:r>
              <a:rPr lang="en-US" sz="2018" dirty="0">
                <a:solidFill>
                  <a:srgbClr val="000000"/>
                </a:solidFill>
                <a:latin typeface="Glacial Indifference"/>
                <a:ea typeface="Glacial Indifference"/>
                <a:cs typeface="Glacial Indifference"/>
                <a:sym typeface="Glacial Indifference"/>
              </a:rPr>
              <a:t>A high value for </a:t>
            </a:r>
            <a:r>
              <a:rPr lang="en-US" sz="2018" dirty="0" err="1">
                <a:solidFill>
                  <a:srgbClr val="000000"/>
                </a:solidFill>
                <a:latin typeface="Glacial Indifference"/>
                <a:ea typeface="Glacial Indifference"/>
                <a:cs typeface="Glacial Indifference"/>
                <a:sym typeface="Glacial Indifference"/>
              </a:rPr>
              <a:t>Ii</a:t>
            </a:r>
            <a:r>
              <a:rPr lang="en-US" sz="2018" dirty="0">
                <a:solidFill>
                  <a:srgbClr val="000000"/>
                </a:solidFill>
                <a:latin typeface="Glacial Indifference"/>
                <a:ea typeface="Glacial Indifference"/>
                <a:cs typeface="Glacial Indifference"/>
                <a:sym typeface="Glacial Indifference"/>
              </a:rPr>
              <a:t> suggests that the area is surrounded by areas with similar values. Such an area is part of a cluster of high observations, low observations, or moderate observations. </a:t>
            </a:r>
          </a:p>
          <a:p>
            <a:pPr marL="342900" indent="-342900">
              <a:lnSpc>
                <a:spcPts val="2825"/>
              </a:lnSpc>
              <a:spcBef>
                <a:spcPct val="0"/>
              </a:spcBef>
              <a:buFont typeface="Arial" panose="020B0604020202020204" pitchFamily="34" charset="0"/>
              <a:buChar char="•"/>
            </a:pPr>
            <a:r>
              <a:rPr lang="en-US" sz="2018" dirty="0">
                <a:solidFill>
                  <a:srgbClr val="000000"/>
                </a:solidFill>
                <a:latin typeface="Glacial Indifference"/>
                <a:ea typeface="Glacial Indifference"/>
                <a:cs typeface="Glacial Indifference"/>
                <a:sym typeface="Glacial Indifference"/>
              </a:rPr>
              <a:t>A low value for </a:t>
            </a:r>
            <a:r>
              <a:rPr lang="en-US" sz="2018" dirty="0" err="1">
                <a:solidFill>
                  <a:srgbClr val="000000"/>
                </a:solidFill>
                <a:latin typeface="Glacial Indifference"/>
                <a:ea typeface="Glacial Indifference"/>
                <a:cs typeface="Glacial Indifference"/>
                <a:sym typeface="Glacial Indifference"/>
              </a:rPr>
              <a:t>Ii</a:t>
            </a:r>
            <a:r>
              <a:rPr lang="en-US" sz="2018" dirty="0">
                <a:solidFill>
                  <a:srgbClr val="000000"/>
                </a:solidFill>
                <a:latin typeface="Glacial Indifference"/>
                <a:ea typeface="Glacial Indifference"/>
                <a:cs typeface="Glacial Indifference"/>
                <a:sym typeface="Glacial Indifference"/>
              </a:rPr>
              <a:t> indicates that the area is surrounded by areas with dissimilar values. Such an area is an outlier indicating that the observation of area </a:t>
            </a:r>
            <a:r>
              <a:rPr lang="en-US" sz="2018" dirty="0" err="1">
                <a:solidFill>
                  <a:srgbClr val="000000"/>
                </a:solidFill>
                <a:latin typeface="Glacial Indifference"/>
                <a:ea typeface="Glacial Indifference"/>
                <a:cs typeface="Glacial Indifference"/>
                <a:sym typeface="Glacial Indifference"/>
              </a:rPr>
              <a:t>i</a:t>
            </a:r>
            <a:r>
              <a:rPr lang="en-US" sz="2018" dirty="0">
                <a:solidFill>
                  <a:srgbClr val="000000"/>
                </a:solidFill>
                <a:latin typeface="Glacial Indifference"/>
                <a:ea typeface="Glacial Indifference"/>
                <a:cs typeface="Glacial Indifference"/>
                <a:sym typeface="Glacial Indifference"/>
              </a:rPr>
              <a:t> is different from most or all of the observations of its neighbors.</a:t>
            </a:r>
          </a:p>
        </p:txBody>
      </p:sp>
      <p:sp>
        <p:nvSpPr>
          <p:cNvPr id="9" name="TextBox 9"/>
          <p:cNvSpPr txBox="1"/>
          <p:nvPr/>
        </p:nvSpPr>
        <p:spPr>
          <a:xfrm>
            <a:off x="-14288" y="7705725"/>
            <a:ext cx="9940968" cy="2468753"/>
          </a:xfrm>
          <a:prstGeom prst="rect">
            <a:avLst/>
          </a:prstGeom>
        </p:spPr>
        <p:txBody>
          <a:bodyPr wrap="square" lIns="0" tIns="0" rIns="0" bIns="0" rtlCol="0" anchor="t">
            <a:spAutoFit/>
          </a:bodyPr>
          <a:lstStyle/>
          <a:p>
            <a:pPr algn="ctr">
              <a:lnSpc>
                <a:spcPts val="3873"/>
              </a:lnSpc>
              <a:spcBef>
                <a:spcPct val="0"/>
              </a:spcBef>
            </a:pPr>
            <a:r>
              <a:rPr lang="en-US" sz="2767" dirty="0">
                <a:solidFill>
                  <a:srgbClr val="000000"/>
                </a:solidFill>
                <a:latin typeface="Aptos Narrow" panose="020B0004020202020204" pitchFamily="34" charset="0"/>
                <a:ea typeface="Anton"/>
                <a:cs typeface="Anton"/>
                <a:sym typeface="Anton"/>
              </a:rPr>
              <a:t>Local Indicators of Spatial Association (LISA) allow us to identify specific locations (cities) where significant spatial clustering occurs. These can be High-High (hot spots), Low-Low (cold spots), or spatial outliers (High-Low, Low-High). LISA helps pinpoint where the spatial patterns observed by Moran's I are concentrated.</a:t>
            </a:r>
          </a:p>
        </p:txBody>
      </p:sp>
      <p:sp>
        <p:nvSpPr>
          <p:cNvPr id="15" name="TextBox 14">
            <a:extLst>
              <a:ext uri="{FF2B5EF4-FFF2-40B4-BE49-F238E27FC236}">
                <a16:creationId xmlns:a16="http://schemas.microsoft.com/office/drawing/2014/main" id="{BC1F5277-0515-1BC1-4E6A-B753C31F0D79}"/>
              </a:ext>
            </a:extLst>
          </p:cNvPr>
          <p:cNvSpPr txBox="1"/>
          <p:nvPr/>
        </p:nvSpPr>
        <p:spPr>
          <a:xfrm>
            <a:off x="9926680" y="8574138"/>
            <a:ext cx="9151620" cy="950132"/>
          </a:xfrm>
          <a:prstGeom prst="rect">
            <a:avLst/>
          </a:prstGeom>
        </p:spPr>
        <p:style>
          <a:lnRef idx="3">
            <a:schemeClr val="lt1"/>
          </a:lnRef>
          <a:fillRef idx="1">
            <a:schemeClr val="accent3"/>
          </a:fillRef>
          <a:effectRef idx="1">
            <a:schemeClr val="accent3"/>
          </a:effectRef>
          <a:fontRef idx="minor">
            <a:schemeClr val="lt1"/>
          </a:fontRef>
        </p:style>
        <p:txBody>
          <a:bodyPr wrap="square">
            <a:spAutoFit/>
          </a:bodyPr>
          <a:lstStyle/>
          <a:p>
            <a:pPr marL="0" marR="0" lvl="0" indent="0" algn="ctr" defTabSz="914400" rtl="0" eaLnBrk="1" fontAlgn="auto" latinLnBrk="0" hangingPunct="1">
              <a:lnSpc>
                <a:spcPts val="3359"/>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Glacial Indifference"/>
                <a:ea typeface="Glacial Indifference"/>
                <a:cs typeface="Glacial Indifference"/>
                <a:sym typeface="Glacial Indifference"/>
              </a:rPr>
              <a:t>Libraries : </a:t>
            </a:r>
            <a:r>
              <a:rPr lang="en-GB" sz="2800" b="1" dirty="0" err="1"/>
              <a:t>esda.moran</a:t>
            </a:r>
            <a:r>
              <a:rPr lang="en-GB" sz="2800" dirty="0"/>
              <a:t>: For global and local spatial autocorrelation analysis (Moran's I).</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8903151" y="3084848"/>
            <a:ext cx="8912154" cy="5616051"/>
          </a:xfrm>
          <a:custGeom>
            <a:avLst/>
            <a:gdLst/>
            <a:ahLst/>
            <a:cxnLst/>
            <a:rect l="l" t="t" r="r" b="b"/>
            <a:pathLst>
              <a:path w="8912154" h="5616051">
                <a:moveTo>
                  <a:pt x="0" y="0"/>
                </a:moveTo>
                <a:lnTo>
                  <a:pt x="8912154" y="0"/>
                </a:lnTo>
                <a:lnTo>
                  <a:pt x="8912154" y="5616052"/>
                </a:lnTo>
                <a:lnTo>
                  <a:pt x="0" y="5616052"/>
                </a:lnTo>
                <a:lnTo>
                  <a:pt x="0" y="0"/>
                </a:lnTo>
                <a:close/>
              </a:path>
            </a:pathLst>
          </a:custGeom>
          <a:blipFill>
            <a:blip r:embed="rId2"/>
            <a:stretch>
              <a:fillRect/>
            </a:stretch>
          </a:blipFill>
        </p:spPr>
      </p:sp>
      <p:sp>
        <p:nvSpPr>
          <p:cNvPr id="6" name="TextBox 6"/>
          <p:cNvSpPr txBox="1"/>
          <p:nvPr/>
        </p:nvSpPr>
        <p:spPr>
          <a:xfrm>
            <a:off x="1502759" y="1027430"/>
            <a:ext cx="12688898" cy="1094740"/>
          </a:xfrm>
          <a:prstGeom prst="rect">
            <a:avLst/>
          </a:prstGeom>
        </p:spPr>
        <p:txBody>
          <a:bodyPr lIns="0" tIns="0" rIns="0" bIns="0" rtlCol="0" anchor="t">
            <a:spAutoFit/>
          </a:bodyPr>
          <a:lstStyle/>
          <a:p>
            <a:pPr algn="l">
              <a:lnSpc>
                <a:spcPts val="8959"/>
              </a:lnSpc>
            </a:pPr>
            <a:r>
              <a:rPr lang="en-US" sz="6399">
                <a:solidFill>
                  <a:srgbClr val="F1F0E7"/>
                </a:solidFill>
                <a:latin typeface="Anton"/>
                <a:ea typeface="Anton"/>
                <a:cs typeface="Anton"/>
                <a:sym typeface="Anton"/>
              </a:rPr>
              <a:t>Hotspot Analysis (Getis-Ord G)</a:t>
            </a:r>
          </a:p>
        </p:txBody>
      </p:sp>
      <p:sp>
        <p:nvSpPr>
          <p:cNvPr id="7" name="TextBox 7"/>
          <p:cNvSpPr txBox="1"/>
          <p:nvPr/>
        </p:nvSpPr>
        <p:spPr>
          <a:xfrm>
            <a:off x="838200" y="2751651"/>
            <a:ext cx="7735296" cy="4175502"/>
          </a:xfrm>
          <a:prstGeom prst="rect">
            <a:avLst/>
          </a:prstGeom>
        </p:spPr>
        <p:txBody>
          <a:bodyPr lIns="0" tIns="0" rIns="0" bIns="0" rtlCol="0" anchor="t">
            <a:spAutoFit/>
          </a:bodyPr>
          <a:lstStyle/>
          <a:p>
            <a:pPr algn="ctr">
              <a:lnSpc>
                <a:spcPts val="4675"/>
              </a:lnSpc>
              <a:spcBef>
                <a:spcPct val="0"/>
              </a:spcBef>
            </a:pPr>
            <a:r>
              <a:rPr lang="en-US" sz="3339" dirty="0">
                <a:solidFill>
                  <a:srgbClr val="000000"/>
                </a:solidFill>
                <a:latin typeface="Glacial Indifference"/>
                <a:ea typeface="Glacial Indifference"/>
                <a:cs typeface="Glacial Indifference"/>
                <a:sym typeface="Glacial Indifference"/>
              </a:rPr>
              <a:t>G is the global version of a family of statistics of spatial autocorrelation based on distance. The  class of statistics is conceived for points, hence the use of a distance , but it can also be applied to polygon data if a binary spatial weights matrix can be constructed. </a:t>
            </a:r>
          </a:p>
        </p:txBody>
      </p:sp>
      <p:sp>
        <p:nvSpPr>
          <p:cNvPr id="8" name="TextBox 8"/>
          <p:cNvSpPr txBox="1"/>
          <p:nvPr/>
        </p:nvSpPr>
        <p:spPr>
          <a:xfrm>
            <a:off x="685800" y="7200900"/>
            <a:ext cx="7887696" cy="1773691"/>
          </a:xfrm>
          <a:prstGeom prst="rect">
            <a:avLst/>
          </a:prstGeom>
        </p:spPr>
        <p:txBody>
          <a:bodyPr wrap="square" lIns="0" tIns="0" rIns="0" bIns="0" rtlCol="0" anchor="t">
            <a:spAutoFit/>
          </a:bodyPr>
          <a:lstStyle/>
          <a:p>
            <a:pPr algn="ctr">
              <a:lnSpc>
                <a:spcPts val="2833"/>
              </a:lnSpc>
              <a:spcBef>
                <a:spcPct val="0"/>
              </a:spcBef>
            </a:pPr>
            <a:r>
              <a:rPr lang="en-US" sz="2023" dirty="0" err="1">
                <a:solidFill>
                  <a:srgbClr val="000000"/>
                </a:solidFill>
                <a:latin typeface="Anton"/>
                <a:ea typeface="Anton"/>
                <a:cs typeface="Anton"/>
                <a:sym typeface="Anton"/>
              </a:rPr>
              <a:t>Getis</a:t>
            </a:r>
            <a:r>
              <a:rPr lang="en-US" sz="2023" dirty="0">
                <a:solidFill>
                  <a:srgbClr val="000000"/>
                </a:solidFill>
                <a:latin typeface="Anton"/>
                <a:ea typeface="Anton"/>
                <a:cs typeface="Anton"/>
                <a:sym typeface="Anton"/>
              </a:rPr>
              <a:t>-Ord G (or Gi*) identifies statistically significant hot spots and cold spots. A high positive Z-score and small p-value for a feature indicates a spatial clustering of high values (a hot spot). A low negative Z-score and small p-value indicates a spatial clustering of low values (a cold spot). I'll calculate this for AQI.</a:t>
            </a:r>
          </a:p>
        </p:txBody>
      </p:sp>
      <p:sp>
        <p:nvSpPr>
          <p:cNvPr id="14" name="TextBox 13">
            <a:extLst>
              <a:ext uri="{FF2B5EF4-FFF2-40B4-BE49-F238E27FC236}">
                <a16:creationId xmlns:a16="http://schemas.microsoft.com/office/drawing/2014/main" id="{6F3C2964-2436-1421-C5F6-B89E959CD632}"/>
              </a:ext>
            </a:extLst>
          </p:cNvPr>
          <p:cNvSpPr txBox="1"/>
          <p:nvPr/>
        </p:nvSpPr>
        <p:spPr>
          <a:xfrm>
            <a:off x="8229600" y="9105900"/>
            <a:ext cx="9448800" cy="58477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r>
              <a:rPr lang="en-IN" sz="3200" dirty="0"/>
              <a:t>Lib : </a:t>
            </a:r>
            <a:r>
              <a:rPr lang="en-IN" sz="3200" dirty="0" err="1"/>
              <a:t>esda.getisord</a:t>
            </a:r>
            <a:r>
              <a:rPr lang="en-IN" sz="3200" dirty="0"/>
              <a:t>: For hotspot analysis (</a:t>
            </a:r>
            <a:r>
              <a:rPr lang="en-IN" sz="3200" dirty="0" err="1"/>
              <a:t>Getis</a:t>
            </a:r>
            <a:r>
              <a:rPr lang="en-IN" sz="3200" dirty="0"/>
              <a:t>-Ord 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502759" y="1027430"/>
            <a:ext cx="12688898" cy="1094740"/>
          </a:xfrm>
          <a:prstGeom prst="rect">
            <a:avLst/>
          </a:prstGeom>
        </p:spPr>
        <p:txBody>
          <a:bodyPr lIns="0" tIns="0" rIns="0" bIns="0" rtlCol="0" anchor="t">
            <a:spAutoFit/>
          </a:bodyPr>
          <a:lstStyle/>
          <a:p>
            <a:pPr algn="l">
              <a:lnSpc>
                <a:spcPts val="8959"/>
              </a:lnSpc>
            </a:pPr>
            <a:r>
              <a:rPr lang="en-US" sz="6399">
                <a:solidFill>
                  <a:srgbClr val="F1F0E7"/>
                </a:solidFill>
                <a:latin typeface="Anton"/>
                <a:ea typeface="Anton"/>
                <a:cs typeface="Anton"/>
                <a:sym typeface="Anton"/>
              </a:rPr>
              <a:t>Kriging Results</a:t>
            </a:r>
          </a:p>
        </p:txBody>
      </p:sp>
      <p:sp>
        <p:nvSpPr>
          <p:cNvPr id="7" name="TextBox 7"/>
          <p:cNvSpPr txBox="1"/>
          <p:nvPr/>
        </p:nvSpPr>
        <p:spPr>
          <a:xfrm>
            <a:off x="1028700" y="3188970"/>
            <a:ext cx="7735296" cy="4791633"/>
          </a:xfrm>
          <a:prstGeom prst="rect">
            <a:avLst/>
          </a:prstGeom>
        </p:spPr>
        <p:txBody>
          <a:bodyPr lIns="0" tIns="0" rIns="0" bIns="0" rtlCol="0" anchor="t">
            <a:spAutoFit/>
          </a:bodyPr>
          <a:lstStyle/>
          <a:p>
            <a:pPr marL="571500" indent="-571500">
              <a:lnSpc>
                <a:spcPts val="4675"/>
              </a:lnSpc>
              <a:spcBef>
                <a:spcPct val="0"/>
              </a:spcBef>
              <a:buFont typeface="Arial" panose="020B0604020202020204" pitchFamily="34" charset="0"/>
              <a:buChar char="•"/>
            </a:pPr>
            <a:r>
              <a:rPr lang="en-GB" sz="3600" b="0" i="0" dirty="0">
                <a:solidFill>
                  <a:srgbClr val="212529"/>
                </a:solidFill>
                <a:effectLst/>
                <a:latin typeface="-apple-system"/>
              </a:rPr>
              <a:t> </a:t>
            </a:r>
            <a:r>
              <a:rPr lang="en-GB" sz="3600" dirty="0">
                <a:solidFill>
                  <a:srgbClr val="212529"/>
                </a:solidFill>
                <a:latin typeface="-apple-system"/>
              </a:rPr>
              <a:t>S</a:t>
            </a:r>
            <a:r>
              <a:rPr lang="en-GB" sz="3600" b="0" i="0" dirty="0">
                <a:solidFill>
                  <a:srgbClr val="212529"/>
                </a:solidFill>
                <a:effectLst/>
                <a:latin typeface="-apple-system"/>
              </a:rPr>
              <a:t>patial interpolation method used to obtain predictions at unsampled locations based on observed geostatistical data. </a:t>
            </a:r>
          </a:p>
          <a:p>
            <a:pPr marL="571500" indent="-571500">
              <a:lnSpc>
                <a:spcPts val="4675"/>
              </a:lnSpc>
              <a:spcBef>
                <a:spcPct val="0"/>
              </a:spcBef>
              <a:buFont typeface="Arial" panose="020B0604020202020204" pitchFamily="34" charset="0"/>
              <a:buChar char="•"/>
            </a:pPr>
            <a:r>
              <a:rPr lang="en-GB" sz="3600" dirty="0">
                <a:solidFill>
                  <a:srgbClr val="212529"/>
                </a:solidFill>
                <a:latin typeface="-apple-system"/>
              </a:rPr>
              <a:t>S</a:t>
            </a:r>
            <a:r>
              <a:rPr lang="en-GB" sz="3600" b="0" i="0" dirty="0">
                <a:solidFill>
                  <a:srgbClr val="212529"/>
                </a:solidFill>
                <a:effectLst/>
                <a:latin typeface="-apple-system"/>
              </a:rPr>
              <a:t>imple interpolation methods that allow us to predict values of a spatially continuous variable at locations that are not sampled.</a:t>
            </a:r>
            <a:endParaRPr lang="en-US" sz="3339" dirty="0">
              <a:solidFill>
                <a:srgbClr val="000000"/>
              </a:solidFill>
              <a:latin typeface="Glacial Indifference"/>
              <a:ea typeface="Glacial Indifference"/>
              <a:cs typeface="Glacial Indifference"/>
              <a:sym typeface="Glacial Indifference"/>
            </a:endParaRPr>
          </a:p>
        </p:txBody>
      </p:sp>
      <p:sp>
        <p:nvSpPr>
          <p:cNvPr id="11" name="TextBox 10">
            <a:extLst>
              <a:ext uri="{FF2B5EF4-FFF2-40B4-BE49-F238E27FC236}">
                <a16:creationId xmlns:a16="http://schemas.microsoft.com/office/drawing/2014/main" id="{38CD0FAE-8F88-0BDE-82F9-CDBD31B6B037}"/>
              </a:ext>
            </a:extLst>
          </p:cNvPr>
          <p:cNvSpPr txBox="1"/>
          <p:nvPr/>
        </p:nvSpPr>
        <p:spPr>
          <a:xfrm>
            <a:off x="1502759" y="8362292"/>
            <a:ext cx="4724400" cy="1384995"/>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en-IN" sz="2800" dirty="0"/>
              <a:t>Library:</a:t>
            </a:r>
          </a:p>
          <a:p>
            <a:r>
              <a:rPr lang="en-IN" sz="2800" dirty="0" err="1"/>
              <a:t>pykrige</a:t>
            </a:r>
            <a:r>
              <a:rPr lang="en-IN" sz="2800" dirty="0"/>
              <a:t>: For Kriging interpolation.</a:t>
            </a:r>
          </a:p>
        </p:txBody>
      </p:sp>
      <p:pic>
        <p:nvPicPr>
          <p:cNvPr id="9" name="Picture 8">
            <a:extLst>
              <a:ext uri="{FF2B5EF4-FFF2-40B4-BE49-F238E27FC236}">
                <a16:creationId xmlns:a16="http://schemas.microsoft.com/office/drawing/2014/main" id="{650D162F-88D5-D225-9D14-762E2F1CB6EE}"/>
              </a:ext>
            </a:extLst>
          </p:cNvPr>
          <p:cNvPicPr>
            <a:picLocks noChangeAspect="1"/>
          </p:cNvPicPr>
          <p:nvPr/>
        </p:nvPicPr>
        <p:blipFill>
          <a:blip r:embed="rId2"/>
          <a:stretch>
            <a:fillRect/>
          </a:stretch>
        </p:blipFill>
        <p:spPr>
          <a:xfrm>
            <a:off x="8948737" y="2628900"/>
            <a:ext cx="8343900" cy="690298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17A7AC7-3715-C6C6-F3AC-E2CB554EFAD0}"/>
              </a:ext>
            </a:extLst>
          </p:cNvPr>
          <p:cNvSpPr txBox="1"/>
          <p:nvPr/>
        </p:nvSpPr>
        <p:spPr>
          <a:xfrm>
            <a:off x="13106400" y="1711791"/>
            <a:ext cx="3581400" cy="6247864"/>
          </a:xfrm>
          <a:prstGeom prst="rect">
            <a:avLst/>
          </a:prstGeom>
          <a:noFill/>
        </p:spPr>
        <p:txBody>
          <a:bodyPr wrap="square">
            <a:spAutoFit/>
          </a:bodyPr>
          <a:lstStyle/>
          <a:p>
            <a:r>
              <a:rPr lang="en-GB" sz="4000" b="0" i="0" dirty="0">
                <a:solidFill>
                  <a:srgbClr val="212529"/>
                </a:solidFill>
                <a:effectLst/>
                <a:latin typeface="Aptos Narrow" panose="020B0004020202020204" pitchFamily="34" charset="0"/>
              </a:rPr>
              <a:t>The variogram cloud shows half of all possible squared differences of data observation pairs against their separation distance h:</a:t>
            </a:r>
            <a:endParaRPr lang="en-IN" sz="4000" dirty="0">
              <a:latin typeface="Aptos Narrow" panose="020B0004020202020204" pitchFamily="34" charset="0"/>
            </a:endParaRPr>
          </a:p>
        </p:txBody>
      </p:sp>
      <p:pic>
        <p:nvPicPr>
          <p:cNvPr id="5" name="Picture 4">
            <a:extLst>
              <a:ext uri="{FF2B5EF4-FFF2-40B4-BE49-F238E27FC236}">
                <a16:creationId xmlns:a16="http://schemas.microsoft.com/office/drawing/2014/main" id="{6D2D912E-1964-A028-EDE5-F250A07E0466}"/>
              </a:ext>
            </a:extLst>
          </p:cNvPr>
          <p:cNvPicPr>
            <a:picLocks noChangeAspect="1"/>
          </p:cNvPicPr>
          <p:nvPr/>
        </p:nvPicPr>
        <p:blipFill>
          <a:blip r:embed="rId2"/>
          <a:stretch>
            <a:fillRect/>
          </a:stretch>
        </p:blipFill>
        <p:spPr>
          <a:xfrm>
            <a:off x="1295400" y="960762"/>
            <a:ext cx="10210800" cy="83654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42070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txBody>
            <a:bodyPr/>
            <a:lstStyle/>
            <a:p>
              <a:endParaRPr lang="en-IN" dirty="0"/>
            </a:p>
          </p:txBody>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2010317" y="1734404"/>
            <a:ext cx="9144881" cy="8552596"/>
          </a:xfrm>
          <a:custGeom>
            <a:avLst/>
            <a:gdLst/>
            <a:ahLst/>
            <a:cxnLst/>
            <a:rect l="l" t="t" r="r" b="b"/>
            <a:pathLst>
              <a:path w="9144881" h="8552596">
                <a:moveTo>
                  <a:pt x="0" y="0"/>
                </a:moveTo>
                <a:lnTo>
                  <a:pt x="9144881" y="0"/>
                </a:lnTo>
                <a:lnTo>
                  <a:pt x="9144881" y="8552596"/>
                </a:lnTo>
                <a:lnTo>
                  <a:pt x="0" y="8552596"/>
                </a:lnTo>
                <a:lnTo>
                  <a:pt x="0" y="0"/>
                </a:lnTo>
                <a:close/>
              </a:path>
            </a:pathLst>
          </a:custGeom>
          <a:blipFill>
            <a:blip r:embed="rId2"/>
            <a:stretch>
              <a:fillRect/>
            </a:stretch>
          </a:blipFill>
        </p:spPr>
      </p:sp>
      <p:sp>
        <p:nvSpPr>
          <p:cNvPr id="6" name="TextBox 6"/>
          <p:cNvSpPr txBox="1"/>
          <p:nvPr/>
        </p:nvSpPr>
        <p:spPr>
          <a:xfrm>
            <a:off x="1502759" y="419430"/>
            <a:ext cx="12688898" cy="1094740"/>
          </a:xfrm>
          <a:prstGeom prst="rect">
            <a:avLst/>
          </a:prstGeom>
        </p:spPr>
        <p:txBody>
          <a:bodyPr lIns="0" tIns="0" rIns="0" bIns="0" rtlCol="0" anchor="t">
            <a:spAutoFit/>
          </a:bodyPr>
          <a:lstStyle/>
          <a:p>
            <a:pPr algn="l">
              <a:lnSpc>
                <a:spcPts val="8959"/>
              </a:lnSpc>
            </a:pPr>
            <a:r>
              <a:rPr lang="en-US" sz="6399" dirty="0">
                <a:solidFill>
                  <a:srgbClr val="F1F0E7"/>
                </a:solidFill>
                <a:latin typeface="Anton"/>
                <a:ea typeface="Anton"/>
                <a:cs typeface="Anton"/>
                <a:sym typeface="Anton"/>
              </a:rPr>
              <a:t>ML </a:t>
            </a:r>
            <a:r>
              <a:rPr lang="en-US" sz="6399" dirty="0" err="1">
                <a:solidFill>
                  <a:srgbClr val="F1F0E7"/>
                </a:solidFill>
                <a:latin typeface="Anton"/>
                <a:ea typeface="Anton"/>
                <a:cs typeface="Anton"/>
                <a:sym typeface="Anton"/>
              </a:rPr>
              <a:t>LAg</a:t>
            </a:r>
            <a:endParaRPr lang="en-US" sz="6399" dirty="0">
              <a:solidFill>
                <a:srgbClr val="F1F0E7"/>
              </a:solidFill>
              <a:latin typeface="Anton"/>
              <a:ea typeface="Anton"/>
              <a:cs typeface="Anton"/>
              <a:sym typeface="Anton"/>
            </a:endParaRPr>
          </a:p>
        </p:txBody>
      </p:sp>
      <p:sp>
        <p:nvSpPr>
          <p:cNvPr id="7" name="TextBox 7"/>
          <p:cNvSpPr txBox="1"/>
          <p:nvPr/>
        </p:nvSpPr>
        <p:spPr>
          <a:xfrm>
            <a:off x="11887200" y="3016842"/>
            <a:ext cx="5372100" cy="5668218"/>
          </a:xfrm>
          <a:prstGeom prst="rect">
            <a:avLst/>
          </a:prstGeom>
        </p:spPr>
        <p:txBody>
          <a:bodyPr wrap="square" lIns="0" tIns="0" rIns="0" bIns="0" rtlCol="0" anchor="t">
            <a:spAutoFit/>
          </a:bodyPr>
          <a:lstStyle/>
          <a:p>
            <a:pPr algn="ctr">
              <a:lnSpc>
                <a:spcPts val="3359"/>
              </a:lnSpc>
              <a:spcBef>
                <a:spcPct val="0"/>
              </a:spcBef>
            </a:pPr>
            <a:r>
              <a:rPr lang="en-US" sz="3200" dirty="0">
                <a:solidFill>
                  <a:srgbClr val="000000"/>
                </a:solidFill>
                <a:latin typeface="Glacial Indifference"/>
                <a:ea typeface="Glacial Indifference"/>
                <a:cs typeface="Glacial Indifference"/>
                <a:sym typeface="Glacial Indifference"/>
              </a:rPr>
              <a:t>Spatial regression models explicitly account for spatial dependence. </a:t>
            </a:r>
            <a:r>
              <a:rPr lang="en-US" sz="3200" dirty="0" err="1">
                <a:solidFill>
                  <a:srgbClr val="000000"/>
                </a:solidFill>
                <a:latin typeface="Glacial Indifference"/>
                <a:ea typeface="Glacial Indifference"/>
                <a:cs typeface="Glacial Indifference"/>
                <a:sym typeface="Glacial Indifference"/>
              </a:rPr>
              <a:t>Here,we</a:t>
            </a:r>
            <a:r>
              <a:rPr lang="en-US" sz="3200" dirty="0">
                <a:solidFill>
                  <a:srgbClr val="000000"/>
                </a:solidFill>
                <a:latin typeface="Glacial Indifference"/>
                <a:ea typeface="Glacial Indifference"/>
                <a:cs typeface="Glacial Indifference"/>
                <a:sym typeface="Glacial Indifference"/>
              </a:rPr>
              <a:t> used a Spatial Lag Model (</a:t>
            </a:r>
            <a:r>
              <a:rPr lang="en-US" sz="3200" dirty="0" err="1">
                <a:solidFill>
                  <a:srgbClr val="000000"/>
                </a:solidFill>
                <a:latin typeface="Glacial Indifference"/>
                <a:ea typeface="Glacial Indifference"/>
                <a:cs typeface="Glacial Indifference"/>
                <a:sym typeface="Glacial Indifference"/>
              </a:rPr>
              <a:t>ML_Lag</a:t>
            </a:r>
            <a:r>
              <a:rPr lang="en-US" sz="3200" dirty="0">
                <a:solidFill>
                  <a:srgbClr val="000000"/>
                </a:solidFill>
                <a:latin typeface="Glacial Indifference"/>
                <a:ea typeface="Glacial Indifference"/>
                <a:cs typeface="Glacial Indifference"/>
                <a:sym typeface="Glacial Indifference"/>
              </a:rPr>
              <a:t>) where the dependent variable (AQI) in a given city is influenced by the dependent variable in neighboring cities. This model helps determine if there's a significant spatial spillover effect for AQI, considering other influencing factors.</a:t>
            </a:r>
          </a:p>
        </p:txBody>
      </p:sp>
      <p:sp>
        <p:nvSpPr>
          <p:cNvPr id="11" name="TextBox 10">
            <a:extLst>
              <a:ext uri="{FF2B5EF4-FFF2-40B4-BE49-F238E27FC236}">
                <a16:creationId xmlns:a16="http://schemas.microsoft.com/office/drawing/2014/main" id="{E489AF91-58AB-1E6B-8AF8-CAF054A5795E}"/>
              </a:ext>
            </a:extLst>
          </p:cNvPr>
          <p:cNvSpPr txBox="1"/>
          <p:nvPr/>
        </p:nvSpPr>
        <p:spPr>
          <a:xfrm>
            <a:off x="11430000" y="9029700"/>
            <a:ext cx="6400800" cy="646331"/>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IN" dirty="0" err="1"/>
              <a:t>spreg</a:t>
            </a:r>
            <a:r>
              <a:rPr lang="en-IN" dirty="0"/>
              <a:t>: For spatial regression models (e.g., Spatial Lag, Spatial Error).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sp>
        <p:nvSpPr>
          <p:cNvPr id="2" name="Freeform 2"/>
          <p:cNvSpPr/>
          <p:nvPr/>
        </p:nvSpPr>
        <p:spPr>
          <a:xfrm>
            <a:off x="381000" y="2468761"/>
            <a:ext cx="9296400" cy="5570339"/>
          </a:xfrm>
          <a:custGeom>
            <a:avLst/>
            <a:gdLst/>
            <a:ahLst/>
            <a:cxnLst/>
            <a:rect l="l" t="t" r="r" b="b"/>
            <a:pathLst>
              <a:path w="13719073" h="8598042">
                <a:moveTo>
                  <a:pt x="0" y="0"/>
                </a:moveTo>
                <a:lnTo>
                  <a:pt x="13719073" y="0"/>
                </a:lnTo>
                <a:lnTo>
                  <a:pt x="13719073" y="8598042"/>
                </a:lnTo>
                <a:lnTo>
                  <a:pt x="0" y="8598042"/>
                </a:lnTo>
                <a:lnTo>
                  <a:pt x="0" y="0"/>
                </a:lnTo>
                <a:close/>
              </a:path>
            </a:pathLst>
          </a:custGeom>
          <a:blipFill>
            <a:blip r:embed="rId2"/>
            <a:stretch>
              <a:fillRect/>
            </a:stretch>
          </a:blipFill>
        </p:spPr>
      </p:sp>
      <p:pic>
        <p:nvPicPr>
          <p:cNvPr id="4" name="Picture 3">
            <a:extLst>
              <a:ext uri="{FF2B5EF4-FFF2-40B4-BE49-F238E27FC236}">
                <a16:creationId xmlns:a16="http://schemas.microsoft.com/office/drawing/2014/main" id="{390D013C-4AF3-E0D8-85B2-3103E3AC7038}"/>
              </a:ext>
            </a:extLst>
          </p:cNvPr>
          <p:cNvPicPr>
            <a:picLocks noChangeAspect="1"/>
          </p:cNvPicPr>
          <p:nvPr/>
        </p:nvPicPr>
        <p:blipFill>
          <a:blip r:embed="rId3"/>
          <a:stretch>
            <a:fillRect/>
          </a:stretch>
        </p:blipFill>
        <p:spPr>
          <a:xfrm>
            <a:off x="381000" y="8158534"/>
            <a:ext cx="9910726" cy="1804988"/>
          </a:xfrm>
          <a:prstGeom prst="rect">
            <a:avLst/>
          </a:prstGeom>
        </p:spPr>
      </p:pic>
      <p:grpSp>
        <p:nvGrpSpPr>
          <p:cNvPr id="9" name="Group 2">
            <a:extLst>
              <a:ext uri="{FF2B5EF4-FFF2-40B4-BE49-F238E27FC236}">
                <a16:creationId xmlns:a16="http://schemas.microsoft.com/office/drawing/2014/main" id="{DD3F75AF-1B5B-DEA9-0EA7-7062E48A75A7}"/>
              </a:ext>
            </a:extLst>
          </p:cNvPr>
          <p:cNvGrpSpPr/>
          <p:nvPr/>
        </p:nvGrpSpPr>
        <p:grpSpPr>
          <a:xfrm>
            <a:off x="381000" y="1108100"/>
            <a:ext cx="16230600" cy="1216000"/>
            <a:chOff x="0" y="0"/>
            <a:chExt cx="4274726" cy="320263"/>
          </a:xfrm>
        </p:grpSpPr>
        <p:sp>
          <p:nvSpPr>
            <p:cNvPr id="10" name="Freeform 3">
              <a:extLst>
                <a:ext uri="{FF2B5EF4-FFF2-40B4-BE49-F238E27FC236}">
                  <a16:creationId xmlns:a16="http://schemas.microsoft.com/office/drawing/2014/main" id="{B08C4F4C-FC0C-CF52-09F6-8C12F4618453}"/>
                </a:ext>
              </a:extLst>
            </p:cNvPr>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txBody>
            <a:bodyPr/>
            <a:lstStyle/>
            <a:p>
              <a:endParaRPr lang="en-IN" dirty="0"/>
            </a:p>
          </p:txBody>
        </p:sp>
        <p:sp>
          <p:nvSpPr>
            <p:cNvPr id="11" name="TextBox 4">
              <a:extLst>
                <a:ext uri="{FF2B5EF4-FFF2-40B4-BE49-F238E27FC236}">
                  <a16:creationId xmlns:a16="http://schemas.microsoft.com/office/drawing/2014/main" id="{DF2290D4-0921-CD02-FAD1-170B5BB1C391}"/>
                </a:ext>
              </a:extLst>
            </p:cNvPr>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sp>
        <p:nvSpPr>
          <p:cNvPr id="13" name="TextBox 12">
            <a:extLst>
              <a:ext uri="{FF2B5EF4-FFF2-40B4-BE49-F238E27FC236}">
                <a16:creationId xmlns:a16="http://schemas.microsoft.com/office/drawing/2014/main" id="{155571CF-BF1E-11CF-1DDB-92B151E945DE}"/>
              </a:ext>
            </a:extLst>
          </p:cNvPr>
          <p:cNvSpPr txBox="1"/>
          <p:nvPr/>
        </p:nvSpPr>
        <p:spPr>
          <a:xfrm>
            <a:off x="533400" y="1047196"/>
            <a:ext cx="9144000" cy="1106008"/>
          </a:xfrm>
          <a:prstGeom prst="rect">
            <a:avLst/>
          </a:prstGeom>
          <a:noFill/>
        </p:spPr>
        <p:txBody>
          <a:bodyPr wrap="square">
            <a:spAutoFit/>
          </a:bodyPr>
          <a:lstStyle/>
          <a:p>
            <a:pPr algn="l">
              <a:lnSpc>
                <a:spcPts val="8959"/>
              </a:lnSpc>
            </a:pPr>
            <a:r>
              <a:rPr lang="en-US" sz="4400" dirty="0">
                <a:solidFill>
                  <a:schemeClr val="bg2"/>
                </a:solidFill>
                <a:latin typeface="Anton"/>
                <a:ea typeface="Anton"/>
                <a:cs typeface="Anton"/>
                <a:sym typeface="Anton"/>
              </a:rPr>
              <a:t>ML Error</a:t>
            </a:r>
          </a:p>
        </p:txBody>
      </p:sp>
      <p:sp>
        <p:nvSpPr>
          <p:cNvPr id="14" name="Freeform 2"/>
          <p:cNvSpPr/>
          <p:nvPr/>
        </p:nvSpPr>
        <p:spPr>
          <a:xfrm>
            <a:off x="9646920" y="2780116"/>
            <a:ext cx="8107680" cy="7240184"/>
          </a:xfrm>
          <a:custGeom>
            <a:avLst/>
            <a:gdLst/>
            <a:ahLst/>
            <a:cxnLst/>
            <a:rect l="l" t="t" r="r" b="b"/>
            <a:pathLst>
              <a:path w="10714493" h="8547708">
                <a:moveTo>
                  <a:pt x="0" y="0"/>
                </a:moveTo>
                <a:lnTo>
                  <a:pt x="10714493" y="0"/>
                </a:lnTo>
                <a:lnTo>
                  <a:pt x="10714493" y="8547708"/>
                </a:lnTo>
                <a:lnTo>
                  <a:pt x="0" y="8547708"/>
                </a:lnTo>
                <a:lnTo>
                  <a:pt x="0" y="0"/>
                </a:lnTo>
                <a:close/>
              </a:path>
            </a:pathLst>
          </a:custGeom>
          <a:blipFill>
            <a:blip r:embed="rId4"/>
            <a:stretch>
              <a:fillRect t="-1109" r="-2112"/>
            </a:stretch>
          </a:blipFill>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0"/>
                  </a:srgbClr>
                </a:gs>
                <a:gs pos="33333">
                  <a:srgbClr val="112C16">
                    <a:alpha val="100000"/>
                  </a:srgbClr>
                </a:gs>
                <a:gs pos="66667">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28700" y="4343241"/>
            <a:ext cx="4546922" cy="3795817"/>
            <a:chOff x="0" y="0"/>
            <a:chExt cx="1197543" cy="999721"/>
          </a:xfrm>
        </p:grpSpPr>
        <p:sp>
          <p:nvSpPr>
            <p:cNvPr id="6" name="Freeform 6"/>
            <p:cNvSpPr/>
            <p:nvPr/>
          </p:nvSpPr>
          <p:spPr>
            <a:xfrm>
              <a:off x="0" y="0"/>
              <a:ext cx="1197543" cy="999721"/>
            </a:xfrm>
            <a:custGeom>
              <a:avLst/>
              <a:gdLst/>
              <a:ahLst/>
              <a:cxnLst/>
              <a:rect l="l" t="t" r="r" b="b"/>
              <a:pathLst>
                <a:path w="1197543" h="999721">
                  <a:moveTo>
                    <a:pt x="44269" y="0"/>
                  </a:moveTo>
                  <a:lnTo>
                    <a:pt x="1153274" y="0"/>
                  </a:lnTo>
                  <a:cubicBezTo>
                    <a:pt x="1165015" y="0"/>
                    <a:pt x="1176275" y="4664"/>
                    <a:pt x="1184577" y="12966"/>
                  </a:cubicBezTo>
                  <a:cubicBezTo>
                    <a:pt x="1192879" y="21268"/>
                    <a:pt x="1197543" y="32528"/>
                    <a:pt x="1197543" y="44269"/>
                  </a:cubicBezTo>
                  <a:lnTo>
                    <a:pt x="1197543" y="955452"/>
                  </a:lnTo>
                  <a:cubicBezTo>
                    <a:pt x="1197543" y="979901"/>
                    <a:pt x="1177723" y="999721"/>
                    <a:pt x="1153274" y="999721"/>
                  </a:cubicBezTo>
                  <a:lnTo>
                    <a:pt x="44269" y="999721"/>
                  </a:lnTo>
                  <a:cubicBezTo>
                    <a:pt x="32528" y="999721"/>
                    <a:pt x="21268" y="995057"/>
                    <a:pt x="12966" y="986755"/>
                  </a:cubicBezTo>
                  <a:cubicBezTo>
                    <a:pt x="4664" y="978453"/>
                    <a:pt x="0" y="967193"/>
                    <a:pt x="0" y="955452"/>
                  </a:cubicBezTo>
                  <a:lnTo>
                    <a:pt x="0" y="44269"/>
                  </a:lnTo>
                  <a:cubicBezTo>
                    <a:pt x="0" y="19820"/>
                    <a:pt x="19820" y="0"/>
                    <a:pt x="44269" y="0"/>
                  </a:cubicBezTo>
                  <a:close/>
                </a:path>
              </a:pathLst>
            </a:custGeom>
            <a:ln w="38100" cap="rnd">
              <a:solidFill>
                <a:srgbClr val="112C16"/>
              </a:solidFill>
              <a:prstDash val="solid"/>
              <a:round/>
            </a:ln>
          </p:spPr>
        </p:sp>
        <p:sp>
          <p:nvSpPr>
            <p:cNvPr id="7" name="TextBox 7"/>
            <p:cNvSpPr txBox="1"/>
            <p:nvPr/>
          </p:nvSpPr>
          <p:spPr>
            <a:xfrm>
              <a:off x="0" y="-57150"/>
              <a:ext cx="1197543" cy="1056871"/>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2799551" y="3070780"/>
            <a:ext cx="945559" cy="1009820"/>
          </a:xfrm>
          <a:custGeom>
            <a:avLst/>
            <a:gdLst/>
            <a:ahLst/>
            <a:cxnLst/>
            <a:rect l="l" t="t" r="r" b="b"/>
            <a:pathLst>
              <a:path w="945559" h="1009820">
                <a:moveTo>
                  <a:pt x="0" y="0"/>
                </a:moveTo>
                <a:lnTo>
                  <a:pt x="945559" y="0"/>
                </a:lnTo>
                <a:lnTo>
                  <a:pt x="945559" y="1009820"/>
                </a:lnTo>
                <a:lnTo>
                  <a:pt x="0" y="100982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8761186" y="3070780"/>
            <a:ext cx="765627" cy="1009820"/>
          </a:xfrm>
          <a:custGeom>
            <a:avLst/>
            <a:gdLst/>
            <a:ahLst/>
            <a:cxnLst/>
            <a:rect l="l" t="t" r="r" b="b"/>
            <a:pathLst>
              <a:path w="765627" h="1009820">
                <a:moveTo>
                  <a:pt x="0" y="0"/>
                </a:moveTo>
                <a:lnTo>
                  <a:pt x="765628" y="0"/>
                </a:lnTo>
                <a:lnTo>
                  <a:pt x="765628" y="1009820"/>
                </a:lnTo>
                <a:lnTo>
                  <a:pt x="0" y="100982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0" name="Freeform 10"/>
          <p:cNvSpPr/>
          <p:nvPr/>
        </p:nvSpPr>
        <p:spPr>
          <a:xfrm>
            <a:off x="14478629" y="3070780"/>
            <a:ext cx="1009820" cy="1009820"/>
          </a:xfrm>
          <a:custGeom>
            <a:avLst/>
            <a:gdLst/>
            <a:ahLst/>
            <a:cxnLst/>
            <a:rect l="l" t="t" r="r" b="b"/>
            <a:pathLst>
              <a:path w="1009820" h="1009820">
                <a:moveTo>
                  <a:pt x="0" y="0"/>
                </a:moveTo>
                <a:lnTo>
                  <a:pt x="1009820" y="0"/>
                </a:lnTo>
                <a:lnTo>
                  <a:pt x="1009820" y="1009820"/>
                </a:lnTo>
                <a:lnTo>
                  <a:pt x="0" y="1009820"/>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11" name="Group 11"/>
          <p:cNvGrpSpPr/>
          <p:nvPr/>
        </p:nvGrpSpPr>
        <p:grpSpPr>
          <a:xfrm>
            <a:off x="1256501" y="4596715"/>
            <a:ext cx="4076488" cy="546785"/>
            <a:chOff x="0" y="0"/>
            <a:chExt cx="1073643" cy="144009"/>
          </a:xfrm>
        </p:grpSpPr>
        <p:sp>
          <p:nvSpPr>
            <p:cNvPr id="12" name="Freeform 12"/>
            <p:cNvSpPr/>
            <p:nvPr/>
          </p:nvSpPr>
          <p:spPr>
            <a:xfrm>
              <a:off x="0" y="0"/>
              <a:ext cx="1073643" cy="144009"/>
            </a:xfrm>
            <a:custGeom>
              <a:avLst/>
              <a:gdLst/>
              <a:ahLst/>
              <a:cxnLst/>
              <a:rect l="l" t="t" r="r" b="b"/>
              <a:pathLst>
                <a:path w="1073643" h="144009">
                  <a:moveTo>
                    <a:pt x="49378" y="0"/>
                  </a:moveTo>
                  <a:lnTo>
                    <a:pt x="1024265" y="0"/>
                  </a:lnTo>
                  <a:cubicBezTo>
                    <a:pt x="1051536" y="0"/>
                    <a:pt x="1073643" y="22107"/>
                    <a:pt x="1073643" y="49378"/>
                  </a:cubicBezTo>
                  <a:lnTo>
                    <a:pt x="1073643" y="94631"/>
                  </a:lnTo>
                  <a:cubicBezTo>
                    <a:pt x="1073643" y="121902"/>
                    <a:pt x="1051536" y="144009"/>
                    <a:pt x="1024265" y="144009"/>
                  </a:cubicBezTo>
                  <a:lnTo>
                    <a:pt x="49378" y="144009"/>
                  </a:lnTo>
                  <a:cubicBezTo>
                    <a:pt x="22107" y="144009"/>
                    <a:pt x="0" y="121902"/>
                    <a:pt x="0" y="94631"/>
                  </a:cubicBezTo>
                  <a:lnTo>
                    <a:pt x="0" y="49378"/>
                  </a:lnTo>
                  <a:cubicBezTo>
                    <a:pt x="0" y="22107"/>
                    <a:pt x="22107" y="0"/>
                    <a:pt x="49378" y="0"/>
                  </a:cubicBezTo>
                  <a:close/>
                </a:path>
              </a:pathLst>
            </a:custGeom>
            <a:solidFill>
              <a:srgbClr val="112C16"/>
            </a:solidFill>
          </p:spPr>
        </p:sp>
        <p:sp>
          <p:nvSpPr>
            <p:cNvPr id="13" name="TextBox 13"/>
            <p:cNvSpPr txBox="1"/>
            <p:nvPr/>
          </p:nvSpPr>
          <p:spPr>
            <a:xfrm>
              <a:off x="0" y="-57150"/>
              <a:ext cx="1073643" cy="201159"/>
            </a:xfrm>
            <a:prstGeom prst="rect">
              <a:avLst/>
            </a:prstGeom>
          </p:spPr>
          <p:txBody>
            <a:bodyPr lIns="50800" tIns="50800" rIns="50800" bIns="50800" rtlCol="0" anchor="ctr"/>
            <a:lstStyle/>
            <a:p>
              <a:pPr algn="ctr">
                <a:lnSpc>
                  <a:spcPts val="3359"/>
                </a:lnSpc>
              </a:pPr>
              <a:endParaRPr/>
            </a:p>
          </p:txBody>
        </p:sp>
      </p:grpSp>
      <p:sp>
        <p:nvSpPr>
          <p:cNvPr id="14" name="TextBox 14"/>
          <p:cNvSpPr txBox="1"/>
          <p:nvPr/>
        </p:nvSpPr>
        <p:spPr>
          <a:xfrm>
            <a:off x="2799551" y="1027430"/>
            <a:ext cx="12688898" cy="1094740"/>
          </a:xfrm>
          <a:prstGeom prst="rect">
            <a:avLst/>
          </a:prstGeom>
        </p:spPr>
        <p:txBody>
          <a:bodyPr lIns="0" tIns="0" rIns="0" bIns="0" rtlCol="0" anchor="t">
            <a:spAutoFit/>
          </a:bodyPr>
          <a:lstStyle/>
          <a:p>
            <a:pPr algn="ctr">
              <a:lnSpc>
                <a:spcPts val="8959"/>
              </a:lnSpc>
              <a:spcBef>
                <a:spcPct val="0"/>
              </a:spcBef>
            </a:pPr>
            <a:r>
              <a:rPr lang="en-US" sz="6399">
                <a:solidFill>
                  <a:srgbClr val="F1F0E7"/>
                </a:solidFill>
                <a:latin typeface="Anton"/>
                <a:ea typeface="Anton"/>
                <a:cs typeface="Anton"/>
                <a:sym typeface="Anton"/>
              </a:rPr>
              <a:t>Spatial Visualisations</a:t>
            </a:r>
          </a:p>
        </p:txBody>
      </p:sp>
      <p:sp>
        <p:nvSpPr>
          <p:cNvPr id="15" name="TextBox 15"/>
          <p:cNvSpPr txBox="1"/>
          <p:nvPr/>
        </p:nvSpPr>
        <p:spPr>
          <a:xfrm>
            <a:off x="998870" y="4539565"/>
            <a:ext cx="4546922" cy="537845"/>
          </a:xfrm>
          <a:prstGeom prst="rect">
            <a:avLst/>
          </a:prstGeom>
        </p:spPr>
        <p:txBody>
          <a:bodyPr lIns="0" tIns="0" rIns="0" bIns="0" rtlCol="0" anchor="t">
            <a:spAutoFit/>
          </a:bodyPr>
          <a:lstStyle/>
          <a:p>
            <a:pPr algn="ctr">
              <a:lnSpc>
                <a:spcPts val="4480"/>
              </a:lnSpc>
              <a:spcBef>
                <a:spcPct val="0"/>
              </a:spcBef>
            </a:pPr>
            <a:r>
              <a:rPr lang="en-US" sz="3200" b="1" dirty="0" err="1">
                <a:solidFill>
                  <a:srgbClr val="F1F0E7"/>
                </a:solidFill>
                <a:latin typeface="Glacial Indifference Bold"/>
                <a:ea typeface="Glacial Indifference Bold"/>
                <a:cs typeface="Glacial Indifference Bold"/>
                <a:sym typeface="Glacial Indifference Bold"/>
              </a:rPr>
              <a:t>Aqi</a:t>
            </a:r>
            <a:r>
              <a:rPr lang="en-US" sz="3200" b="1" dirty="0">
                <a:solidFill>
                  <a:srgbClr val="F1F0E7"/>
                </a:solidFill>
                <a:latin typeface="Glacial Indifference Bold"/>
                <a:ea typeface="Glacial Indifference Bold"/>
                <a:cs typeface="Glacial Indifference Bold"/>
                <a:sym typeface="Glacial Indifference Bold"/>
              </a:rPr>
              <a:t> and weather</a:t>
            </a:r>
          </a:p>
        </p:txBody>
      </p:sp>
      <p:grpSp>
        <p:nvGrpSpPr>
          <p:cNvPr id="16" name="Group 16"/>
          <p:cNvGrpSpPr/>
          <p:nvPr/>
        </p:nvGrpSpPr>
        <p:grpSpPr>
          <a:xfrm>
            <a:off x="6885454" y="4343241"/>
            <a:ext cx="4546922" cy="3795817"/>
            <a:chOff x="0" y="0"/>
            <a:chExt cx="1197543" cy="999721"/>
          </a:xfrm>
        </p:grpSpPr>
        <p:sp>
          <p:nvSpPr>
            <p:cNvPr id="17" name="Freeform 17"/>
            <p:cNvSpPr/>
            <p:nvPr/>
          </p:nvSpPr>
          <p:spPr>
            <a:xfrm>
              <a:off x="0" y="0"/>
              <a:ext cx="1197543" cy="999721"/>
            </a:xfrm>
            <a:custGeom>
              <a:avLst/>
              <a:gdLst/>
              <a:ahLst/>
              <a:cxnLst/>
              <a:rect l="l" t="t" r="r" b="b"/>
              <a:pathLst>
                <a:path w="1197543" h="999721">
                  <a:moveTo>
                    <a:pt x="44269" y="0"/>
                  </a:moveTo>
                  <a:lnTo>
                    <a:pt x="1153274" y="0"/>
                  </a:lnTo>
                  <a:cubicBezTo>
                    <a:pt x="1165015" y="0"/>
                    <a:pt x="1176275" y="4664"/>
                    <a:pt x="1184577" y="12966"/>
                  </a:cubicBezTo>
                  <a:cubicBezTo>
                    <a:pt x="1192879" y="21268"/>
                    <a:pt x="1197543" y="32528"/>
                    <a:pt x="1197543" y="44269"/>
                  </a:cubicBezTo>
                  <a:lnTo>
                    <a:pt x="1197543" y="955452"/>
                  </a:lnTo>
                  <a:cubicBezTo>
                    <a:pt x="1197543" y="979901"/>
                    <a:pt x="1177723" y="999721"/>
                    <a:pt x="1153274" y="999721"/>
                  </a:cubicBezTo>
                  <a:lnTo>
                    <a:pt x="44269" y="999721"/>
                  </a:lnTo>
                  <a:cubicBezTo>
                    <a:pt x="32528" y="999721"/>
                    <a:pt x="21268" y="995057"/>
                    <a:pt x="12966" y="986755"/>
                  </a:cubicBezTo>
                  <a:cubicBezTo>
                    <a:pt x="4664" y="978453"/>
                    <a:pt x="0" y="967193"/>
                    <a:pt x="0" y="955452"/>
                  </a:cubicBezTo>
                  <a:lnTo>
                    <a:pt x="0" y="44269"/>
                  </a:lnTo>
                  <a:cubicBezTo>
                    <a:pt x="0" y="19820"/>
                    <a:pt x="19820" y="0"/>
                    <a:pt x="44269" y="0"/>
                  </a:cubicBezTo>
                  <a:close/>
                </a:path>
              </a:pathLst>
            </a:custGeom>
            <a:ln w="38100" cap="rnd">
              <a:solidFill>
                <a:srgbClr val="112C16"/>
              </a:solidFill>
              <a:prstDash val="solid"/>
              <a:round/>
            </a:ln>
          </p:spPr>
        </p:sp>
        <p:sp>
          <p:nvSpPr>
            <p:cNvPr id="18" name="TextBox 18"/>
            <p:cNvSpPr txBox="1"/>
            <p:nvPr/>
          </p:nvSpPr>
          <p:spPr>
            <a:xfrm>
              <a:off x="0" y="-57150"/>
              <a:ext cx="1197543" cy="1056871"/>
            </a:xfrm>
            <a:prstGeom prst="rect">
              <a:avLst/>
            </a:prstGeom>
          </p:spPr>
          <p:txBody>
            <a:bodyPr lIns="50800" tIns="50800" rIns="50800" bIns="50800" rtlCol="0" anchor="ctr"/>
            <a:lstStyle/>
            <a:p>
              <a:pPr algn="ctr">
                <a:lnSpc>
                  <a:spcPts val="3359"/>
                </a:lnSpc>
              </a:pPr>
              <a:endParaRPr/>
            </a:p>
          </p:txBody>
        </p:sp>
      </p:grpSp>
      <p:grpSp>
        <p:nvGrpSpPr>
          <p:cNvPr id="19" name="Group 19"/>
          <p:cNvGrpSpPr/>
          <p:nvPr/>
        </p:nvGrpSpPr>
        <p:grpSpPr>
          <a:xfrm>
            <a:off x="7113255" y="4596715"/>
            <a:ext cx="4076488" cy="546785"/>
            <a:chOff x="0" y="0"/>
            <a:chExt cx="1073643" cy="144009"/>
          </a:xfrm>
        </p:grpSpPr>
        <p:sp>
          <p:nvSpPr>
            <p:cNvPr id="20" name="Freeform 20"/>
            <p:cNvSpPr/>
            <p:nvPr/>
          </p:nvSpPr>
          <p:spPr>
            <a:xfrm>
              <a:off x="0" y="0"/>
              <a:ext cx="1073643" cy="144009"/>
            </a:xfrm>
            <a:custGeom>
              <a:avLst/>
              <a:gdLst/>
              <a:ahLst/>
              <a:cxnLst/>
              <a:rect l="l" t="t" r="r" b="b"/>
              <a:pathLst>
                <a:path w="1073643" h="144009">
                  <a:moveTo>
                    <a:pt x="49378" y="0"/>
                  </a:moveTo>
                  <a:lnTo>
                    <a:pt x="1024265" y="0"/>
                  </a:lnTo>
                  <a:cubicBezTo>
                    <a:pt x="1051536" y="0"/>
                    <a:pt x="1073643" y="22107"/>
                    <a:pt x="1073643" y="49378"/>
                  </a:cubicBezTo>
                  <a:lnTo>
                    <a:pt x="1073643" y="94631"/>
                  </a:lnTo>
                  <a:cubicBezTo>
                    <a:pt x="1073643" y="121902"/>
                    <a:pt x="1051536" y="144009"/>
                    <a:pt x="1024265" y="144009"/>
                  </a:cubicBezTo>
                  <a:lnTo>
                    <a:pt x="49378" y="144009"/>
                  </a:lnTo>
                  <a:cubicBezTo>
                    <a:pt x="22107" y="144009"/>
                    <a:pt x="0" y="121902"/>
                    <a:pt x="0" y="94631"/>
                  </a:cubicBezTo>
                  <a:lnTo>
                    <a:pt x="0" y="49378"/>
                  </a:lnTo>
                  <a:cubicBezTo>
                    <a:pt x="0" y="22107"/>
                    <a:pt x="22107" y="0"/>
                    <a:pt x="49378" y="0"/>
                  </a:cubicBezTo>
                  <a:close/>
                </a:path>
              </a:pathLst>
            </a:custGeom>
            <a:solidFill>
              <a:srgbClr val="112C16"/>
            </a:solidFill>
          </p:spPr>
        </p:sp>
        <p:sp>
          <p:nvSpPr>
            <p:cNvPr id="21" name="TextBox 21"/>
            <p:cNvSpPr txBox="1"/>
            <p:nvPr/>
          </p:nvSpPr>
          <p:spPr>
            <a:xfrm>
              <a:off x="0" y="-57150"/>
              <a:ext cx="1073643" cy="201159"/>
            </a:xfrm>
            <a:prstGeom prst="rect">
              <a:avLst/>
            </a:prstGeom>
          </p:spPr>
          <p:txBody>
            <a:bodyPr lIns="50800" tIns="50800" rIns="50800" bIns="50800" rtlCol="0" anchor="ctr"/>
            <a:lstStyle/>
            <a:p>
              <a:pPr algn="ctr">
                <a:lnSpc>
                  <a:spcPts val="3359"/>
                </a:lnSpc>
              </a:pPr>
              <a:endParaRPr/>
            </a:p>
          </p:txBody>
        </p:sp>
      </p:grpSp>
      <p:sp>
        <p:nvSpPr>
          <p:cNvPr id="22" name="TextBox 22"/>
          <p:cNvSpPr txBox="1"/>
          <p:nvPr/>
        </p:nvSpPr>
        <p:spPr>
          <a:xfrm>
            <a:off x="6855624" y="4539565"/>
            <a:ext cx="4546922" cy="537820"/>
          </a:xfrm>
          <a:prstGeom prst="rect">
            <a:avLst/>
          </a:prstGeom>
        </p:spPr>
        <p:txBody>
          <a:bodyPr lIns="0" tIns="0" rIns="0" bIns="0" rtlCol="0" anchor="t">
            <a:spAutoFit/>
          </a:bodyPr>
          <a:lstStyle/>
          <a:p>
            <a:pPr algn="ctr">
              <a:lnSpc>
                <a:spcPts val="4480"/>
              </a:lnSpc>
              <a:spcBef>
                <a:spcPct val="0"/>
              </a:spcBef>
            </a:pPr>
            <a:r>
              <a:rPr lang="en-US" sz="3200" b="1" dirty="0">
                <a:solidFill>
                  <a:srgbClr val="F1F0E7"/>
                </a:solidFill>
                <a:latin typeface="Glacial Indifference Bold"/>
                <a:ea typeface="Glacial Indifference Bold"/>
                <a:cs typeface="Glacial Indifference Bold"/>
                <a:sym typeface="Glacial Indifference Bold"/>
              </a:rPr>
              <a:t>LISA </a:t>
            </a:r>
          </a:p>
        </p:txBody>
      </p:sp>
      <p:grpSp>
        <p:nvGrpSpPr>
          <p:cNvPr id="23" name="Group 23"/>
          <p:cNvGrpSpPr/>
          <p:nvPr/>
        </p:nvGrpSpPr>
        <p:grpSpPr>
          <a:xfrm>
            <a:off x="12742208" y="4343241"/>
            <a:ext cx="4546922" cy="3795817"/>
            <a:chOff x="0" y="0"/>
            <a:chExt cx="1197543" cy="999721"/>
          </a:xfrm>
        </p:grpSpPr>
        <p:sp>
          <p:nvSpPr>
            <p:cNvPr id="24" name="Freeform 24"/>
            <p:cNvSpPr/>
            <p:nvPr/>
          </p:nvSpPr>
          <p:spPr>
            <a:xfrm>
              <a:off x="0" y="0"/>
              <a:ext cx="1197543" cy="999721"/>
            </a:xfrm>
            <a:custGeom>
              <a:avLst/>
              <a:gdLst/>
              <a:ahLst/>
              <a:cxnLst/>
              <a:rect l="l" t="t" r="r" b="b"/>
              <a:pathLst>
                <a:path w="1197543" h="999721">
                  <a:moveTo>
                    <a:pt x="44269" y="0"/>
                  </a:moveTo>
                  <a:lnTo>
                    <a:pt x="1153274" y="0"/>
                  </a:lnTo>
                  <a:cubicBezTo>
                    <a:pt x="1165015" y="0"/>
                    <a:pt x="1176275" y="4664"/>
                    <a:pt x="1184577" y="12966"/>
                  </a:cubicBezTo>
                  <a:cubicBezTo>
                    <a:pt x="1192879" y="21268"/>
                    <a:pt x="1197543" y="32528"/>
                    <a:pt x="1197543" y="44269"/>
                  </a:cubicBezTo>
                  <a:lnTo>
                    <a:pt x="1197543" y="955452"/>
                  </a:lnTo>
                  <a:cubicBezTo>
                    <a:pt x="1197543" y="979901"/>
                    <a:pt x="1177723" y="999721"/>
                    <a:pt x="1153274" y="999721"/>
                  </a:cubicBezTo>
                  <a:lnTo>
                    <a:pt x="44269" y="999721"/>
                  </a:lnTo>
                  <a:cubicBezTo>
                    <a:pt x="32528" y="999721"/>
                    <a:pt x="21268" y="995057"/>
                    <a:pt x="12966" y="986755"/>
                  </a:cubicBezTo>
                  <a:cubicBezTo>
                    <a:pt x="4664" y="978453"/>
                    <a:pt x="0" y="967193"/>
                    <a:pt x="0" y="955452"/>
                  </a:cubicBezTo>
                  <a:lnTo>
                    <a:pt x="0" y="44269"/>
                  </a:lnTo>
                  <a:cubicBezTo>
                    <a:pt x="0" y="19820"/>
                    <a:pt x="19820" y="0"/>
                    <a:pt x="44269" y="0"/>
                  </a:cubicBezTo>
                  <a:close/>
                </a:path>
              </a:pathLst>
            </a:custGeom>
            <a:ln w="38100" cap="rnd">
              <a:solidFill>
                <a:srgbClr val="112C16"/>
              </a:solidFill>
              <a:prstDash val="solid"/>
              <a:round/>
            </a:ln>
          </p:spPr>
        </p:sp>
        <p:sp>
          <p:nvSpPr>
            <p:cNvPr id="25" name="TextBox 25"/>
            <p:cNvSpPr txBox="1"/>
            <p:nvPr/>
          </p:nvSpPr>
          <p:spPr>
            <a:xfrm>
              <a:off x="0" y="-57150"/>
              <a:ext cx="1197543" cy="1056871"/>
            </a:xfrm>
            <a:prstGeom prst="rect">
              <a:avLst/>
            </a:prstGeom>
          </p:spPr>
          <p:txBody>
            <a:bodyPr lIns="50800" tIns="50800" rIns="50800" bIns="50800" rtlCol="0" anchor="ctr"/>
            <a:lstStyle/>
            <a:p>
              <a:pPr algn="ctr">
                <a:lnSpc>
                  <a:spcPts val="3359"/>
                </a:lnSpc>
              </a:pPr>
              <a:endParaRPr/>
            </a:p>
          </p:txBody>
        </p:sp>
      </p:grpSp>
      <p:grpSp>
        <p:nvGrpSpPr>
          <p:cNvPr id="26" name="Group 26"/>
          <p:cNvGrpSpPr/>
          <p:nvPr/>
        </p:nvGrpSpPr>
        <p:grpSpPr>
          <a:xfrm>
            <a:off x="12970009" y="4596715"/>
            <a:ext cx="4076488" cy="546785"/>
            <a:chOff x="0" y="0"/>
            <a:chExt cx="1073643" cy="144009"/>
          </a:xfrm>
        </p:grpSpPr>
        <p:sp>
          <p:nvSpPr>
            <p:cNvPr id="27" name="Freeform 27"/>
            <p:cNvSpPr/>
            <p:nvPr/>
          </p:nvSpPr>
          <p:spPr>
            <a:xfrm>
              <a:off x="0" y="0"/>
              <a:ext cx="1073643" cy="144009"/>
            </a:xfrm>
            <a:custGeom>
              <a:avLst/>
              <a:gdLst/>
              <a:ahLst/>
              <a:cxnLst/>
              <a:rect l="l" t="t" r="r" b="b"/>
              <a:pathLst>
                <a:path w="1073643" h="144009">
                  <a:moveTo>
                    <a:pt x="49378" y="0"/>
                  </a:moveTo>
                  <a:lnTo>
                    <a:pt x="1024265" y="0"/>
                  </a:lnTo>
                  <a:cubicBezTo>
                    <a:pt x="1051536" y="0"/>
                    <a:pt x="1073643" y="22107"/>
                    <a:pt x="1073643" y="49378"/>
                  </a:cubicBezTo>
                  <a:lnTo>
                    <a:pt x="1073643" y="94631"/>
                  </a:lnTo>
                  <a:cubicBezTo>
                    <a:pt x="1073643" y="121902"/>
                    <a:pt x="1051536" y="144009"/>
                    <a:pt x="1024265" y="144009"/>
                  </a:cubicBezTo>
                  <a:lnTo>
                    <a:pt x="49378" y="144009"/>
                  </a:lnTo>
                  <a:cubicBezTo>
                    <a:pt x="22107" y="144009"/>
                    <a:pt x="0" y="121902"/>
                    <a:pt x="0" y="94631"/>
                  </a:cubicBezTo>
                  <a:lnTo>
                    <a:pt x="0" y="49378"/>
                  </a:lnTo>
                  <a:cubicBezTo>
                    <a:pt x="0" y="22107"/>
                    <a:pt x="22107" y="0"/>
                    <a:pt x="49378" y="0"/>
                  </a:cubicBezTo>
                  <a:close/>
                </a:path>
              </a:pathLst>
            </a:custGeom>
            <a:solidFill>
              <a:srgbClr val="112C16"/>
            </a:solidFill>
          </p:spPr>
        </p:sp>
        <p:sp>
          <p:nvSpPr>
            <p:cNvPr id="28" name="TextBox 28"/>
            <p:cNvSpPr txBox="1"/>
            <p:nvPr/>
          </p:nvSpPr>
          <p:spPr>
            <a:xfrm>
              <a:off x="0" y="-57150"/>
              <a:ext cx="1073643" cy="201159"/>
            </a:xfrm>
            <a:prstGeom prst="rect">
              <a:avLst/>
            </a:prstGeom>
          </p:spPr>
          <p:txBody>
            <a:bodyPr lIns="50800" tIns="50800" rIns="50800" bIns="50800" rtlCol="0" anchor="ctr"/>
            <a:lstStyle/>
            <a:p>
              <a:pPr algn="ctr">
                <a:lnSpc>
                  <a:spcPts val="3359"/>
                </a:lnSpc>
              </a:pPr>
              <a:endParaRPr/>
            </a:p>
          </p:txBody>
        </p:sp>
      </p:grpSp>
      <p:sp>
        <p:nvSpPr>
          <p:cNvPr id="29" name="TextBox 29"/>
          <p:cNvSpPr txBox="1"/>
          <p:nvPr/>
        </p:nvSpPr>
        <p:spPr>
          <a:xfrm>
            <a:off x="12712378" y="4539565"/>
            <a:ext cx="4546922" cy="537820"/>
          </a:xfrm>
          <a:prstGeom prst="rect">
            <a:avLst/>
          </a:prstGeom>
        </p:spPr>
        <p:txBody>
          <a:bodyPr lIns="0" tIns="0" rIns="0" bIns="0" rtlCol="0" anchor="t">
            <a:spAutoFit/>
          </a:bodyPr>
          <a:lstStyle/>
          <a:p>
            <a:pPr algn="ctr">
              <a:lnSpc>
                <a:spcPts val="4480"/>
              </a:lnSpc>
              <a:spcBef>
                <a:spcPct val="0"/>
              </a:spcBef>
            </a:pPr>
            <a:r>
              <a:rPr lang="en-US" sz="3200" b="1" dirty="0">
                <a:solidFill>
                  <a:srgbClr val="F1F0E7"/>
                </a:solidFill>
                <a:latin typeface="Glacial Indifference Bold"/>
                <a:ea typeface="Glacial Indifference Bold"/>
                <a:cs typeface="Glacial Indifference Bold"/>
                <a:sym typeface="Glacial Indifference Bold"/>
              </a:rPr>
              <a:t>Hotspot Clusters</a:t>
            </a:r>
          </a:p>
        </p:txBody>
      </p:sp>
      <p:graphicFrame>
        <p:nvGraphicFramePr>
          <p:cNvPr id="34" name="Object 33">
            <a:extLst>
              <a:ext uri="{FF2B5EF4-FFF2-40B4-BE49-F238E27FC236}">
                <a16:creationId xmlns:a16="http://schemas.microsoft.com/office/drawing/2014/main" id="{E16C47FB-03B7-0F25-11CE-13264DC641A0}"/>
              </a:ext>
            </a:extLst>
          </p:cNvPr>
          <p:cNvGraphicFramePr>
            <a:graphicFrameLocks noChangeAspect="1"/>
          </p:cNvGraphicFramePr>
          <p:nvPr>
            <p:extLst>
              <p:ext uri="{D42A27DB-BD31-4B8C-83A1-F6EECF244321}">
                <p14:modId xmlns:p14="http://schemas.microsoft.com/office/powerpoint/2010/main" val="2267061116"/>
              </p:ext>
            </p:extLst>
          </p:nvPr>
        </p:nvGraphicFramePr>
        <p:xfrm>
          <a:off x="8001000" y="5591607"/>
          <a:ext cx="2502943" cy="2691740"/>
        </p:xfrm>
        <a:graphic>
          <a:graphicData uri="http://schemas.openxmlformats.org/presentationml/2006/ole">
            <mc:AlternateContent xmlns:mc="http://schemas.openxmlformats.org/markup-compatibility/2006">
              <mc:Choice xmlns:v="urn:schemas-microsoft-com:vml" Requires="v">
                <p:oleObj name="Packager Shell Object" showAsIcon="1" r:id="rId5" imgW="914400" imgH="792417" progId="Package">
                  <p:embed/>
                </p:oleObj>
              </mc:Choice>
              <mc:Fallback>
                <p:oleObj name="Packager Shell Object" showAsIcon="1" r:id="rId5" imgW="914400" imgH="792417" progId="Package">
                  <p:embed/>
                  <p:pic>
                    <p:nvPicPr>
                      <p:cNvPr id="0" name=""/>
                      <p:cNvPicPr/>
                      <p:nvPr/>
                    </p:nvPicPr>
                    <p:blipFill>
                      <a:blip r:embed="rId6"/>
                      <a:stretch>
                        <a:fillRect/>
                      </a:stretch>
                    </p:blipFill>
                    <p:spPr>
                      <a:xfrm>
                        <a:off x="8001000" y="5591607"/>
                        <a:ext cx="2502943" cy="2691740"/>
                      </a:xfrm>
                      <a:prstGeom prst="rect">
                        <a:avLst/>
                      </a:prstGeom>
                    </p:spPr>
                  </p:pic>
                </p:oleObj>
              </mc:Fallback>
            </mc:AlternateContent>
          </a:graphicData>
        </a:graphic>
      </p:graphicFrame>
      <p:graphicFrame>
        <p:nvGraphicFramePr>
          <p:cNvPr id="36" name="Object 35">
            <a:extLst>
              <a:ext uri="{FF2B5EF4-FFF2-40B4-BE49-F238E27FC236}">
                <a16:creationId xmlns:a16="http://schemas.microsoft.com/office/drawing/2014/main" id="{5CD26707-9F49-402E-796E-7FC4AEBCBBFF}"/>
              </a:ext>
            </a:extLst>
          </p:cNvPr>
          <p:cNvGraphicFramePr>
            <a:graphicFrameLocks noChangeAspect="1"/>
          </p:cNvGraphicFramePr>
          <p:nvPr>
            <p:extLst>
              <p:ext uri="{D42A27DB-BD31-4B8C-83A1-F6EECF244321}">
                <p14:modId xmlns:p14="http://schemas.microsoft.com/office/powerpoint/2010/main" val="2650051066"/>
              </p:ext>
            </p:extLst>
          </p:nvPr>
        </p:nvGraphicFramePr>
        <p:xfrm>
          <a:off x="1533040" y="5591607"/>
          <a:ext cx="3461463" cy="2431018"/>
        </p:xfrm>
        <a:graphic>
          <a:graphicData uri="http://schemas.openxmlformats.org/presentationml/2006/ole">
            <mc:AlternateContent xmlns:mc="http://schemas.openxmlformats.org/markup-compatibility/2006">
              <mc:Choice xmlns:v="urn:schemas-microsoft-com:vml" Requires="v">
                <p:oleObj name="Packager Shell Object" showAsIcon="1" r:id="rId7" imgW="914400" imgH="792417" progId="Package">
                  <p:embed/>
                </p:oleObj>
              </mc:Choice>
              <mc:Fallback>
                <p:oleObj name="Packager Shell Object" showAsIcon="1" r:id="rId7" imgW="914400" imgH="792417" progId="Package">
                  <p:embed/>
                  <p:pic>
                    <p:nvPicPr>
                      <p:cNvPr id="0" name=""/>
                      <p:cNvPicPr/>
                      <p:nvPr/>
                    </p:nvPicPr>
                    <p:blipFill>
                      <a:blip r:embed="rId8"/>
                      <a:stretch>
                        <a:fillRect/>
                      </a:stretch>
                    </p:blipFill>
                    <p:spPr>
                      <a:xfrm>
                        <a:off x="1533040" y="5591607"/>
                        <a:ext cx="3461463" cy="2431018"/>
                      </a:xfrm>
                      <a:prstGeom prst="rect">
                        <a:avLst/>
                      </a:prstGeom>
                    </p:spPr>
                  </p:pic>
                </p:oleObj>
              </mc:Fallback>
            </mc:AlternateContent>
          </a:graphicData>
        </a:graphic>
      </p:graphicFrame>
      <p:graphicFrame>
        <p:nvGraphicFramePr>
          <p:cNvPr id="37" name="Object 36">
            <a:extLst>
              <a:ext uri="{FF2B5EF4-FFF2-40B4-BE49-F238E27FC236}">
                <a16:creationId xmlns:a16="http://schemas.microsoft.com/office/drawing/2014/main" id="{A3ADD798-F420-DF43-EC6D-16EB7AEB34BF}"/>
              </a:ext>
            </a:extLst>
          </p:cNvPr>
          <p:cNvGraphicFramePr>
            <a:graphicFrameLocks noChangeAspect="1"/>
          </p:cNvGraphicFramePr>
          <p:nvPr>
            <p:extLst>
              <p:ext uri="{D42A27DB-BD31-4B8C-83A1-F6EECF244321}">
                <p14:modId xmlns:p14="http://schemas.microsoft.com/office/powerpoint/2010/main" val="3456478427"/>
              </p:ext>
            </p:extLst>
          </p:nvPr>
        </p:nvGraphicFramePr>
        <p:xfrm>
          <a:off x="13857754" y="5425328"/>
          <a:ext cx="2525246" cy="2187671"/>
        </p:xfrm>
        <a:graphic>
          <a:graphicData uri="http://schemas.openxmlformats.org/presentationml/2006/ole">
            <mc:AlternateContent xmlns:mc="http://schemas.openxmlformats.org/markup-compatibility/2006">
              <mc:Choice xmlns:v="urn:schemas-microsoft-com:vml" Requires="v">
                <p:oleObj name="Packager Shell Object" showAsIcon="1" r:id="rId9" imgW="914400" imgH="792417" progId="Package">
                  <p:embed/>
                </p:oleObj>
              </mc:Choice>
              <mc:Fallback>
                <p:oleObj name="Packager Shell Object" showAsIcon="1" r:id="rId9" imgW="914400" imgH="792417" progId="Package">
                  <p:embed/>
                  <p:pic>
                    <p:nvPicPr>
                      <p:cNvPr id="0" name=""/>
                      <p:cNvPicPr/>
                      <p:nvPr/>
                    </p:nvPicPr>
                    <p:blipFill>
                      <a:blip r:embed="rId10"/>
                      <a:stretch>
                        <a:fillRect/>
                      </a:stretch>
                    </p:blipFill>
                    <p:spPr>
                      <a:xfrm>
                        <a:off x="13857754" y="5425328"/>
                        <a:ext cx="2525246" cy="2187671"/>
                      </a:xfrm>
                      <a:prstGeom prst="rect">
                        <a:avLst/>
                      </a:prstGeom>
                    </p:spPr>
                  </p:pic>
                </p:oleObj>
              </mc:Fallback>
            </mc:AlternateContent>
          </a:graphicData>
        </a:graphic>
      </p:graphicFrame>
      <p:graphicFrame>
        <p:nvGraphicFramePr>
          <p:cNvPr id="41" name="Object 40">
            <a:extLst>
              <a:ext uri="{FF2B5EF4-FFF2-40B4-BE49-F238E27FC236}">
                <a16:creationId xmlns:a16="http://schemas.microsoft.com/office/drawing/2014/main" id="{4B8A6CD6-A93F-687F-46D5-C46B944EEF75}"/>
              </a:ext>
            </a:extLst>
          </p:cNvPr>
          <p:cNvGraphicFramePr>
            <a:graphicFrameLocks noChangeAspect="1"/>
          </p:cNvGraphicFramePr>
          <p:nvPr>
            <p:extLst>
              <p:ext uri="{D42A27DB-BD31-4B8C-83A1-F6EECF244321}">
                <p14:modId xmlns:p14="http://schemas.microsoft.com/office/powerpoint/2010/main" val="3103237337"/>
              </p:ext>
            </p:extLst>
          </p:nvPr>
        </p:nvGraphicFramePr>
        <p:xfrm>
          <a:off x="8275342" y="8318786"/>
          <a:ext cx="2087858" cy="1808753"/>
        </p:xfrm>
        <a:graphic>
          <a:graphicData uri="http://schemas.openxmlformats.org/presentationml/2006/ole">
            <mc:AlternateContent xmlns:mc="http://schemas.openxmlformats.org/markup-compatibility/2006">
              <mc:Choice xmlns:v="urn:schemas-microsoft-com:vml" Requires="v">
                <p:oleObj name="Packager Shell Object" showAsIcon="1" r:id="rId11" imgW="914400" imgH="792417" progId="Package">
                  <p:embed/>
                </p:oleObj>
              </mc:Choice>
              <mc:Fallback>
                <p:oleObj name="Packager Shell Object" showAsIcon="1" r:id="rId11" imgW="914400" imgH="792417" progId="Package">
                  <p:embed/>
                  <p:pic>
                    <p:nvPicPr>
                      <p:cNvPr id="0" name=""/>
                      <p:cNvPicPr/>
                      <p:nvPr/>
                    </p:nvPicPr>
                    <p:blipFill>
                      <a:blip r:embed="rId12"/>
                      <a:stretch>
                        <a:fillRect/>
                      </a:stretch>
                    </p:blipFill>
                    <p:spPr>
                      <a:xfrm>
                        <a:off x="8275342" y="8318786"/>
                        <a:ext cx="2087858" cy="1808753"/>
                      </a:xfrm>
                      <a:prstGeom prst="rect">
                        <a:avLst/>
                      </a:prstGeom>
                      <a:solidFill>
                        <a:schemeClr val="accent3">
                          <a:lumMod val="40000"/>
                          <a:lumOff val="60000"/>
                        </a:schemeClr>
                      </a:solidFill>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94E6E11-D6D2-04B8-CA7C-FAC692FC9EA5}"/>
              </a:ext>
            </a:extLst>
          </p:cNvPr>
          <p:cNvPicPr>
            <a:picLocks noChangeAspect="1"/>
          </p:cNvPicPr>
          <p:nvPr/>
        </p:nvPicPr>
        <p:blipFill>
          <a:blip r:embed="rId2"/>
          <a:stretch>
            <a:fillRect/>
          </a:stretch>
        </p:blipFill>
        <p:spPr>
          <a:xfrm>
            <a:off x="1676400" y="1649427"/>
            <a:ext cx="14517358" cy="6988146"/>
          </a:xfrm>
          <a:prstGeom prst="rect">
            <a:avLst/>
          </a:prstGeom>
        </p:spPr>
      </p:pic>
      <p:sp>
        <p:nvSpPr>
          <p:cNvPr id="6" name="Title 5">
            <a:extLst>
              <a:ext uri="{FF2B5EF4-FFF2-40B4-BE49-F238E27FC236}">
                <a16:creationId xmlns:a16="http://schemas.microsoft.com/office/drawing/2014/main" id="{CB98BA53-9C01-B2DF-0626-6C916E4F974C}"/>
              </a:ext>
            </a:extLst>
          </p:cNvPr>
          <p:cNvSpPr>
            <a:spLocks noGrp="1"/>
          </p:cNvSpPr>
          <p:nvPr>
            <p:ph type="title"/>
          </p:nvPr>
        </p:nvSpPr>
        <p:spPr>
          <a:xfrm>
            <a:off x="4648200" y="-7620"/>
            <a:ext cx="8229600" cy="1143000"/>
          </a:xfrm>
        </p:spPr>
        <p:txBody>
          <a:bodyPr/>
          <a:lstStyle/>
          <a:p>
            <a:r>
              <a:rPr lang="en-IN" dirty="0"/>
              <a:t>OpenStreetMap</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sp>
        <p:nvSpPr>
          <p:cNvPr id="2" name="Freeform 2"/>
          <p:cNvSpPr/>
          <p:nvPr/>
        </p:nvSpPr>
        <p:spPr>
          <a:xfrm>
            <a:off x="609600" y="2286000"/>
            <a:ext cx="7162800" cy="5715000"/>
          </a:xfrm>
          <a:custGeom>
            <a:avLst/>
            <a:gdLst/>
            <a:ahLst/>
            <a:cxnLst/>
            <a:rect l="l" t="t" r="r" b="b"/>
            <a:pathLst>
              <a:path w="9959430" h="7992391">
                <a:moveTo>
                  <a:pt x="0" y="0"/>
                </a:moveTo>
                <a:lnTo>
                  <a:pt x="9959430" y="0"/>
                </a:lnTo>
                <a:lnTo>
                  <a:pt x="9959430" y="7992390"/>
                </a:lnTo>
                <a:lnTo>
                  <a:pt x="0" y="7992390"/>
                </a:lnTo>
                <a:lnTo>
                  <a:pt x="0" y="0"/>
                </a:lnTo>
                <a:close/>
              </a:path>
            </a:pathLst>
          </a:custGeom>
          <a:blipFill>
            <a:blip r:embed="rId2"/>
            <a:stretch>
              <a:fillRect/>
            </a:stretch>
          </a:blipFill>
        </p:spPr>
        <p:txBody>
          <a:bodyPr/>
          <a:lstStyle/>
          <a:p>
            <a:endParaRPr lang="en-IN" dirty="0"/>
          </a:p>
        </p:txBody>
      </p:sp>
      <p:grpSp>
        <p:nvGrpSpPr>
          <p:cNvPr id="5" name="Group 2">
            <a:extLst>
              <a:ext uri="{FF2B5EF4-FFF2-40B4-BE49-F238E27FC236}">
                <a16:creationId xmlns:a16="http://schemas.microsoft.com/office/drawing/2014/main" id="{73989290-411E-B219-5C85-0C09461E7D5D}"/>
              </a:ext>
            </a:extLst>
          </p:cNvPr>
          <p:cNvGrpSpPr/>
          <p:nvPr/>
        </p:nvGrpSpPr>
        <p:grpSpPr>
          <a:xfrm>
            <a:off x="1028700" y="1028700"/>
            <a:ext cx="16230600" cy="1216000"/>
            <a:chOff x="0" y="0"/>
            <a:chExt cx="4274726" cy="320263"/>
          </a:xfrm>
        </p:grpSpPr>
        <p:sp>
          <p:nvSpPr>
            <p:cNvPr id="6" name="Freeform 3">
              <a:extLst>
                <a:ext uri="{FF2B5EF4-FFF2-40B4-BE49-F238E27FC236}">
                  <a16:creationId xmlns:a16="http://schemas.microsoft.com/office/drawing/2014/main" id="{FAD5BE81-710E-47DC-5BF0-C16DFC709FAF}"/>
                </a:ext>
              </a:extLst>
            </p:cNvPr>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0"/>
                  </a:srgbClr>
                </a:gs>
                <a:gs pos="33333">
                  <a:srgbClr val="112C16">
                    <a:alpha val="100000"/>
                  </a:srgbClr>
                </a:gs>
                <a:gs pos="66667">
                  <a:srgbClr val="112C16">
                    <a:alpha val="100000"/>
                  </a:srgbClr>
                </a:gs>
                <a:gs pos="100000">
                  <a:srgbClr val="112C16">
                    <a:alpha val="0"/>
                  </a:srgbClr>
                </a:gs>
              </a:gsLst>
              <a:lin ang="0"/>
            </a:gradFill>
          </p:spPr>
        </p:sp>
        <p:sp>
          <p:nvSpPr>
            <p:cNvPr id="7" name="TextBox 4">
              <a:extLst>
                <a:ext uri="{FF2B5EF4-FFF2-40B4-BE49-F238E27FC236}">
                  <a16:creationId xmlns:a16="http://schemas.microsoft.com/office/drawing/2014/main" id="{2DF661EF-25C9-3A2C-26B2-947B2A3B0AC9}"/>
                </a:ext>
              </a:extLst>
            </p:cNvPr>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sp>
        <p:nvSpPr>
          <p:cNvPr id="9" name="TextBox 8">
            <a:extLst>
              <a:ext uri="{FF2B5EF4-FFF2-40B4-BE49-F238E27FC236}">
                <a16:creationId xmlns:a16="http://schemas.microsoft.com/office/drawing/2014/main" id="{61B352FA-8199-82E9-C1F1-9276B0FABC48}"/>
              </a:ext>
            </a:extLst>
          </p:cNvPr>
          <p:cNvSpPr txBox="1"/>
          <p:nvPr/>
        </p:nvSpPr>
        <p:spPr>
          <a:xfrm>
            <a:off x="4191000" y="968288"/>
            <a:ext cx="11353800" cy="1106008"/>
          </a:xfrm>
          <a:prstGeom prst="rect">
            <a:avLst/>
          </a:prstGeom>
          <a:noFill/>
        </p:spPr>
        <p:txBody>
          <a:bodyPr wrap="square">
            <a:spAutoFit/>
          </a:bodyPr>
          <a:lstStyle/>
          <a:p>
            <a:pPr algn="ctr">
              <a:lnSpc>
                <a:spcPts val="8959"/>
              </a:lnSpc>
              <a:spcBef>
                <a:spcPct val="0"/>
              </a:spcBef>
            </a:pPr>
            <a:r>
              <a:rPr lang="en-US" sz="4400" dirty="0">
                <a:solidFill>
                  <a:srgbClr val="F1F0E7"/>
                </a:solidFill>
                <a:latin typeface="Anton"/>
                <a:ea typeface="Anton"/>
                <a:cs typeface="Anton"/>
                <a:sym typeface="Anton"/>
              </a:rPr>
              <a:t>Predictive</a:t>
            </a:r>
            <a:r>
              <a:rPr lang="en-US" sz="3600" dirty="0">
                <a:solidFill>
                  <a:srgbClr val="F1F0E7"/>
                </a:solidFill>
                <a:latin typeface="Anton"/>
                <a:ea typeface="Anton"/>
                <a:cs typeface="Anton"/>
                <a:sym typeface="Anton"/>
              </a:rPr>
              <a:t> Modelling using some more ML models</a:t>
            </a:r>
          </a:p>
        </p:txBody>
      </p:sp>
      <p:sp>
        <p:nvSpPr>
          <p:cNvPr id="10" name="Freeform 2"/>
          <p:cNvSpPr/>
          <p:nvPr/>
        </p:nvSpPr>
        <p:spPr>
          <a:xfrm>
            <a:off x="8001000" y="2389361"/>
            <a:ext cx="9829800" cy="4076699"/>
          </a:xfrm>
          <a:custGeom>
            <a:avLst/>
            <a:gdLst/>
            <a:ahLst/>
            <a:cxnLst/>
            <a:rect l="l" t="t" r="r" b="b"/>
            <a:pathLst>
              <a:path w="11301259" h="4661769">
                <a:moveTo>
                  <a:pt x="0" y="0"/>
                </a:moveTo>
                <a:lnTo>
                  <a:pt x="11301258" y="0"/>
                </a:lnTo>
                <a:lnTo>
                  <a:pt x="11301258" y="4661770"/>
                </a:lnTo>
                <a:lnTo>
                  <a:pt x="0" y="4661770"/>
                </a:lnTo>
                <a:lnTo>
                  <a:pt x="0" y="0"/>
                </a:lnTo>
                <a:close/>
              </a:path>
            </a:pathLst>
          </a:custGeom>
          <a:blipFill>
            <a:blip r:embed="rId3"/>
            <a:stretch>
              <a:fillRect/>
            </a:stretch>
          </a:blipFill>
        </p:spPr>
      </p:sp>
      <p:sp>
        <p:nvSpPr>
          <p:cNvPr id="12" name="TextBox 11">
            <a:extLst>
              <a:ext uri="{FF2B5EF4-FFF2-40B4-BE49-F238E27FC236}">
                <a16:creationId xmlns:a16="http://schemas.microsoft.com/office/drawing/2014/main" id="{A504853F-474E-1EEA-5DA4-0162FD7DB81D}"/>
              </a:ext>
            </a:extLst>
          </p:cNvPr>
          <p:cNvSpPr txBox="1"/>
          <p:nvPr/>
        </p:nvSpPr>
        <p:spPr>
          <a:xfrm>
            <a:off x="2068831" y="8168521"/>
            <a:ext cx="6236970" cy="1785104"/>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algn="ctr">
              <a:lnSpc>
                <a:spcPts val="3359"/>
              </a:lnSpc>
              <a:spcBef>
                <a:spcPct val="0"/>
              </a:spcBef>
            </a:pPr>
            <a:r>
              <a:rPr lang="en-US" sz="1800" dirty="0">
                <a:solidFill>
                  <a:srgbClr val="000000"/>
                </a:solidFill>
                <a:latin typeface="Glacial Indifference"/>
                <a:ea typeface="Glacial Indifference"/>
                <a:cs typeface="Glacial Indifference"/>
                <a:sym typeface="Glacial Indifference"/>
              </a:rPr>
              <a:t>--- Training </a:t>
            </a:r>
            <a:r>
              <a:rPr lang="en-US" sz="1800" dirty="0" err="1">
                <a:solidFill>
                  <a:srgbClr val="000000"/>
                </a:solidFill>
                <a:latin typeface="Glacial Indifference"/>
                <a:ea typeface="Glacial Indifference"/>
                <a:cs typeface="Glacial Indifference"/>
                <a:sym typeface="Glacial Indifference"/>
              </a:rPr>
              <a:t>XGBoost</a:t>
            </a:r>
            <a:r>
              <a:rPr lang="en-US" sz="1800" dirty="0">
                <a:solidFill>
                  <a:srgbClr val="000000"/>
                </a:solidFill>
                <a:latin typeface="Glacial Indifference"/>
                <a:ea typeface="Glacial Indifference"/>
                <a:cs typeface="Glacial Indifference"/>
                <a:sym typeface="Glacial Indifference"/>
              </a:rPr>
              <a:t> Regressor Model ---</a:t>
            </a:r>
          </a:p>
          <a:p>
            <a:pPr algn="ctr">
              <a:lnSpc>
                <a:spcPts val="3359"/>
              </a:lnSpc>
              <a:spcBef>
                <a:spcPct val="0"/>
              </a:spcBef>
            </a:pPr>
            <a:r>
              <a:rPr lang="en-US" sz="1800" dirty="0" err="1">
                <a:solidFill>
                  <a:srgbClr val="000000"/>
                </a:solidFill>
                <a:latin typeface="Glacial Indifference"/>
                <a:ea typeface="Glacial Indifference"/>
                <a:cs typeface="Glacial Indifference"/>
                <a:sym typeface="Glacial Indifference"/>
              </a:rPr>
              <a:t>XGBoost</a:t>
            </a:r>
            <a:r>
              <a:rPr lang="en-US" sz="1800" dirty="0">
                <a:solidFill>
                  <a:srgbClr val="000000"/>
                </a:solidFill>
                <a:latin typeface="Glacial Indifference"/>
                <a:ea typeface="Glacial Indifference"/>
                <a:cs typeface="Glacial Indifference"/>
                <a:sym typeface="Glacial Indifference"/>
              </a:rPr>
              <a:t> MAE: 5.1728</a:t>
            </a:r>
          </a:p>
          <a:p>
            <a:pPr algn="ctr">
              <a:lnSpc>
                <a:spcPts val="3359"/>
              </a:lnSpc>
              <a:spcBef>
                <a:spcPct val="0"/>
              </a:spcBef>
            </a:pPr>
            <a:r>
              <a:rPr lang="en-US" sz="1800" dirty="0" err="1">
                <a:solidFill>
                  <a:srgbClr val="000000"/>
                </a:solidFill>
                <a:latin typeface="Glacial Indifference"/>
                <a:ea typeface="Glacial Indifference"/>
                <a:cs typeface="Glacial Indifference"/>
                <a:sym typeface="Glacial Indifference"/>
              </a:rPr>
              <a:t>XGBoost</a:t>
            </a:r>
            <a:r>
              <a:rPr lang="en-US" sz="1800" dirty="0">
                <a:solidFill>
                  <a:srgbClr val="000000"/>
                </a:solidFill>
                <a:latin typeface="Glacial Indifference"/>
                <a:ea typeface="Glacial Indifference"/>
                <a:cs typeface="Glacial Indifference"/>
                <a:sym typeface="Glacial Indifference"/>
              </a:rPr>
              <a:t> RMSE: 6.4891</a:t>
            </a:r>
          </a:p>
          <a:p>
            <a:pPr algn="ctr">
              <a:lnSpc>
                <a:spcPts val="3359"/>
              </a:lnSpc>
              <a:spcBef>
                <a:spcPct val="0"/>
              </a:spcBef>
            </a:pPr>
            <a:r>
              <a:rPr lang="en-US" sz="1800" dirty="0" err="1">
                <a:solidFill>
                  <a:srgbClr val="000000"/>
                </a:solidFill>
                <a:latin typeface="Glacial Indifference"/>
                <a:ea typeface="Glacial Indifference"/>
                <a:cs typeface="Glacial Indifference"/>
                <a:sym typeface="Glacial Indifference"/>
              </a:rPr>
              <a:t>XGBoost</a:t>
            </a:r>
            <a:r>
              <a:rPr lang="en-US" sz="1800" dirty="0">
                <a:solidFill>
                  <a:srgbClr val="000000"/>
                </a:solidFill>
                <a:latin typeface="Glacial Indifference"/>
                <a:ea typeface="Glacial Indifference"/>
                <a:cs typeface="Glacial Indifference"/>
                <a:sym typeface="Glacial Indifference"/>
              </a:rPr>
              <a:t> R2 Score: 0.9591</a:t>
            </a:r>
          </a:p>
        </p:txBody>
      </p:sp>
      <p:sp>
        <p:nvSpPr>
          <p:cNvPr id="13" name="Freeform 2"/>
          <p:cNvSpPr/>
          <p:nvPr/>
        </p:nvSpPr>
        <p:spPr>
          <a:xfrm>
            <a:off x="9982200" y="6903720"/>
            <a:ext cx="6781800" cy="3314700"/>
          </a:xfrm>
          <a:custGeom>
            <a:avLst/>
            <a:gdLst/>
            <a:ahLst/>
            <a:cxnLst/>
            <a:rect l="l" t="t" r="r" b="b"/>
            <a:pathLst>
              <a:path w="9310270" h="5172372">
                <a:moveTo>
                  <a:pt x="0" y="0"/>
                </a:moveTo>
                <a:lnTo>
                  <a:pt x="9310270" y="0"/>
                </a:lnTo>
                <a:lnTo>
                  <a:pt x="9310270" y="5172373"/>
                </a:lnTo>
                <a:lnTo>
                  <a:pt x="0" y="5172373"/>
                </a:lnTo>
                <a:lnTo>
                  <a:pt x="0" y="0"/>
                </a:lnTo>
                <a:close/>
              </a:path>
            </a:pathLst>
          </a:custGeom>
          <a:blipFill>
            <a:blip r:embed="rId4"/>
            <a:stretch>
              <a:fillRect/>
            </a:stretch>
          </a:blipFill>
        </p:spPr>
      </p:sp>
      <p:cxnSp>
        <p:nvCxnSpPr>
          <p:cNvPr id="15" name="Straight Arrow Connector 14">
            <a:extLst>
              <a:ext uri="{FF2B5EF4-FFF2-40B4-BE49-F238E27FC236}">
                <a16:creationId xmlns:a16="http://schemas.microsoft.com/office/drawing/2014/main" id="{4606FE22-D311-3F30-B6E2-8C0CA08D2805}"/>
              </a:ext>
            </a:extLst>
          </p:cNvPr>
          <p:cNvCxnSpPr/>
          <p:nvPr/>
        </p:nvCxnSpPr>
        <p:spPr>
          <a:xfrm>
            <a:off x="8534400" y="9061073"/>
            <a:ext cx="13335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0"/>
                  </a:srgbClr>
                </a:gs>
                <a:gs pos="33333">
                  <a:srgbClr val="112C16">
                    <a:alpha val="100000"/>
                  </a:srgbClr>
                </a:gs>
                <a:gs pos="66667">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28700" y="3235785"/>
            <a:ext cx="525704" cy="1252746"/>
            <a:chOff x="0" y="0"/>
            <a:chExt cx="138457" cy="329941"/>
          </a:xfrm>
        </p:grpSpPr>
        <p:sp>
          <p:nvSpPr>
            <p:cNvPr id="6" name="Freeform 6"/>
            <p:cNvSpPr/>
            <p:nvPr/>
          </p:nvSpPr>
          <p:spPr>
            <a:xfrm>
              <a:off x="0" y="0"/>
              <a:ext cx="138457" cy="329941"/>
            </a:xfrm>
            <a:custGeom>
              <a:avLst/>
              <a:gdLst/>
              <a:ahLst/>
              <a:cxnLst/>
              <a:rect l="l" t="t" r="r" b="b"/>
              <a:pathLst>
                <a:path w="138457" h="329941">
                  <a:moveTo>
                    <a:pt x="69229" y="0"/>
                  </a:moveTo>
                  <a:lnTo>
                    <a:pt x="69229" y="0"/>
                  </a:lnTo>
                  <a:cubicBezTo>
                    <a:pt x="87589" y="0"/>
                    <a:pt x="105198" y="7294"/>
                    <a:pt x="118181" y="20277"/>
                  </a:cubicBezTo>
                  <a:cubicBezTo>
                    <a:pt x="131163" y="33259"/>
                    <a:pt x="138457" y="50868"/>
                    <a:pt x="138457" y="69229"/>
                  </a:cubicBezTo>
                  <a:lnTo>
                    <a:pt x="138457" y="260713"/>
                  </a:lnTo>
                  <a:cubicBezTo>
                    <a:pt x="138457" y="298947"/>
                    <a:pt x="107462" y="329941"/>
                    <a:pt x="69229" y="329941"/>
                  </a:cubicBezTo>
                  <a:lnTo>
                    <a:pt x="69229" y="329941"/>
                  </a:lnTo>
                  <a:cubicBezTo>
                    <a:pt x="30995" y="329941"/>
                    <a:pt x="0" y="298947"/>
                    <a:pt x="0" y="260713"/>
                  </a:cubicBezTo>
                  <a:lnTo>
                    <a:pt x="0" y="69229"/>
                  </a:lnTo>
                  <a:cubicBezTo>
                    <a:pt x="0" y="30995"/>
                    <a:pt x="30995" y="0"/>
                    <a:pt x="69229" y="0"/>
                  </a:cubicBezTo>
                  <a:close/>
                </a:path>
              </a:pathLst>
            </a:custGeom>
            <a:solidFill>
              <a:srgbClr val="112C16"/>
            </a:solidFill>
          </p:spPr>
        </p:sp>
        <p:sp>
          <p:nvSpPr>
            <p:cNvPr id="7" name="TextBox 7"/>
            <p:cNvSpPr txBox="1"/>
            <p:nvPr/>
          </p:nvSpPr>
          <p:spPr>
            <a:xfrm>
              <a:off x="0" y="-57150"/>
              <a:ext cx="138457" cy="387091"/>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a:off x="1028700" y="4825708"/>
            <a:ext cx="525704" cy="1252746"/>
            <a:chOff x="0" y="0"/>
            <a:chExt cx="138457" cy="329941"/>
          </a:xfrm>
        </p:grpSpPr>
        <p:sp>
          <p:nvSpPr>
            <p:cNvPr id="9" name="Freeform 9"/>
            <p:cNvSpPr/>
            <p:nvPr/>
          </p:nvSpPr>
          <p:spPr>
            <a:xfrm>
              <a:off x="0" y="0"/>
              <a:ext cx="138457" cy="329941"/>
            </a:xfrm>
            <a:custGeom>
              <a:avLst/>
              <a:gdLst/>
              <a:ahLst/>
              <a:cxnLst/>
              <a:rect l="l" t="t" r="r" b="b"/>
              <a:pathLst>
                <a:path w="138457" h="329941">
                  <a:moveTo>
                    <a:pt x="69229" y="0"/>
                  </a:moveTo>
                  <a:lnTo>
                    <a:pt x="69229" y="0"/>
                  </a:lnTo>
                  <a:cubicBezTo>
                    <a:pt x="87589" y="0"/>
                    <a:pt x="105198" y="7294"/>
                    <a:pt x="118181" y="20277"/>
                  </a:cubicBezTo>
                  <a:cubicBezTo>
                    <a:pt x="131163" y="33259"/>
                    <a:pt x="138457" y="50868"/>
                    <a:pt x="138457" y="69229"/>
                  </a:cubicBezTo>
                  <a:lnTo>
                    <a:pt x="138457" y="260713"/>
                  </a:lnTo>
                  <a:cubicBezTo>
                    <a:pt x="138457" y="298947"/>
                    <a:pt x="107462" y="329941"/>
                    <a:pt x="69229" y="329941"/>
                  </a:cubicBezTo>
                  <a:lnTo>
                    <a:pt x="69229" y="329941"/>
                  </a:lnTo>
                  <a:cubicBezTo>
                    <a:pt x="30995" y="329941"/>
                    <a:pt x="0" y="298947"/>
                    <a:pt x="0" y="260713"/>
                  </a:cubicBezTo>
                  <a:lnTo>
                    <a:pt x="0" y="69229"/>
                  </a:lnTo>
                  <a:cubicBezTo>
                    <a:pt x="0" y="30995"/>
                    <a:pt x="30995" y="0"/>
                    <a:pt x="69229" y="0"/>
                  </a:cubicBezTo>
                  <a:close/>
                </a:path>
              </a:pathLst>
            </a:custGeom>
            <a:solidFill>
              <a:srgbClr val="112C16"/>
            </a:solidFill>
          </p:spPr>
        </p:sp>
        <p:sp>
          <p:nvSpPr>
            <p:cNvPr id="10" name="TextBox 10"/>
            <p:cNvSpPr txBox="1"/>
            <p:nvPr/>
          </p:nvSpPr>
          <p:spPr>
            <a:xfrm>
              <a:off x="0" y="-57150"/>
              <a:ext cx="138457" cy="387091"/>
            </a:xfrm>
            <a:prstGeom prst="rect">
              <a:avLst/>
            </a:prstGeom>
          </p:spPr>
          <p:txBody>
            <a:bodyPr lIns="50800" tIns="50800" rIns="50800" bIns="50800" rtlCol="0" anchor="ctr"/>
            <a:lstStyle/>
            <a:p>
              <a:pPr algn="ctr">
                <a:lnSpc>
                  <a:spcPts val="3359"/>
                </a:lnSpc>
              </a:pPr>
              <a:endParaRPr/>
            </a:p>
          </p:txBody>
        </p:sp>
      </p:grpSp>
      <p:grpSp>
        <p:nvGrpSpPr>
          <p:cNvPr id="11" name="Group 11"/>
          <p:cNvGrpSpPr/>
          <p:nvPr/>
        </p:nvGrpSpPr>
        <p:grpSpPr>
          <a:xfrm>
            <a:off x="1028700" y="6415631"/>
            <a:ext cx="525704" cy="1252746"/>
            <a:chOff x="0" y="0"/>
            <a:chExt cx="138457" cy="329941"/>
          </a:xfrm>
        </p:grpSpPr>
        <p:sp>
          <p:nvSpPr>
            <p:cNvPr id="12" name="Freeform 12"/>
            <p:cNvSpPr/>
            <p:nvPr/>
          </p:nvSpPr>
          <p:spPr>
            <a:xfrm>
              <a:off x="0" y="0"/>
              <a:ext cx="138457" cy="329941"/>
            </a:xfrm>
            <a:custGeom>
              <a:avLst/>
              <a:gdLst/>
              <a:ahLst/>
              <a:cxnLst/>
              <a:rect l="l" t="t" r="r" b="b"/>
              <a:pathLst>
                <a:path w="138457" h="329941">
                  <a:moveTo>
                    <a:pt x="69229" y="0"/>
                  </a:moveTo>
                  <a:lnTo>
                    <a:pt x="69229" y="0"/>
                  </a:lnTo>
                  <a:cubicBezTo>
                    <a:pt x="87589" y="0"/>
                    <a:pt x="105198" y="7294"/>
                    <a:pt x="118181" y="20277"/>
                  </a:cubicBezTo>
                  <a:cubicBezTo>
                    <a:pt x="131163" y="33259"/>
                    <a:pt x="138457" y="50868"/>
                    <a:pt x="138457" y="69229"/>
                  </a:cubicBezTo>
                  <a:lnTo>
                    <a:pt x="138457" y="260713"/>
                  </a:lnTo>
                  <a:cubicBezTo>
                    <a:pt x="138457" y="298947"/>
                    <a:pt x="107462" y="329941"/>
                    <a:pt x="69229" y="329941"/>
                  </a:cubicBezTo>
                  <a:lnTo>
                    <a:pt x="69229" y="329941"/>
                  </a:lnTo>
                  <a:cubicBezTo>
                    <a:pt x="30995" y="329941"/>
                    <a:pt x="0" y="298947"/>
                    <a:pt x="0" y="260713"/>
                  </a:cubicBezTo>
                  <a:lnTo>
                    <a:pt x="0" y="69229"/>
                  </a:lnTo>
                  <a:cubicBezTo>
                    <a:pt x="0" y="30995"/>
                    <a:pt x="30995" y="0"/>
                    <a:pt x="69229" y="0"/>
                  </a:cubicBezTo>
                  <a:close/>
                </a:path>
              </a:pathLst>
            </a:custGeom>
            <a:solidFill>
              <a:srgbClr val="112C16"/>
            </a:solidFill>
          </p:spPr>
        </p:sp>
        <p:sp>
          <p:nvSpPr>
            <p:cNvPr id="13" name="TextBox 13"/>
            <p:cNvSpPr txBox="1"/>
            <p:nvPr/>
          </p:nvSpPr>
          <p:spPr>
            <a:xfrm>
              <a:off x="0" y="-57150"/>
              <a:ext cx="138457" cy="387091"/>
            </a:xfrm>
            <a:prstGeom prst="rect">
              <a:avLst/>
            </a:prstGeom>
          </p:spPr>
          <p:txBody>
            <a:bodyPr lIns="50800" tIns="50800" rIns="50800" bIns="50800" rtlCol="0" anchor="ctr"/>
            <a:lstStyle/>
            <a:p>
              <a:pPr algn="ctr">
                <a:lnSpc>
                  <a:spcPts val="3359"/>
                </a:lnSpc>
              </a:pPr>
              <a:endParaRPr/>
            </a:p>
          </p:txBody>
        </p:sp>
      </p:grpSp>
      <p:grpSp>
        <p:nvGrpSpPr>
          <p:cNvPr id="14" name="Group 14"/>
          <p:cNvGrpSpPr/>
          <p:nvPr/>
        </p:nvGrpSpPr>
        <p:grpSpPr>
          <a:xfrm>
            <a:off x="1028700" y="8005554"/>
            <a:ext cx="525704" cy="1252746"/>
            <a:chOff x="0" y="0"/>
            <a:chExt cx="138457" cy="329941"/>
          </a:xfrm>
        </p:grpSpPr>
        <p:sp>
          <p:nvSpPr>
            <p:cNvPr id="15" name="Freeform 15"/>
            <p:cNvSpPr/>
            <p:nvPr/>
          </p:nvSpPr>
          <p:spPr>
            <a:xfrm>
              <a:off x="0" y="0"/>
              <a:ext cx="138457" cy="329941"/>
            </a:xfrm>
            <a:custGeom>
              <a:avLst/>
              <a:gdLst/>
              <a:ahLst/>
              <a:cxnLst/>
              <a:rect l="l" t="t" r="r" b="b"/>
              <a:pathLst>
                <a:path w="138457" h="329941">
                  <a:moveTo>
                    <a:pt x="69229" y="0"/>
                  </a:moveTo>
                  <a:lnTo>
                    <a:pt x="69229" y="0"/>
                  </a:lnTo>
                  <a:cubicBezTo>
                    <a:pt x="87589" y="0"/>
                    <a:pt x="105198" y="7294"/>
                    <a:pt x="118181" y="20277"/>
                  </a:cubicBezTo>
                  <a:cubicBezTo>
                    <a:pt x="131163" y="33259"/>
                    <a:pt x="138457" y="50868"/>
                    <a:pt x="138457" y="69229"/>
                  </a:cubicBezTo>
                  <a:lnTo>
                    <a:pt x="138457" y="260713"/>
                  </a:lnTo>
                  <a:cubicBezTo>
                    <a:pt x="138457" y="298947"/>
                    <a:pt x="107462" y="329941"/>
                    <a:pt x="69229" y="329941"/>
                  </a:cubicBezTo>
                  <a:lnTo>
                    <a:pt x="69229" y="329941"/>
                  </a:lnTo>
                  <a:cubicBezTo>
                    <a:pt x="30995" y="329941"/>
                    <a:pt x="0" y="298947"/>
                    <a:pt x="0" y="260713"/>
                  </a:cubicBezTo>
                  <a:lnTo>
                    <a:pt x="0" y="69229"/>
                  </a:lnTo>
                  <a:cubicBezTo>
                    <a:pt x="0" y="30995"/>
                    <a:pt x="30995" y="0"/>
                    <a:pt x="69229" y="0"/>
                  </a:cubicBezTo>
                  <a:close/>
                </a:path>
              </a:pathLst>
            </a:custGeom>
            <a:solidFill>
              <a:srgbClr val="112C16"/>
            </a:solidFill>
          </p:spPr>
        </p:sp>
        <p:sp>
          <p:nvSpPr>
            <p:cNvPr id="16" name="TextBox 16"/>
            <p:cNvSpPr txBox="1"/>
            <p:nvPr/>
          </p:nvSpPr>
          <p:spPr>
            <a:xfrm>
              <a:off x="0" y="-57150"/>
              <a:ext cx="138457" cy="387091"/>
            </a:xfrm>
            <a:prstGeom prst="rect">
              <a:avLst/>
            </a:prstGeom>
          </p:spPr>
          <p:txBody>
            <a:bodyPr lIns="50800" tIns="50800" rIns="50800" bIns="50800" rtlCol="0" anchor="ctr"/>
            <a:lstStyle/>
            <a:p>
              <a:pPr algn="ctr">
                <a:lnSpc>
                  <a:spcPts val="3359"/>
                </a:lnSpc>
              </a:pPr>
              <a:endParaRPr/>
            </a:p>
          </p:txBody>
        </p:sp>
      </p:grpSp>
      <p:grpSp>
        <p:nvGrpSpPr>
          <p:cNvPr id="17" name="Group 17"/>
          <p:cNvGrpSpPr/>
          <p:nvPr/>
        </p:nvGrpSpPr>
        <p:grpSpPr>
          <a:xfrm>
            <a:off x="1887869" y="3235785"/>
            <a:ext cx="15371431" cy="6358060"/>
            <a:chOff x="0" y="0"/>
            <a:chExt cx="4048443" cy="1674551"/>
          </a:xfrm>
        </p:grpSpPr>
        <p:sp>
          <p:nvSpPr>
            <p:cNvPr id="18" name="Freeform 18"/>
            <p:cNvSpPr/>
            <p:nvPr/>
          </p:nvSpPr>
          <p:spPr>
            <a:xfrm>
              <a:off x="0" y="0"/>
              <a:ext cx="4048443" cy="1674551"/>
            </a:xfrm>
            <a:custGeom>
              <a:avLst/>
              <a:gdLst/>
              <a:ahLst/>
              <a:cxnLst/>
              <a:rect l="l" t="t" r="r" b="b"/>
              <a:pathLst>
                <a:path w="4048443" h="1674551">
                  <a:moveTo>
                    <a:pt x="25686" y="0"/>
                  </a:moveTo>
                  <a:lnTo>
                    <a:pt x="4022756" y="0"/>
                  </a:lnTo>
                  <a:cubicBezTo>
                    <a:pt x="4036943" y="0"/>
                    <a:pt x="4048443" y="11500"/>
                    <a:pt x="4048443" y="25686"/>
                  </a:cubicBezTo>
                  <a:lnTo>
                    <a:pt x="4048443" y="1648864"/>
                  </a:lnTo>
                  <a:cubicBezTo>
                    <a:pt x="4048443" y="1655677"/>
                    <a:pt x="4045736" y="1662210"/>
                    <a:pt x="4040919" y="1667027"/>
                  </a:cubicBezTo>
                  <a:cubicBezTo>
                    <a:pt x="4036102" y="1671844"/>
                    <a:pt x="4029569" y="1674551"/>
                    <a:pt x="4022756" y="1674551"/>
                  </a:cubicBezTo>
                  <a:lnTo>
                    <a:pt x="25686" y="1674551"/>
                  </a:lnTo>
                  <a:cubicBezTo>
                    <a:pt x="18874" y="1674551"/>
                    <a:pt x="12341" y="1671844"/>
                    <a:pt x="7523" y="1667027"/>
                  </a:cubicBezTo>
                  <a:cubicBezTo>
                    <a:pt x="2706" y="1662210"/>
                    <a:pt x="0" y="1655677"/>
                    <a:pt x="0" y="1648864"/>
                  </a:cubicBezTo>
                  <a:lnTo>
                    <a:pt x="0" y="25686"/>
                  </a:lnTo>
                  <a:cubicBezTo>
                    <a:pt x="0" y="18874"/>
                    <a:pt x="2706" y="12341"/>
                    <a:pt x="7523" y="7523"/>
                  </a:cubicBezTo>
                  <a:cubicBezTo>
                    <a:pt x="12341" y="2706"/>
                    <a:pt x="18874" y="0"/>
                    <a:pt x="25686" y="0"/>
                  </a:cubicBezTo>
                  <a:close/>
                </a:path>
              </a:pathLst>
            </a:custGeom>
            <a:ln w="38100" cap="rnd">
              <a:solidFill>
                <a:srgbClr val="112C16"/>
              </a:solidFill>
              <a:prstDash val="solid"/>
              <a:round/>
            </a:ln>
          </p:spPr>
        </p:sp>
        <p:sp>
          <p:nvSpPr>
            <p:cNvPr id="19" name="TextBox 19"/>
            <p:cNvSpPr txBox="1"/>
            <p:nvPr/>
          </p:nvSpPr>
          <p:spPr>
            <a:xfrm>
              <a:off x="0" y="-57150"/>
              <a:ext cx="4048443" cy="1731701"/>
            </a:xfrm>
            <a:prstGeom prst="rect">
              <a:avLst/>
            </a:prstGeom>
          </p:spPr>
          <p:txBody>
            <a:bodyPr lIns="50800" tIns="50800" rIns="50800" bIns="50800" rtlCol="0" anchor="ctr"/>
            <a:lstStyle/>
            <a:p>
              <a:pPr algn="ctr">
                <a:lnSpc>
                  <a:spcPts val="3359"/>
                </a:lnSpc>
              </a:pPr>
              <a:endParaRPr/>
            </a:p>
          </p:txBody>
        </p:sp>
      </p:grpSp>
      <p:sp>
        <p:nvSpPr>
          <p:cNvPr id="20" name="TextBox 20"/>
          <p:cNvSpPr txBox="1"/>
          <p:nvPr/>
        </p:nvSpPr>
        <p:spPr>
          <a:xfrm>
            <a:off x="2799551" y="1027430"/>
            <a:ext cx="12688898" cy="1094715"/>
          </a:xfrm>
          <a:prstGeom prst="rect">
            <a:avLst/>
          </a:prstGeom>
        </p:spPr>
        <p:txBody>
          <a:bodyPr lIns="0" tIns="0" rIns="0" bIns="0" rtlCol="0" anchor="t">
            <a:spAutoFit/>
          </a:bodyPr>
          <a:lstStyle/>
          <a:p>
            <a:pPr algn="ctr">
              <a:lnSpc>
                <a:spcPts val="8959"/>
              </a:lnSpc>
              <a:spcBef>
                <a:spcPct val="0"/>
              </a:spcBef>
            </a:pPr>
            <a:r>
              <a:rPr lang="en-US" sz="6399">
                <a:solidFill>
                  <a:srgbClr val="F1F0E7"/>
                </a:solidFill>
                <a:latin typeface="Anton"/>
                <a:ea typeface="Anton"/>
                <a:cs typeface="Anton"/>
                <a:sym typeface="Anton"/>
              </a:rPr>
              <a:t>Summary &amp; Key Takeaways</a:t>
            </a:r>
          </a:p>
        </p:txBody>
      </p:sp>
      <p:sp>
        <p:nvSpPr>
          <p:cNvPr id="21" name="TextBox 21"/>
          <p:cNvSpPr txBox="1"/>
          <p:nvPr/>
        </p:nvSpPr>
        <p:spPr>
          <a:xfrm>
            <a:off x="1914515" y="3814533"/>
            <a:ext cx="13573934" cy="4823497"/>
          </a:xfrm>
          <a:prstGeom prst="rect">
            <a:avLst/>
          </a:prstGeom>
        </p:spPr>
        <p:txBody>
          <a:bodyPr lIns="0" tIns="0" rIns="0" bIns="0" rtlCol="0" anchor="t">
            <a:spAutoFit/>
          </a:bodyPr>
          <a:lstStyle/>
          <a:p>
            <a:pPr marL="906158" lvl="2" indent="-302053" algn="l">
              <a:lnSpc>
                <a:spcPts val="2937"/>
              </a:lnSpc>
              <a:spcBef>
                <a:spcPct val="0"/>
              </a:spcBef>
              <a:buFont typeface="Arial"/>
              <a:buChar char="⚬"/>
            </a:pPr>
            <a:r>
              <a:rPr lang="en-US" sz="2098" dirty="0">
                <a:solidFill>
                  <a:srgbClr val="112C16"/>
                </a:solidFill>
                <a:latin typeface="Glacial Indifference"/>
                <a:ea typeface="Glacial Indifference"/>
                <a:cs typeface="Glacial Indifference"/>
                <a:sym typeface="Glacial Indifference"/>
              </a:rPr>
              <a:t>Aggregated data to city-level averages to create a </a:t>
            </a:r>
            <a:r>
              <a:rPr lang="en-US" sz="2098" b="1" dirty="0" err="1">
                <a:solidFill>
                  <a:srgbClr val="112C16"/>
                </a:solidFill>
                <a:latin typeface="Glacial Indifference Bold"/>
                <a:ea typeface="Glacial Indifference Bold"/>
                <a:cs typeface="Glacial Indifference Bold"/>
                <a:sym typeface="Glacial Indifference Bold"/>
              </a:rPr>
              <a:t>GeoDataFrame</a:t>
            </a:r>
            <a:r>
              <a:rPr lang="en-US" sz="2098" b="1" dirty="0">
                <a:solidFill>
                  <a:srgbClr val="112C16"/>
                </a:solidFill>
                <a:latin typeface="Glacial Indifference Bold"/>
                <a:ea typeface="Glacial Indifference Bold"/>
                <a:cs typeface="Glacial Indifference Bold"/>
                <a:sym typeface="Glacial Indifference Bold"/>
              </a:rPr>
              <a:t> </a:t>
            </a:r>
            <a:r>
              <a:rPr lang="en-US" sz="2098" dirty="0">
                <a:solidFill>
                  <a:srgbClr val="112C16"/>
                </a:solidFill>
                <a:latin typeface="Glacial Indifference"/>
                <a:ea typeface="Glacial Indifference"/>
                <a:cs typeface="Glacial Indifference"/>
                <a:sym typeface="Glacial Indifference"/>
              </a:rPr>
              <a:t>(</a:t>
            </a:r>
            <a:r>
              <a:rPr lang="en-US" sz="2098" dirty="0" err="1">
                <a:solidFill>
                  <a:srgbClr val="112C16"/>
                </a:solidFill>
                <a:latin typeface="Glacial Indifference"/>
                <a:ea typeface="Glacial Indifference"/>
                <a:cs typeface="Glacial Indifference"/>
                <a:sym typeface="Glacial Indifference"/>
              </a:rPr>
              <a:t>city_gdf</a:t>
            </a:r>
            <a:r>
              <a:rPr lang="en-US" sz="2098" dirty="0">
                <a:solidFill>
                  <a:srgbClr val="112C16"/>
                </a:solidFill>
                <a:latin typeface="Glacial Indifference"/>
                <a:ea typeface="Glacial Indifference"/>
                <a:cs typeface="Glacial Indifference"/>
                <a:sym typeface="Glacial Indifference"/>
              </a:rPr>
              <a:t>) for spatial analysis.</a:t>
            </a:r>
          </a:p>
          <a:p>
            <a:pPr marL="906158" lvl="2" indent="-302053" algn="l">
              <a:lnSpc>
                <a:spcPts val="2937"/>
              </a:lnSpc>
              <a:spcBef>
                <a:spcPct val="0"/>
              </a:spcBef>
              <a:buFont typeface="Arial"/>
              <a:buChar char="⚬"/>
            </a:pPr>
            <a:r>
              <a:rPr lang="en-US" sz="2098" dirty="0">
                <a:solidFill>
                  <a:srgbClr val="112C16"/>
                </a:solidFill>
                <a:latin typeface="Glacial Indifference"/>
                <a:ea typeface="Glacial Indifference"/>
                <a:cs typeface="Glacial Indifference"/>
                <a:sym typeface="Glacial Indifference"/>
              </a:rPr>
              <a:t>Constructed a</a:t>
            </a:r>
            <a:r>
              <a:rPr lang="en-US" sz="2098" b="1" dirty="0">
                <a:solidFill>
                  <a:srgbClr val="112C16"/>
                </a:solidFill>
                <a:latin typeface="Glacial Indifference Bold"/>
                <a:ea typeface="Glacial Indifference Bold"/>
                <a:cs typeface="Glacial Indifference Bold"/>
                <a:sym typeface="Glacial Indifference Bold"/>
              </a:rPr>
              <a:t> K-Nearest Neighbors (KNN) </a:t>
            </a:r>
            <a:r>
              <a:rPr lang="en-US" sz="2098" dirty="0">
                <a:solidFill>
                  <a:srgbClr val="112C16"/>
                </a:solidFill>
                <a:latin typeface="Glacial Indifference"/>
                <a:ea typeface="Glacial Indifference"/>
                <a:cs typeface="Glacial Indifference"/>
                <a:sym typeface="Glacial Indifference"/>
              </a:rPr>
              <a:t>spatial weights matrix (w).</a:t>
            </a:r>
          </a:p>
          <a:p>
            <a:pPr marL="906158" lvl="2" indent="-302053" algn="l">
              <a:lnSpc>
                <a:spcPts val="2937"/>
              </a:lnSpc>
              <a:spcBef>
                <a:spcPct val="0"/>
              </a:spcBef>
              <a:buFont typeface="Arial"/>
              <a:buChar char="⚬"/>
            </a:pPr>
            <a:r>
              <a:rPr lang="en-US" sz="2098" b="1" dirty="0">
                <a:solidFill>
                  <a:srgbClr val="112C16"/>
                </a:solidFill>
                <a:latin typeface="Glacial Indifference Bold"/>
                <a:ea typeface="Glacial Indifference Bold"/>
                <a:cs typeface="Glacial Indifference Bold"/>
                <a:sym typeface="Glacial Indifference Bold"/>
              </a:rPr>
              <a:t>Global Moran's I</a:t>
            </a:r>
            <a:r>
              <a:rPr lang="en-US" sz="2098" dirty="0">
                <a:solidFill>
                  <a:srgbClr val="112C16"/>
                </a:solidFill>
                <a:latin typeface="Glacial Indifference"/>
                <a:ea typeface="Glacial Indifference"/>
                <a:cs typeface="Glacial Indifference"/>
                <a:sym typeface="Glacial Indifference"/>
              </a:rPr>
              <a:t>: Indicated statistically significant negative spatial autocorrelation (dispersion) of AQI.</a:t>
            </a:r>
          </a:p>
          <a:p>
            <a:pPr marL="906158" lvl="2" indent="-302053" algn="l">
              <a:lnSpc>
                <a:spcPts val="2937"/>
              </a:lnSpc>
              <a:spcBef>
                <a:spcPct val="0"/>
              </a:spcBef>
              <a:buFont typeface="Arial"/>
              <a:buChar char="⚬"/>
            </a:pPr>
            <a:r>
              <a:rPr lang="en-US" sz="2098" b="1" dirty="0">
                <a:solidFill>
                  <a:srgbClr val="112C16"/>
                </a:solidFill>
                <a:latin typeface="Glacial Indifference Bold"/>
                <a:ea typeface="Glacial Indifference Bold"/>
                <a:cs typeface="Glacial Indifference Bold"/>
                <a:sym typeface="Glacial Indifference Bold"/>
              </a:rPr>
              <a:t>LISA (Local Moran's I):</a:t>
            </a:r>
            <a:r>
              <a:rPr lang="en-US" sz="2098" dirty="0">
                <a:solidFill>
                  <a:srgbClr val="112C16"/>
                </a:solidFill>
                <a:latin typeface="Glacial Indifference"/>
                <a:ea typeface="Glacial Indifference"/>
                <a:cs typeface="Glacial Indifference"/>
                <a:sym typeface="Glacial Indifference"/>
              </a:rPr>
              <a:t> Identified specific clusters (</a:t>
            </a:r>
            <a:r>
              <a:rPr lang="en-US" sz="2098" b="1" dirty="0">
                <a:solidFill>
                  <a:srgbClr val="112C16"/>
                </a:solidFill>
                <a:latin typeface="Glacial Indifference Bold"/>
                <a:ea typeface="Glacial Indifference Bold"/>
                <a:cs typeface="Glacial Indifference Bold"/>
                <a:sym typeface="Glacial Indifference Bold"/>
              </a:rPr>
              <a:t>High-High, Low-Low, outliers</a:t>
            </a:r>
            <a:r>
              <a:rPr lang="en-US" sz="2098" dirty="0">
                <a:solidFill>
                  <a:srgbClr val="112C16"/>
                </a:solidFill>
                <a:latin typeface="Glacial Indifference"/>
                <a:ea typeface="Glacial Indifference"/>
                <a:cs typeface="Glacial Indifference"/>
                <a:sym typeface="Glacial Indifference"/>
              </a:rPr>
              <a:t>) of AQI, visualized on an interactive map.</a:t>
            </a:r>
          </a:p>
          <a:p>
            <a:pPr marL="906158" lvl="2" indent="-302053" algn="l">
              <a:lnSpc>
                <a:spcPts val="2937"/>
              </a:lnSpc>
              <a:spcBef>
                <a:spcPct val="0"/>
              </a:spcBef>
              <a:buFont typeface="Arial"/>
              <a:buChar char="⚬"/>
            </a:pPr>
            <a:r>
              <a:rPr lang="en-US" sz="2098" b="1" dirty="0">
                <a:solidFill>
                  <a:srgbClr val="112C16"/>
                </a:solidFill>
                <a:latin typeface="Glacial Indifference Bold"/>
                <a:ea typeface="Glacial Indifference Bold"/>
                <a:cs typeface="Glacial Indifference Bold"/>
                <a:sym typeface="Glacial Indifference Bold"/>
              </a:rPr>
              <a:t>Hotspot Analysis (</a:t>
            </a:r>
            <a:r>
              <a:rPr lang="en-US" sz="2098" b="1" dirty="0" err="1">
                <a:solidFill>
                  <a:srgbClr val="112C16"/>
                </a:solidFill>
                <a:latin typeface="Glacial Indifference Bold"/>
                <a:ea typeface="Glacial Indifference Bold"/>
                <a:cs typeface="Glacial Indifference Bold"/>
                <a:sym typeface="Glacial Indifference Bold"/>
              </a:rPr>
              <a:t>Getis</a:t>
            </a:r>
            <a:r>
              <a:rPr lang="en-US" sz="2098" b="1" dirty="0">
                <a:solidFill>
                  <a:srgbClr val="112C16"/>
                </a:solidFill>
                <a:latin typeface="Glacial Indifference Bold"/>
                <a:ea typeface="Glacial Indifference Bold"/>
                <a:cs typeface="Glacial Indifference Bold"/>
                <a:sym typeface="Glacial Indifference Bold"/>
              </a:rPr>
              <a:t>-Ord G)</a:t>
            </a:r>
            <a:r>
              <a:rPr lang="en-US" sz="2098" dirty="0">
                <a:solidFill>
                  <a:srgbClr val="112C16"/>
                </a:solidFill>
                <a:latin typeface="Glacial Indifference"/>
                <a:ea typeface="Glacial Indifference"/>
                <a:cs typeface="Glacial Indifference"/>
                <a:sym typeface="Glacial Indifference"/>
              </a:rPr>
              <a:t>: Identified statistically significant hot spots and cold spots for AQI, visualized on an interactive map.</a:t>
            </a:r>
          </a:p>
          <a:p>
            <a:pPr marL="906158" lvl="2" indent="-302053" algn="l">
              <a:lnSpc>
                <a:spcPts val="2937"/>
              </a:lnSpc>
              <a:spcBef>
                <a:spcPct val="0"/>
              </a:spcBef>
              <a:buFont typeface="Arial"/>
              <a:buChar char="⚬"/>
            </a:pPr>
            <a:r>
              <a:rPr lang="en-US" sz="2098" b="1" dirty="0">
                <a:solidFill>
                  <a:srgbClr val="112C16"/>
                </a:solidFill>
                <a:latin typeface="Glacial Indifference Bold"/>
                <a:ea typeface="Glacial Indifference Bold"/>
                <a:cs typeface="Glacial Indifference Bold"/>
                <a:sym typeface="Glacial Indifference Bold"/>
              </a:rPr>
              <a:t>Kriging Interpolation: </a:t>
            </a:r>
            <a:r>
              <a:rPr lang="en-US" sz="2098" dirty="0">
                <a:solidFill>
                  <a:srgbClr val="112C16"/>
                </a:solidFill>
                <a:latin typeface="Glacial Indifference"/>
                <a:ea typeface="Glacial Indifference"/>
                <a:cs typeface="Glacial Indifference"/>
                <a:sym typeface="Glacial Indifference"/>
              </a:rPr>
              <a:t>Performed Kriging to generate a continuous interpolated surface of average AQI, along with its variance, highlighting spatial distribution and potential areas of interest.</a:t>
            </a:r>
          </a:p>
          <a:p>
            <a:pPr marL="906158" lvl="2" indent="-302053" algn="l">
              <a:lnSpc>
                <a:spcPts val="2937"/>
              </a:lnSpc>
              <a:spcBef>
                <a:spcPct val="0"/>
              </a:spcBef>
              <a:buFont typeface="Arial"/>
              <a:buChar char="⚬"/>
            </a:pPr>
            <a:r>
              <a:rPr lang="en-US" sz="2098" b="1" dirty="0">
                <a:solidFill>
                  <a:srgbClr val="112C16"/>
                </a:solidFill>
                <a:latin typeface="Glacial Indifference Bold"/>
                <a:ea typeface="Glacial Indifference Bold"/>
                <a:cs typeface="Glacial Indifference Bold"/>
                <a:sym typeface="Glacial Indifference Bold"/>
              </a:rPr>
              <a:t>Spatial Regression (</a:t>
            </a:r>
            <a:r>
              <a:rPr lang="en-US" sz="2098" b="1" dirty="0" err="1">
                <a:solidFill>
                  <a:srgbClr val="112C16"/>
                </a:solidFill>
                <a:latin typeface="Glacial Indifference Bold"/>
                <a:ea typeface="Glacial Indifference Bold"/>
                <a:cs typeface="Glacial Indifference Bold"/>
                <a:sym typeface="Glacial Indifference Bold"/>
              </a:rPr>
              <a:t>ML_Lag</a:t>
            </a:r>
            <a:r>
              <a:rPr lang="en-US" sz="2098" b="1" dirty="0">
                <a:solidFill>
                  <a:srgbClr val="112C16"/>
                </a:solidFill>
                <a:latin typeface="Glacial Indifference Bold"/>
                <a:ea typeface="Glacial Indifference Bold"/>
                <a:cs typeface="Glacial Indifference Bold"/>
                <a:sym typeface="Glacial Indifference Bold"/>
              </a:rPr>
              <a:t> &amp; </a:t>
            </a:r>
            <a:r>
              <a:rPr lang="en-US" sz="2098" b="1" dirty="0" err="1">
                <a:solidFill>
                  <a:srgbClr val="112C16"/>
                </a:solidFill>
                <a:latin typeface="Glacial Indifference Bold"/>
                <a:ea typeface="Glacial Indifference Bold"/>
                <a:cs typeface="Glacial Indifference Bold"/>
                <a:sym typeface="Glacial Indifference Bold"/>
              </a:rPr>
              <a:t>ML_Error</a:t>
            </a:r>
            <a:r>
              <a:rPr lang="en-US" sz="2098" b="1" dirty="0">
                <a:solidFill>
                  <a:srgbClr val="112C16"/>
                </a:solidFill>
                <a:latin typeface="Glacial Indifference Bold"/>
                <a:ea typeface="Glacial Indifference Bold"/>
                <a:cs typeface="Glacial Indifference Bold"/>
                <a:sym typeface="Glacial Indifference Bold"/>
              </a:rPr>
              <a:t>):</a:t>
            </a:r>
            <a:r>
              <a:rPr lang="en-US" sz="2098" dirty="0">
                <a:solidFill>
                  <a:srgbClr val="112C16"/>
                </a:solidFill>
                <a:latin typeface="Glacial Indifference"/>
                <a:ea typeface="Glacial Indifference"/>
                <a:cs typeface="Glacial Indifference"/>
                <a:sym typeface="Glacial Indifference"/>
              </a:rPr>
              <a:t> Compared Spatial Lag and Spatial Error models using </a:t>
            </a:r>
            <a:r>
              <a:rPr lang="en-US" sz="2098" dirty="0" err="1">
                <a:solidFill>
                  <a:srgbClr val="112C16"/>
                </a:solidFill>
                <a:latin typeface="Glacial Indifference"/>
                <a:ea typeface="Glacial Indifference"/>
                <a:cs typeface="Glacial Indifference"/>
                <a:sym typeface="Glacial Indifference"/>
              </a:rPr>
              <a:t>simulated_temperature_celsius</a:t>
            </a:r>
            <a:r>
              <a:rPr lang="en-US" sz="2098" dirty="0">
                <a:solidFill>
                  <a:srgbClr val="112C16"/>
                </a:solidFill>
                <a:latin typeface="Glacial Indifference"/>
                <a:ea typeface="Glacial Indifference"/>
                <a:cs typeface="Glacial Indifference"/>
                <a:sym typeface="Glacial Indifference"/>
              </a:rPr>
              <a:t> and pm25 as predictors for AQI. Both spatial parameters (rho and lambda) were found to be not statistically significant for this dataset, with </a:t>
            </a:r>
            <a:r>
              <a:rPr lang="en-US" sz="2098" dirty="0" err="1">
                <a:solidFill>
                  <a:srgbClr val="112C16"/>
                </a:solidFill>
                <a:latin typeface="Glacial Indifference"/>
                <a:ea typeface="Glacial Indifference"/>
                <a:cs typeface="Glacial Indifference"/>
                <a:sym typeface="Glacial Indifference"/>
              </a:rPr>
              <a:t>ML_Error</a:t>
            </a:r>
            <a:r>
              <a:rPr lang="en-US" sz="2098" dirty="0">
                <a:solidFill>
                  <a:srgbClr val="112C16"/>
                </a:solidFill>
                <a:latin typeface="Glacial Indifference"/>
                <a:ea typeface="Glacial Indifference"/>
                <a:cs typeface="Glacial Indifference"/>
                <a:sym typeface="Glacial Indifference"/>
              </a:rPr>
              <a:t> showing slightly better fit metrics (AIC/BIC).</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0"/>
                  </a:srgbClr>
                </a:gs>
                <a:gs pos="33333">
                  <a:srgbClr val="112C16">
                    <a:alpha val="100000"/>
                  </a:srgbClr>
                </a:gs>
                <a:gs pos="66667">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641841" y="6983909"/>
            <a:ext cx="5249778" cy="2792560"/>
          </a:xfrm>
          <a:prstGeom prst="rect">
            <a:avLst/>
          </a:prstGeom>
        </p:spPr>
        <p:txBody>
          <a:bodyPr lIns="50800" tIns="50800" rIns="50800" bIns="50800" rtlCol="0" anchor="ctr"/>
          <a:lstStyle/>
          <a:p>
            <a:pPr algn="ctr">
              <a:lnSpc>
                <a:spcPts val="3359"/>
              </a:lnSpc>
            </a:pPr>
            <a:endParaRPr/>
          </a:p>
        </p:txBody>
      </p:sp>
      <p:sp>
        <p:nvSpPr>
          <p:cNvPr id="10" name="Freeform 10"/>
          <p:cNvSpPr/>
          <p:nvPr/>
        </p:nvSpPr>
        <p:spPr>
          <a:xfrm>
            <a:off x="1320432" y="3441731"/>
            <a:ext cx="792224" cy="792224"/>
          </a:xfrm>
          <a:custGeom>
            <a:avLst/>
            <a:gdLst/>
            <a:ahLst/>
            <a:cxnLst/>
            <a:rect l="l" t="t" r="r" b="b"/>
            <a:pathLst>
              <a:path w="792224" h="792224">
                <a:moveTo>
                  <a:pt x="0" y="0"/>
                </a:moveTo>
                <a:lnTo>
                  <a:pt x="792223" y="0"/>
                </a:lnTo>
                <a:lnTo>
                  <a:pt x="792223" y="792224"/>
                </a:lnTo>
                <a:lnTo>
                  <a:pt x="0" y="79222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1" name="AutoShape 11"/>
          <p:cNvSpPr/>
          <p:nvPr/>
        </p:nvSpPr>
        <p:spPr>
          <a:xfrm>
            <a:off x="1028700" y="4338093"/>
            <a:ext cx="5249778" cy="0"/>
          </a:xfrm>
          <a:prstGeom prst="line">
            <a:avLst/>
          </a:prstGeom>
          <a:ln w="38100" cap="flat">
            <a:solidFill>
              <a:srgbClr val="112C16"/>
            </a:solidFill>
            <a:prstDash val="solid"/>
            <a:headEnd type="none" w="sm" len="sm"/>
            <a:tailEnd type="none" w="sm" len="sm"/>
          </a:ln>
        </p:spPr>
      </p:sp>
      <p:sp>
        <p:nvSpPr>
          <p:cNvPr id="15" name="AutoShape 15"/>
          <p:cNvSpPr/>
          <p:nvPr/>
        </p:nvSpPr>
        <p:spPr>
          <a:xfrm>
            <a:off x="11768889" y="8380189"/>
            <a:ext cx="5249778" cy="0"/>
          </a:xfrm>
          <a:prstGeom prst="line">
            <a:avLst/>
          </a:prstGeom>
          <a:ln w="38100" cap="flat">
            <a:solidFill>
              <a:srgbClr val="112C16"/>
            </a:solidFill>
            <a:prstDash val="solid"/>
            <a:headEnd type="none" w="sm" len="sm"/>
            <a:tailEnd type="none" w="sm" len="sm"/>
          </a:ln>
        </p:spPr>
      </p:sp>
      <p:sp>
        <p:nvSpPr>
          <p:cNvPr id="19" name="AutoShape 19"/>
          <p:cNvSpPr/>
          <p:nvPr/>
        </p:nvSpPr>
        <p:spPr>
          <a:xfrm>
            <a:off x="6211479" y="6057900"/>
            <a:ext cx="5249778" cy="0"/>
          </a:xfrm>
          <a:prstGeom prst="line">
            <a:avLst/>
          </a:prstGeom>
          <a:ln w="38100" cap="flat">
            <a:solidFill>
              <a:srgbClr val="112C16"/>
            </a:solidFill>
            <a:prstDash val="solid"/>
            <a:headEnd type="none" w="sm" len="sm"/>
            <a:tailEnd type="none" w="sm" len="sm"/>
          </a:ln>
        </p:spPr>
      </p:sp>
      <p:sp>
        <p:nvSpPr>
          <p:cNvPr id="20" name="Freeform 20"/>
          <p:cNvSpPr/>
          <p:nvPr/>
        </p:nvSpPr>
        <p:spPr>
          <a:xfrm>
            <a:off x="6211479" y="5032900"/>
            <a:ext cx="718428" cy="765390"/>
          </a:xfrm>
          <a:custGeom>
            <a:avLst/>
            <a:gdLst/>
            <a:ahLst/>
            <a:cxnLst/>
            <a:rect l="l" t="t" r="r" b="b"/>
            <a:pathLst>
              <a:path w="718428" h="765390">
                <a:moveTo>
                  <a:pt x="0" y="0"/>
                </a:moveTo>
                <a:lnTo>
                  <a:pt x="718428" y="0"/>
                </a:lnTo>
                <a:lnTo>
                  <a:pt x="718428" y="765390"/>
                </a:lnTo>
                <a:lnTo>
                  <a:pt x="0" y="76539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1" name="Freeform 21"/>
          <p:cNvSpPr/>
          <p:nvPr/>
        </p:nvSpPr>
        <p:spPr>
          <a:xfrm>
            <a:off x="10976665" y="7258486"/>
            <a:ext cx="792224" cy="792224"/>
          </a:xfrm>
          <a:custGeom>
            <a:avLst/>
            <a:gdLst/>
            <a:ahLst/>
            <a:cxnLst/>
            <a:rect l="l" t="t" r="r" b="b"/>
            <a:pathLst>
              <a:path w="792224" h="792224">
                <a:moveTo>
                  <a:pt x="0" y="0"/>
                </a:moveTo>
                <a:lnTo>
                  <a:pt x="792224" y="0"/>
                </a:lnTo>
                <a:lnTo>
                  <a:pt x="792224" y="792224"/>
                </a:lnTo>
                <a:lnTo>
                  <a:pt x="0" y="79222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22" name="TextBox 22"/>
          <p:cNvSpPr txBox="1"/>
          <p:nvPr/>
        </p:nvSpPr>
        <p:spPr>
          <a:xfrm>
            <a:off x="2799551" y="1027430"/>
            <a:ext cx="12688898" cy="1094715"/>
          </a:xfrm>
          <a:prstGeom prst="rect">
            <a:avLst/>
          </a:prstGeom>
        </p:spPr>
        <p:txBody>
          <a:bodyPr lIns="0" tIns="0" rIns="0" bIns="0" rtlCol="0" anchor="t">
            <a:spAutoFit/>
          </a:bodyPr>
          <a:lstStyle/>
          <a:p>
            <a:pPr algn="ctr">
              <a:lnSpc>
                <a:spcPts val="8959"/>
              </a:lnSpc>
              <a:spcBef>
                <a:spcPct val="0"/>
              </a:spcBef>
            </a:pPr>
            <a:r>
              <a:rPr lang="en-US" sz="6399" dirty="0">
                <a:solidFill>
                  <a:srgbClr val="F1F0E7"/>
                </a:solidFill>
                <a:latin typeface="Anton"/>
                <a:ea typeface="Anton"/>
                <a:cs typeface="Anton"/>
                <a:sym typeface="Anton"/>
              </a:rPr>
              <a:t>Future Goals</a:t>
            </a:r>
          </a:p>
        </p:txBody>
      </p:sp>
      <p:sp>
        <p:nvSpPr>
          <p:cNvPr id="23" name="TextBox 23"/>
          <p:cNvSpPr txBox="1"/>
          <p:nvPr/>
        </p:nvSpPr>
        <p:spPr>
          <a:xfrm>
            <a:off x="2440854" y="3601597"/>
            <a:ext cx="3450765" cy="464871"/>
          </a:xfrm>
          <a:prstGeom prst="rect">
            <a:avLst/>
          </a:prstGeom>
        </p:spPr>
        <p:txBody>
          <a:bodyPr lIns="0" tIns="0" rIns="0" bIns="0" rtlCol="0" anchor="t">
            <a:spAutoFit/>
          </a:bodyPr>
          <a:lstStyle/>
          <a:p>
            <a:pPr algn="l">
              <a:lnSpc>
                <a:spcPts val="3919"/>
              </a:lnSpc>
              <a:spcBef>
                <a:spcPct val="0"/>
              </a:spcBef>
            </a:pPr>
            <a:r>
              <a:rPr lang="en-US" sz="2799" b="1" dirty="0">
                <a:solidFill>
                  <a:srgbClr val="112C16"/>
                </a:solidFill>
                <a:latin typeface="Glacial Indifference Bold"/>
                <a:ea typeface="Glacial Indifference Bold"/>
                <a:cs typeface="Glacial Indifference Bold"/>
                <a:sym typeface="Glacial Indifference Bold"/>
              </a:rPr>
              <a:t>Applying LSTM </a:t>
            </a:r>
          </a:p>
        </p:txBody>
      </p:sp>
      <p:sp>
        <p:nvSpPr>
          <p:cNvPr id="25" name="TextBox 25"/>
          <p:cNvSpPr txBox="1"/>
          <p:nvPr/>
        </p:nvSpPr>
        <p:spPr>
          <a:xfrm>
            <a:off x="12039600" y="7258486"/>
            <a:ext cx="5475923" cy="965008"/>
          </a:xfrm>
          <a:prstGeom prst="rect">
            <a:avLst/>
          </a:prstGeom>
        </p:spPr>
        <p:txBody>
          <a:bodyPr wrap="square" lIns="0" tIns="0" rIns="0" bIns="0" rtlCol="0" anchor="t">
            <a:spAutoFit/>
          </a:bodyPr>
          <a:lstStyle/>
          <a:p>
            <a:pPr algn="l">
              <a:lnSpc>
                <a:spcPts val="3919"/>
              </a:lnSpc>
              <a:spcBef>
                <a:spcPct val="0"/>
              </a:spcBef>
            </a:pPr>
            <a:r>
              <a:rPr lang="en-US" sz="2799" b="1" dirty="0">
                <a:solidFill>
                  <a:srgbClr val="112C16"/>
                </a:solidFill>
                <a:latin typeface="Glacial Indifference Bold"/>
                <a:ea typeface="Glacial Indifference Bold"/>
                <a:cs typeface="Glacial Indifference Bold"/>
                <a:sym typeface="Glacial Indifference Bold"/>
              </a:rPr>
              <a:t>Exploring more geospatial techniques</a:t>
            </a:r>
          </a:p>
        </p:txBody>
      </p:sp>
      <p:sp>
        <p:nvSpPr>
          <p:cNvPr id="27" name="TextBox 27"/>
          <p:cNvSpPr txBox="1"/>
          <p:nvPr/>
        </p:nvSpPr>
        <p:spPr>
          <a:xfrm>
            <a:off x="7418617" y="5296706"/>
            <a:ext cx="3450765" cy="464871"/>
          </a:xfrm>
          <a:prstGeom prst="rect">
            <a:avLst/>
          </a:prstGeom>
        </p:spPr>
        <p:txBody>
          <a:bodyPr lIns="0" tIns="0" rIns="0" bIns="0" rtlCol="0" anchor="t">
            <a:spAutoFit/>
          </a:bodyPr>
          <a:lstStyle/>
          <a:p>
            <a:pPr algn="l">
              <a:lnSpc>
                <a:spcPts val="3919"/>
              </a:lnSpc>
              <a:spcBef>
                <a:spcPct val="0"/>
              </a:spcBef>
            </a:pPr>
            <a:r>
              <a:rPr lang="en-US" sz="2799" b="1" dirty="0">
                <a:solidFill>
                  <a:srgbClr val="112C16"/>
                </a:solidFill>
                <a:latin typeface="Glacial Indifference Bold"/>
                <a:ea typeface="Glacial Indifference Bold"/>
                <a:cs typeface="Glacial Indifference Bold"/>
                <a:sym typeface="Glacial Indifference Bold"/>
              </a:rPr>
              <a:t>Time series analysis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1066800" y="550053"/>
            <a:ext cx="2943882" cy="905428"/>
            <a:chOff x="0" y="0"/>
            <a:chExt cx="3925176" cy="1207238"/>
          </a:xfrm>
        </p:grpSpPr>
        <p:grpSp>
          <p:nvGrpSpPr>
            <p:cNvPr id="3" name="Group 3"/>
            <p:cNvGrpSpPr/>
            <p:nvPr/>
          </p:nvGrpSpPr>
          <p:grpSpPr>
            <a:xfrm>
              <a:off x="0" y="0"/>
              <a:ext cx="3925176" cy="1207238"/>
              <a:chOff x="0" y="0"/>
              <a:chExt cx="775343" cy="238467"/>
            </a:xfrm>
          </p:grpSpPr>
          <p:sp>
            <p:nvSpPr>
              <p:cNvPr id="4" name="Freeform 4"/>
              <p:cNvSpPr/>
              <p:nvPr/>
            </p:nvSpPr>
            <p:spPr>
              <a:xfrm>
                <a:off x="0" y="0"/>
                <a:ext cx="775343" cy="238467"/>
              </a:xfrm>
              <a:custGeom>
                <a:avLst/>
                <a:gdLst/>
                <a:ahLst/>
                <a:cxnLst/>
                <a:rect l="l" t="t" r="r" b="b"/>
                <a:pathLst>
                  <a:path w="775343" h="238467">
                    <a:moveTo>
                      <a:pt x="119233" y="0"/>
                    </a:moveTo>
                    <a:lnTo>
                      <a:pt x="656110" y="0"/>
                    </a:lnTo>
                    <a:cubicBezTo>
                      <a:pt x="687733" y="0"/>
                      <a:pt x="718060" y="12562"/>
                      <a:pt x="740421" y="34923"/>
                    </a:cubicBezTo>
                    <a:cubicBezTo>
                      <a:pt x="762781" y="57283"/>
                      <a:pt x="775343" y="87611"/>
                      <a:pt x="775343" y="119233"/>
                    </a:cubicBezTo>
                    <a:lnTo>
                      <a:pt x="775343" y="119233"/>
                    </a:lnTo>
                    <a:cubicBezTo>
                      <a:pt x="775343" y="150856"/>
                      <a:pt x="762781" y="181183"/>
                      <a:pt x="740421" y="203544"/>
                    </a:cubicBezTo>
                    <a:cubicBezTo>
                      <a:pt x="718060" y="225905"/>
                      <a:pt x="687733" y="238467"/>
                      <a:pt x="656110" y="238467"/>
                    </a:cubicBezTo>
                    <a:lnTo>
                      <a:pt x="119233" y="238467"/>
                    </a:lnTo>
                    <a:cubicBezTo>
                      <a:pt x="87611" y="238467"/>
                      <a:pt x="57283" y="225905"/>
                      <a:pt x="34923" y="203544"/>
                    </a:cubicBezTo>
                    <a:cubicBezTo>
                      <a:pt x="12562" y="181183"/>
                      <a:pt x="0" y="150856"/>
                      <a:pt x="0" y="119233"/>
                    </a:cubicBezTo>
                    <a:lnTo>
                      <a:pt x="0" y="119233"/>
                    </a:lnTo>
                    <a:cubicBezTo>
                      <a:pt x="0" y="87611"/>
                      <a:pt x="12562" y="57283"/>
                      <a:pt x="34923" y="34923"/>
                    </a:cubicBezTo>
                    <a:cubicBezTo>
                      <a:pt x="57283" y="12562"/>
                      <a:pt x="87611" y="0"/>
                      <a:pt x="119233" y="0"/>
                    </a:cubicBezTo>
                    <a:close/>
                  </a:path>
                </a:pathLst>
              </a:custGeom>
              <a:solidFill>
                <a:srgbClr val="112C16"/>
              </a:solidFill>
            </p:spPr>
          </p:sp>
          <p:sp>
            <p:nvSpPr>
              <p:cNvPr id="5" name="TextBox 5"/>
              <p:cNvSpPr txBox="1"/>
              <p:nvPr/>
            </p:nvSpPr>
            <p:spPr>
              <a:xfrm>
                <a:off x="0" y="-38100"/>
                <a:ext cx="775343" cy="276567"/>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345316" y="169448"/>
              <a:ext cx="3234545" cy="773642"/>
            </a:xfrm>
            <a:prstGeom prst="rect">
              <a:avLst/>
            </a:prstGeom>
          </p:spPr>
          <p:txBody>
            <a:bodyPr lIns="0" tIns="0" rIns="0" bIns="0" rtlCol="0" anchor="t">
              <a:spAutoFit/>
            </a:bodyPr>
            <a:lstStyle/>
            <a:p>
              <a:pPr algn="ctr">
                <a:lnSpc>
                  <a:spcPts val="4899"/>
                </a:lnSpc>
                <a:spcBef>
                  <a:spcPct val="0"/>
                </a:spcBef>
              </a:pPr>
              <a:r>
                <a:rPr lang="en-US" sz="3499" b="1">
                  <a:solidFill>
                    <a:srgbClr val="F1F0E7"/>
                  </a:solidFill>
                  <a:latin typeface="Glacial Indifference Bold"/>
                  <a:ea typeface="Glacial Indifference Bold"/>
                  <a:cs typeface="Glacial Indifference Bold"/>
                  <a:sym typeface="Glacial Indifference Bold"/>
                </a:rPr>
                <a:t>SOURCES</a:t>
              </a:r>
            </a:p>
          </p:txBody>
        </p:sp>
      </p:grpSp>
      <p:sp>
        <p:nvSpPr>
          <p:cNvPr id="7" name="TextBox 7"/>
          <p:cNvSpPr txBox="1"/>
          <p:nvPr/>
        </p:nvSpPr>
        <p:spPr>
          <a:xfrm>
            <a:off x="1031475" y="1394411"/>
            <a:ext cx="9023575" cy="1923604"/>
          </a:xfrm>
          <a:prstGeom prst="rect">
            <a:avLst/>
          </a:prstGeom>
        </p:spPr>
        <p:txBody>
          <a:bodyPr lIns="0" tIns="0" rIns="0" bIns="0" rtlCol="0" anchor="t">
            <a:spAutoFit/>
          </a:bodyPr>
          <a:lstStyle/>
          <a:p>
            <a:pPr marL="604519" lvl="1" indent="-302260">
              <a:lnSpc>
                <a:spcPts val="5179"/>
              </a:lnSpc>
              <a:buFont typeface="Arial"/>
              <a:buChar char="•"/>
            </a:pPr>
            <a:r>
              <a:rPr lang="en-IN" sz="2800" dirty="0"/>
              <a:t>Central Pollution Control Board</a:t>
            </a:r>
          </a:p>
          <a:p>
            <a:pPr marL="604519" lvl="1" indent="-302260">
              <a:lnSpc>
                <a:spcPts val="5179"/>
              </a:lnSpc>
              <a:buFont typeface="Arial"/>
              <a:buChar char="•"/>
            </a:pPr>
            <a:r>
              <a:rPr lang="en-IN" sz="2800" dirty="0"/>
              <a:t>OpenStreetMap</a:t>
            </a:r>
          </a:p>
          <a:p>
            <a:pPr marL="604519" lvl="1" indent="-302260">
              <a:lnSpc>
                <a:spcPts val="5179"/>
              </a:lnSpc>
              <a:buFont typeface="Arial"/>
              <a:buChar char="•"/>
            </a:pPr>
            <a:r>
              <a:rPr lang="en-US" sz="2799" dirty="0">
                <a:solidFill>
                  <a:srgbClr val="112C16"/>
                </a:solidFill>
                <a:latin typeface="Glacial Indifference"/>
                <a:ea typeface="Glacial Indifference"/>
                <a:cs typeface="Glacial Indifference"/>
                <a:sym typeface="Glacial Indifference"/>
              </a:rPr>
              <a:t>Kaggle.com </a:t>
            </a:r>
          </a:p>
        </p:txBody>
      </p:sp>
      <p:grpSp>
        <p:nvGrpSpPr>
          <p:cNvPr id="8" name="Group 8"/>
          <p:cNvGrpSpPr/>
          <p:nvPr/>
        </p:nvGrpSpPr>
        <p:grpSpPr>
          <a:xfrm>
            <a:off x="1031475" y="3717533"/>
            <a:ext cx="5191256" cy="707318"/>
            <a:chOff x="0" y="0"/>
            <a:chExt cx="6921674" cy="943091"/>
          </a:xfrm>
        </p:grpSpPr>
        <p:grpSp>
          <p:nvGrpSpPr>
            <p:cNvPr id="9" name="Group 9"/>
            <p:cNvGrpSpPr/>
            <p:nvPr/>
          </p:nvGrpSpPr>
          <p:grpSpPr>
            <a:xfrm>
              <a:off x="0" y="0"/>
              <a:ext cx="6921674" cy="943091"/>
              <a:chOff x="0" y="0"/>
              <a:chExt cx="1367244" cy="186289"/>
            </a:xfrm>
          </p:grpSpPr>
          <p:sp>
            <p:nvSpPr>
              <p:cNvPr id="10" name="Freeform 10"/>
              <p:cNvSpPr/>
              <p:nvPr/>
            </p:nvSpPr>
            <p:spPr>
              <a:xfrm>
                <a:off x="0" y="0"/>
                <a:ext cx="1367244" cy="186290"/>
              </a:xfrm>
              <a:custGeom>
                <a:avLst/>
                <a:gdLst/>
                <a:ahLst/>
                <a:cxnLst/>
                <a:rect l="l" t="t" r="r" b="b"/>
                <a:pathLst>
                  <a:path w="1367244" h="186290">
                    <a:moveTo>
                      <a:pt x="76058" y="0"/>
                    </a:moveTo>
                    <a:lnTo>
                      <a:pt x="1291186" y="0"/>
                    </a:lnTo>
                    <a:cubicBezTo>
                      <a:pt x="1311358" y="0"/>
                      <a:pt x="1330704" y="8013"/>
                      <a:pt x="1344967" y="22277"/>
                    </a:cubicBezTo>
                    <a:cubicBezTo>
                      <a:pt x="1359231" y="36541"/>
                      <a:pt x="1367244" y="55886"/>
                      <a:pt x="1367244" y="76058"/>
                    </a:cubicBezTo>
                    <a:lnTo>
                      <a:pt x="1367244" y="110231"/>
                    </a:lnTo>
                    <a:cubicBezTo>
                      <a:pt x="1367244" y="152237"/>
                      <a:pt x="1333192" y="186290"/>
                      <a:pt x="1291186" y="186290"/>
                    </a:cubicBezTo>
                    <a:lnTo>
                      <a:pt x="76058" y="186290"/>
                    </a:lnTo>
                    <a:cubicBezTo>
                      <a:pt x="55886" y="186290"/>
                      <a:pt x="36541" y="178276"/>
                      <a:pt x="22277" y="164013"/>
                    </a:cubicBezTo>
                    <a:cubicBezTo>
                      <a:pt x="8013" y="149749"/>
                      <a:pt x="0" y="130403"/>
                      <a:pt x="0" y="110231"/>
                    </a:cubicBezTo>
                    <a:lnTo>
                      <a:pt x="0" y="76058"/>
                    </a:lnTo>
                    <a:cubicBezTo>
                      <a:pt x="0" y="34052"/>
                      <a:pt x="34052" y="0"/>
                      <a:pt x="76058" y="0"/>
                    </a:cubicBezTo>
                    <a:close/>
                  </a:path>
                </a:pathLst>
              </a:custGeom>
              <a:solidFill>
                <a:srgbClr val="112C16"/>
              </a:solidFill>
            </p:spPr>
          </p:sp>
          <p:sp>
            <p:nvSpPr>
              <p:cNvPr id="11" name="TextBox 11"/>
              <p:cNvSpPr txBox="1"/>
              <p:nvPr/>
            </p:nvSpPr>
            <p:spPr>
              <a:xfrm>
                <a:off x="0" y="-38100"/>
                <a:ext cx="1367244" cy="224389"/>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345316" y="169448"/>
              <a:ext cx="5731627" cy="773642"/>
            </a:xfrm>
            <a:prstGeom prst="rect">
              <a:avLst/>
            </a:prstGeom>
          </p:spPr>
          <p:txBody>
            <a:bodyPr lIns="0" tIns="0" rIns="0" bIns="0" rtlCol="0" anchor="t">
              <a:spAutoFit/>
            </a:bodyPr>
            <a:lstStyle/>
            <a:p>
              <a:pPr algn="ctr">
                <a:lnSpc>
                  <a:spcPts val="4899"/>
                </a:lnSpc>
                <a:spcBef>
                  <a:spcPct val="0"/>
                </a:spcBef>
              </a:pPr>
              <a:r>
                <a:rPr lang="en-US" sz="3499" b="1">
                  <a:solidFill>
                    <a:srgbClr val="F1F0E7"/>
                  </a:solidFill>
                  <a:latin typeface="Glacial Indifference Bold"/>
                  <a:ea typeface="Glacial Indifference Bold"/>
                  <a:cs typeface="Glacial Indifference Bold"/>
                  <a:sym typeface="Glacial Indifference Bold"/>
                </a:rPr>
                <a:t>REFERENCES</a:t>
              </a:r>
            </a:p>
          </p:txBody>
        </p:sp>
      </p:grpSp>
      <p:sp>
        <p:nvSpPr>
          <p:cNvPr id="13" name="TextBox 13"/>
          <p:cNvSpPr txBox="1"/>
          <p:nvPr/>
        </p:nvSpPr>
        <p:spPr>
          <a:xfrm>
            <a:off x="800100" y="4762500"/>
            <a:ext cx="16687800" cy="5257850"/>
          </a:xfrm>
          <a:prstGeom prst="rect">
            <a:avLst/>
          </a:prstGeom>
        </p:spPr>
        <p:txBody>
          <a:bodyPr wrap="square" lIns="0" tIns="0" rIns="0" bIns="0" rtlCol="0" anchor="t">
            <a:spAutoFit/>
          </a:bodyPr>
          <a:lstStyle/>
          <a:p>
            <a:pPr marL="604519" lvl="1" indent="-302260" algn="l">
              <a:lnSpc>
                <a:spcPts val="5179"/>
              </a:lnSpc>
              <a:buFont typeface="Arial"/>
              <a:buChar char="•"/>
            </a:pPr>
            <a:r>
              <a:rPr lang="en-US" sz="2799" dirty="0">
                <a:solidFill>
                  <a:srgbClr val="112C16"/>
                </a:solidFill>
                <a:latin typeface="Glacial Indifference"/>
                <a:ea typeface="Glacial Indifference"/>
                <a:cs typeface="Glacial Indifference"/>
                <a:sym typeface="Glacial Indifference"/>
              </a:rPr>
              <a:t>The Analysis of Spatial Association by Use of Distance Statistics, Arthur </a:t>
            </a:r>
            <a:r>
              <a:rPr lang="en-US" sz="2799" dirty="0" err="1">
                <a:solidFill>
                  <a:srgbClr val="112C16"/>
                </a:solidFill>
                <a:latin typeface="Glacial Indifference"/>
                <a:ea typeface="Glacial Indifference"/>
                <a:cs typeface="Glacial Indifference"/>
                <a:sym typeface="Glacial Indifference"/>
              </a:rPr>
              <a:t>Getis</a:t>
            </a:r>
            <a:r>
              <a:rPr lang="en-US" sz="2799" dirty="0">
                <a:solidFill>
                  <a:srgbClr val="112C16"/>
                </a:solidFill>
                <a:latin typeface="Glacial Indifference"/>
                <a:ea typeface="Glacial Indifference"/>
                <a:cs typeface="Glacial Indifference"/>
                <a:sym typeface="Glacial Indifference"/>
              </a:rPr>
              <a:t> J. K. Ord </a:t>
            </a:r>
          </a:p>
          <a:p>
            <a:pPr marL="604519" lvl="1" indent="-302260" algn="l">
              <a:lnSpc>
                <a:spcPts val="5179"/>
              </a:lnSpc>
              <a:buFont typeface="Arial"/>
              <a:buChar char="•"/>
            </a:pPr>
            <a:r>
              <a:rPr lang="en-US" sz="2799" dirty="0">
                <a:solidFill>
                  <a:srgbClr val="112C16"/>
                </a:solidFill>
                <a:latin typeface="Glacial Indifference"/>
                <a:ea typeface="Glacial Indifference"/>
                <a:cs typeface="Glacial Indifference"/>
                <a:sym typeface="Glacial Indifference"/>
              </a:rPr>
              <a:t>Moran (1950),</a:t>
            </a:r>
          </a:p>
          <a:p>
            <a:pPr marL="604519" lvl="1" indent="-302260" algn="l">
              <a:lnSpc>
                <a:spcPts val="5179"/>
              </a:lnSpc>
              <a:buFont typeface="Arial"/>
              <a:buChar char="•"/>
            </a:pPr>
            <a:r>
              <a:rPr lang="en-US" sz="2799" dirty="0">
                <a:solidFill>
                  <a:srgbClr val="112C16"/>
                </a:solidFill>
                <a:latin typeface="Glacial Indifference"/>
                <a:ea typeface="Glacial Indifference"/>
                <a:cs typeface="Glacial Indifference"/>
                <a:sym typeface="Glacial Indifference"/>
              </a:rPr>
              <a:t>Regression analysis of spatial data , Colin M. Beale, Jack J. Lennon,1 Jon M. Yearsley,2,3 Mark J. Brewer4 and David A. Elston.</a:t>
            </a:r>
          </a:p>
          <a:p>
            <a:pPr marL="604519" lvl="1" indent="-302260" algn="l">
              <a:lnSpc>
                <a:spcPts val="5179"/>
              </a:lnSpc>
              <a:buFont typeface="Arial"/>
              <a:buChar char="•"/>
            </a:pPr>
            <a:r>
              <a:rPr lang="en-GB" sz="2800" b="0" i="1" dirty="0">
                <a:solidFill>
                  <a:srgbClr val="212529"/>
                </a:solidFill>
                <a:effectLst/>
                <a:latin typeface="-apple-system"/>
              </a:rPr>
              <a:t>Spatial Statistics for Data Science: Theory and Practice with R</a:t>
            </a:r>
            <a:r>
              <a:rPr lang="en-GB" sz="2800" b="0" i="0" dirty="0">
                <a:solidFill>
                  <a:srgbClr val="212529"/>
                </a:solidFill>
                <a:effectLst/>
                <a:latin typeface="-apple-system"/>
              </a:rPr>
              <a:t> has been published by Chapman &amp; Hall/CRC Data Science Series</a:t>
            </a:r>
          </a:p>
          <a:p>
            <a:pPr marL="604519" lvl="1" indent="-302260" algn="l">
              <a:lnSpc>
                <a:spcPts val="5179"/>
              </a:lnSpc>
              <a:buFont typeface="Arial"/>
              <a:buChar char="•"/>
            </a:pPr>
            <a:r>
              <a:rPr lang="en-GB" sz="2799" dirty="0">
                <a:solidFill>
                  <a:srgbClr val="112C16"/>
                </a:solidFill>
                <a:latin typeface="Glacial Indifference"/>
                <a:ea typeface="Glacial Indifference"/>
                <a:cs typeface="Glacial Indifference"/>
                <a:sym typeface="Glacial Indifference"/>
              </a:rPr>
              <a:t>Spatial Data Science With Applications in R, </a:t>
            </a:r>
            <a:r>
              <a:rPr lang="en-GB" sz="2799" dirty="0" err="1">
                <a:solidFill>
                  <a:srgbClr val="112C16"/>
                </a:solidFill>
                <a:latin typeface="Glacial Indifference"/>
                <a:ea typeface="Glacial Indifference"/>
                <a:cs typeface="Glacial Indifference"/>
                <a:sym typeface="Glacial Indifference"/>
              </a:rPr>
              <a:t>Edzer</a:t>
            </a:r>
            <a:r>
              <a:rPr lang="en-GB" sz="2799" dirty="0">
                <a:solidFill>
                  <a:srgbClr val="112C16"/>
                </a:solidFill>
                <a:latin typeface="Glacial Indifference"/>
                <a:ea typeface="Glacial Indifference"/>
                <a:cs typeface="Glacial Indifference"/>
                <a:sym typeface="Glacial Indifference"/>
              </a:rPr>
              <a:t> </a:t>
            </a:r>
            <a:r>
              <a:rPr lang="en-GB" sz="2799" dirty="0" err="1">
                <a:solidFill>
                  <a:srgbClr val="112C16"/>
                </a:solidFill>
                <a:latin typeface="Glacial Indifference"/>
                <a:ea typeface="Glacial Indifference"/>
                <a:cs typeface="Glacial Indifference"/>
                <a:sym typeface="Glacial Indifference"/>
              </a:rPr>
              <a:t>Pebesma</a:t>
            </a:r>
            <a:r>
              <a:rPr lang="en-GB" sz="2799" dirty="0">
                <a:solidFill>
                  <a:srgbClr val="112C16"/>
                </a:solidFill>
                <a:latin typeface="Glacial Indifference"/>
                <a:ea typeface="Glacial Indifference"/>
                <a:cs typeface="Glacial Indifference"/>
                <a:sym typeface="Glacial Indifference"/>
              </a:rPr>
              <a:t>, Roger </a:t>
            </a:r>
            <a:r>
              <a:rPr lang="en-GB" sz="2799" dirty="0" err="1">
                <a:solidFill>
                  <a:srgbClr val="112C16"/>
                </a:solidFill>
                <a:latin typeface="Glacial Indifference"/>
                <a:ea typeface="Glacial Indifference"/>
                <a:cs typeface="Glacial Indifference"/>
                <a:sym typeface="Glacial Indifference"/>
              </a:rPr>
              <a:t>Bivand</a:t>
            </a:r>
            <a:endParaRPr lang="en-GB" sz="2799" dirty="0">
              <a:solidFill>
                <a:srgbClr val="112C16"/>
              </a:solidFill>
              <a:latin typeface="Glacial Indifference"/>
              <a:ea typeface="Glacial Indifference"/>
              <a:cs typeface="Glacial Indifference"/>
              <a:sym typeface="Glacial Indifference"/>
            </a:endParaRPr>
          </a:p>
          <a:p>
            <a:pPr marL="604519" lvl="1" indent="-302260" algn="l">
              <a:lnSpc>
                <a:spcPts val="5179"/>
              </a:lnSpc>
              <a:buFont typeface="Arial"/>
              <a:buChar char="•"/>
            </a:pPr>
            <a:r>
              <a:rPr lang="en-US" sz="2799" dirty="0">
                <a:solidFill>
                  <a:srgbClr val="112C16"/>
                </a:solidFill>
                <a:latin typeface="Glacial Indifference"/>
                <a:ea typeface="Glacial Indifference"/>
                <a:cs typeface="Glacial Indifference"/>
                <a:sym typeface="Glacial Indifference"/>
              </a:rPr>
              <a:t>Geographic Data Science with Python, Sergio J. Rey, Dani Arribas-Bel, Levi J. Wolf</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sp>
        <p:nvSpPr>
          <p:cNvPr id="4" name="TextBox 4"/>
          <p:cNvSpPr txBox="1"/>
          <p:nvPr/>
        </p:nvSpPr>
        <p:spPr>
          <a:xfrm>
            <a:off x="-859501" y="6071765"/>
            <a:ext cx="22364399" cy="3186535"/>
          </a:xfrm>
          <a:prstGeom prst="rect">
            <a:avLst/>
          </a:prstGeom>
        </p:spPr>
        <p:txBody>
          <a:bodyPr lIns="50800" tIns="50800" rIns="50800" bIns="50800" rtlCol="0" anchor="ctr"/>
          <a:lstStyle/>
          <a:p>
            <a:pPr algn="ctr">
              <a:lnSpc>
                <a:spcPts val="3359"/>
              </a:lnSpc>
            </a:pPr>
            <a:endParaRPr/>
          </a:p>
        </p:txBody>
      </p:sp>
      <p:sp>
        <p:nvSpPr>
          <p:cNvPr id="6" name="Freeform 6"/>
          <p:cNvSpPr/>
          <p:nvPr/>
        </p:nvSpPr>
        <p:spPr>
          <a:xfrm>
            <a:off x="1051093" y="7442979"/>
            <a:ext cx="665065" cy="665065"/>
          </a:xfrm>
          <a:custGeom>
            <a:avLst/>
            <a:gdLst/>
            <a:ahLst/>
            <a:cxnLst/>
            <a:rect l="l" t="t" r="r" b="b"/>
            <a:pathLst>
              <a:path w="665065" h="665065">
                <a:moveTo>
                  <a:pt x="0" y="0"/>
                </a:moveTo>
                <a:lnTo>
                  <a:pt x="665064" y="0"/>
                </a:lnTo>
                <a:lnTo>
                  <a:pt x="665064" y="665065"/>
                </a:lnTo>
                <a:lnTo>
                  <a:pt x="0" y="66506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Freeform 7"/>
          <p:cNvSpPr/>
          <p:nvPr/>
        </p:nvSpPr>
        <p:spPr>
          <a:xfrm>
            <a:off x="1051093" y="6622683"/>
            <a:ext cx="665065" cy="665065"/>
          </a:xfrm>
          <a:custGeom>
            <a:avLst/>
            <a:gdLst/>
            <a:ahLst/>
            <a:cxnLst/>
            <a:rect l="l" t="t" r="r" b="b"/>
            <a:pathLst>
              <a:path w="665065" h="665065">
                <a:moveTo>
                  <a:pt x="0" y="0"/>
                </a:moveTo>
                <a:lnTo>
                  <a:pt x="665064" y="0"/>
                </a:lnTo>
                <a:lnTo>
                  <a:pt x="665064" y="665064"/>
                </a:lnTo>
                <a:lnTo>
                  <a:pt x="0" y="66506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Freeform 8"/>
          <p:cNvSpPr/>
          <p:nvPr/>
        </p:nvSpPr>
        <p:spPr>
          <a:xfrm>
            <a:off x="1028700" y="8267005"/>
            <a:ext cx="687457" cy="687457"/>
          </a:xfrm>
          <a:custGeom>
            <a:avLst/>
            <a:gdLst/>
            <a:ahLst/>
            <a:cxnLst/>
            <a:rect l="l" t="t" r="r" b="b"/>
            <a:pathLst>
              <a:path w="687457" h="687457">
                <a:moveTo>
                  <a:pt x="0" y="0"/>
                </a:moveTo>
                <a:lnTo>
                  <a:pt x="687457" y="0"/>
                </a:lnTo>
                <a:lnTo>
                  <a:pt x="687457" y="687458"/>
                </a:lnTo>
                <a:lnTo>
                  <a:pt x="0" y="68745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Freeform 9"/>
          <p:cNvSpPr/>
          <p:nvPr/>
        </p:nvSpPr>
        <p:spPr>
          <a:xfrm flipH="1">
            <a:off x="14383000" y="-200768"/>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5"/>
                </a:ext>
              </a:extLst>
            </a:blip>
            <a:stretch>
              <a:fillRect/>
            </a:stretch>
          </a:blipFill>
        </p:spPr>
      </p:sp>
      <p:sp>
        <p:nvSpPr>
          <p:cNvPr id="10" name="TextBox 10"/>
          <p:cNvSpPr txBox="1"/>
          <p:nvPr/>
        </p:nvSpPr>
        <p:spPr>
          <a:xfrm>
            <a:off x="1028700" y="1762049"/>
            <a:ext cx="10251325" cy="2486690"/>
          </a:xfrm>
          <a:prstGeom prst="rect">
            <a:avLst/>
          </a:prstGeom>
        </p:spPr>
        <p:txBody>
          <a:bodyPr lIns="0" tIns="0" rIns="0" bIns="0" rtlCol="0" anchor="t">
            <a:spAutoFit/>
          </a:bodyPr>
          <a:lstStyle/>
          <a:p>
            <a:pPr algn="l">
              <a:lnSpc>
                <a:spcPts val="20441"/>
              </a:lnSpc>
              <a:spcBef>
                <a:spcPct val="0"/>
              </a:spcBef>
            </a:pPr>
            <a:r>
              <a:rPr lang="en-US" sz="14600">
                <a:solidFill>
                  <a:srgbClr val="112C16"/>
                </a:solidFill>
                <a:latin typeface="Anton"/>
                <a:ea typeface="Anton"/>
                <a:cs typeface="Anton"/>
                <a:sym typeface="Anton"/>
              </a:rPr>
              <a:t>Thank You</a:t>
            </a:r>
          </a:p>
        </p:txBody>
      </p:sp>
      <p:sp>
        <p:nvSpPr>
          <p:cNvPr id="12" name="TextBox 12"/>
          <p:cNvSpPr txBox="1"/>
          <p:nvPr/>
        </p:nvSpPr>
        <p:spPr>
          <a:xfrm>
            <a:off x="1808078" y="8405378"/>
            <a:ext cx="4769043" cy="421120"/>
          </a:xfrm>
          <a:prstGeom prst="rect">
            <a:avLst/>
          </a:prstGeom>
        </p:spPr>
        <p:txBody>
          <a:bodyPr lIns="0" tIns="0" rIns="0" bIns="0" rtlCol="0" anchor="t">
            <a:spAutoFit/>
          </a:bodyPr>
          <a:lstStyle/>
          <a:p>
            <a:pPr algn="l">
              <a:lnSpc>
                <a:spcPts val="3214"/>
              </a:lnSpc>
              <a:spcBef>
                <a:spcPct val="0"/>
              </a:spcBef>
            </a:pPr>
            <a:r>
              <a:rPr lang="en-US" sz="3003">
                <a:solidFill>
                  <a:srgbClr val="F1F0E7"/>
                </a:solidFill>
                <a:latin typeface="Glacial Indifference"/>
                <a:ea typeface="Glacial Indifference"/>
                <a:cs typeface="Glacial Indifference"/>
                <a:sym typeface="Glacial Indifference"/>
              </a:rPr>
              <a:t>www.reallygreatsite.com</a:t>
            </a:r>
          </a:p>
        </p:txBody>
      </p:sp>
      <p:sp>
        <p:nvSpPr>
          <p:cNvPr id="13" name="TextBox 13"/>
          <p:cNvSpPr txBox="1"/>
          <p:nvPr/>
        </p:nvSpPr>
        <p:spPr>
          <a:xfrm>
            <a:off x="1808078" y="7632510"/>
            <a:ext cx="4769043" cy="421120"/>
          </a:xfrm>
          <a:prstGeom prst="rect">
            <a:avLst/>
          </a:prstGeom>
        </p:spPr>
        <p:txBody>
          <a:bodyPr lIns="0" tIns="0" rIns="0" bIns="0" rtlCol="0" anchor="t">
            <a:spAutoFit/>
          </a:bodyPr>
          <a:lstStyle/>
          <a:p>
            <a:pPr algn="l">
              <a:lnSpc>
                <a:spcPts val="3214"/>
              </a:lnSpc>
              <a:spcBef>
                <a:spcPct val="0"/>
              </a:spcBef>
            </a:pPr>
            <a:r>
              <a:rPr lang="en-US" sz="3003">
                <a:solidFill>
                  <a:srgbClr val="F1F0E7"/>
                </a:solidFill>
                <a:latin typeface="Glacial Indifference"/>
                <a:ea typeface="Glacial Indifference"/>
                <a:cs typeface="Glacial Indifference"/>
                <a:sym typeface="Glacial Indifference"/>
              </a:rPr>
              <a:t>hello@reallygreatsite.com</a:t>
            </a:r>
          </a:p>
        </p:txBody>
      </p:sp>
      <p:sp>
        <p:nvSpPr>
          <p:cNvPr id="14" name="TextBox 14"/>
          <p:cNvSpPr txBox="1"/>
          <p:nvPr/>
        </p:nvSpPr>
        <p:spPr>
          <a:xfrm>
            <a:off x="1808078" y="6756317"/>
            <a:ext cx="3561409" cy="421120"/>
          </a:xfrm>
          <a:prstGeom prst="rect">
            <a:avLst/>
          </a:prstGeom>
        </p:spPr>
        <p:txBody>
          <a:bodyPr lIns="0" tIns="0" rIns="0" bIns="0" rtlCol="0" anchor="t">
            <a:spAutoFit/>
          </a:bodyPr>
          <a:lstStyle/>
          <a:p>
            <a:pPr algn="l">
              <a:lnSpc>
                <a:spcPts val="3214"/>
              </a:lnSpc>
              <a:spcBef>
                <a:spcPct val="0"/>
              </a:spcBef>
            </a:pPr>
            <a:r>
              <a:rPr lang="en-US" sz="3003">
                <a:solidFill>
                  <a:srgbClr val="F1F0E7"/>
                </a:solidFill>
                <a:latin typeface="Glacial Indifference"/>
                <a:ea typeface="Glacial Indifference"/>
                <a:cs typeface="Glacial Indifference"/>
                <a:sym typeface="Glacial Indifference"/>
              </a:rPr>
              <a:t>@reallygreatsite</a:t>
            </a:r>
          </a:p>
        </p:txBody>
      </p:sp>
      <p:sp>
        <p:nvSpPr>
          <p:cNvPr id="16" name="TextBox 16"/>
          <p:cNvSpPr txBox="1"/>
          <p:nvPr/>
        </p:nvSpPr>
        <p:spPr>
          <a:xfrm>
            <a:off x="1028700" y="4267040"/>
            <a:ext cx="8115300" cy="415265"/>
          </a:xfrm>
          <a:prstGeom prst="rect">
            <a:avLst/>
          </a:prstGeom>
        </p:spPr>
        <p:txBody>
          <a:bodyPr lIns="0" tIns="0" rIns="0" bIns="0" rtlCol="0" anchor="t">
            <a:spAutoFit/>
          </a:bodyPr>
          <a:lstStyle/>
          <a:p>
            <a:pPr algn="l">
              <a:lnSpc>
                <a:spcPts val="3359"/>
              </a:lnSpc>
              <a:spcBef>
                <a:spcPct val="0"/>
              </a:spcBef>
            </a:pPr>
            <a:r>
              <a:rPr lang="en-US" sz="2400" spc="861">
                <a:solidFill>
                  <a:srgbClr val="000000"/>
                </a:solidFill>
                <a:latin typeface="Glacial Indifference"/>
                <a:ea typeface="Glacial Indifference"/>
                <a:cs typeface="Glacial Indifference"/>
                <a:sym typeface="Glacial Indifference"/>
              </a:rPr>
              <a:t>THANK YOU 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172</TotalTime>
  <Words>1725</Words>
  <Application>Microsoft Office PowerPoint</Application>
  <PresentationFormat>Custom</PresentationFormat>
  <Paragraphs>140</Paragraphs>
  <Slides>28</Slides>
  <Notes>0</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2</vt:i4>
      </vt:variant>
      <vt:variant>
        <vt:lpstr>Slide Titles</vt:lpstr>
      </vt:variant>
      <vt:variant>
        <vt:i4>28</vt:i4>
      </vt:variant>
    </vt:vector>
  </HeadingPairs>
  <TitlesOfParts>
    <vt:vector size="42" baseType="lpstr">
      <vt:lpstr>Glacial Indifference Bold</vt:lpstr>
      <vt:lpstr>Arial</vt:lpstr>
      <vt:lpstr>Cambria Math</vt:lpstr>
      <vt:lpstr>Calibri</vt:lpstr>
      <vt:lpstr>Aptos Narrow</vt:lpstr>
      <vt:lpstr>MJXc-TeX-main-R</vt:lpstr>
      <vt:lpstr>Anton</vt:lpstr>
      <vt:lpstr>MJXc-TeX-math-I</vt:lpstr>
      <vt:lpstr>-apple-system</vt:lpstr>
      <vt:lpstr>Glacial Indifference</vt:lpstr>
      <vt:lpstr>Codec Pro</vt:lpstr>
      <vt:lpstr>Office Theme</vt:lpstr>
      <vt:lpstr>Worksheet</vt:lpstr>
      <vt:lpstr>Packager Shell Object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OpenStreetMap</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Contents</dc:title>
  <cp:lastModifiedBy>Niyati Sharma</cp:lastModifiedBy>
  <cp:revision>6</cp:revision>
  <dcterms:created xsi:type="dcterms:W3CDTF">2006-08-16T00:00:00Z</dcterms:created>
  <dcterms:modified xsi:type="dcterms:W3CDTF">2026-05-11T17:35:04Z</dcterms:modified>
  <dc:identifier>DAHGwGmZ4C0</dc:identifier>
</cp:coreProperties>
</file>